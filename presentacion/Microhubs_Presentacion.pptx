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e2227268e3b47ed" Type="http://schemas.openxmlformats.org/package/2006/relationships/metadata/core-properties" Target="docProps/core.xml"/><Relationship Id="R6c9bb3f3b0564f6e" Type="http://schemas.openxmlformats.org/officeDocument/2006/relationships/officeDocument" Target="ppt/presentation.xml"/><Relationship Id="Reb839bade95b4a87"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3cd5aa458b094528"/>
  </p:sldMasterIdLst>
  <p:notesMasterIdLst>
    <p:notesMasterId xmlns:r="http://schemas.openxmlformats.org/officeDocument/2006/relationships" r:id="R7cbbaa84e1c54661"/>
  </p:notesMasterIdLst>
  <p:sldIdLst>
    <p:sldId xmlns:r="http://schemas.openxmlformats.org/officeDocument/2006/relationships" id="256" r:id="R42617c4475dc4227"/>
    <p:sldId xmlns:r="http://schemas.openxmlformats.org/officeDocument/2006/relationships" id="257" r:id="Rb9cd260aad914d58"/>
    <p:sldId xmlns:r="http://schemas.openxmlformats.org/officeDocument/2006/relationships" id="258" r:id="R13ec666620cd490d"/>
    <p:sldId xmlns:r="http://schemas.openxmlformats.org/officeDocument/2006/relationships" id="259" r:id="R738904ed12014817"/>
    <p:sldId xmlns:r="http://schemas.openxmlformats.org/officeDocument/2006/relationships" id="260" r:id="R7828dbfddaa04ea2"/>
    <p:sldId xmlns:r="http://schemas.openxmlformats.org/officeDocument/2006/relationships" id="261" r:id="R0dc9c16935f44f4e"/>
    <p:sldId xmlns:r="http://schemas.openxmlformats.org/officeDocument/2006/relationships" id="262" r:id="R0c50effc4fc6441a"/>
    <p:sldId xmlns:r="http://schemas.openxmlformats.org/officeDocument/2006/relationships" id="263" r:id="Raa91fc080e8f4291"/>
    <p:sldId xmlns:r="http://schemas.openxmlformats.org/officeDocument/2006/relationships" id="264" r:id="R1d49b71c2f674b3f"/>
    <p:sldId xmlns:r="http://schemas.openxmlformats.org/officeDocument/2006/relationships" id="265" r:id="R193cb10dca1f4a1b"/>
    <p:sldId xmlns:r="http://schemas.openxmlformats.org/officeDocument/2006/relationships" id="266" r:id="Re142da3e42c54045"/>
    <p:sldId xmlns:r="http://schemas.openxmlformats.org/officeDocument/2006/relationships" id="267" r:id="R3d987087edaa4714"/>
    <p:sldId xmlns:r="http://schemas.openxmlformats.org/officeDocument/2006/relationships" id="268" r:id="Rf468964e796249ba"/>
    <p:sldId xmlns:r="http://schemas.openxmlformats.org/officeDocument/2006/relationships" id="269" r:id="R58bc1b1ea9af4afe"/>
    <p:sldId xmlns:r="http://schemas.openxmlformats.org/officeDocument/2006/relationships" id="270" r:id="R650ba4edf6e44bd0"/>
    <p:sldId xmlns:r="http://schemas.openxmlformats.org/officeDocument/2006/relationships" id="271" r:id="R3544873d721a458f"/>
    <p:sldId xmlns:r="http://schemas.openxmlformats.org/officeDocument/2006/relationships" id="272" r:id="Raed2ce157458492c"/>
    <p:sldId xmlns:r="http://schemas.openxmlformats.org/officeDocument/2006/relationships" id="273" r:id="R0cf05a6cbdea4cfd"/>
    <p:sldId xmlns:r="http://schemas.openxmlformats.org/officeDocument/2006/relationships" id="274" r:id="R7fbaecf5a48c4fdd"/>
    <p:sldId xmlns:r="http://schemas.openxmlformats.org/officeDocument/2006/relationships" id="275" r:id="R188356c6ae73454f"/>
    <p:sldId xmlns:r="http://schemas.openxmlformats.org/officeDocument/2006/relationships" id="276" r:id="R8efc5c093a0642d6"/>
    <p:sldId xmlns:r="http://schemas.openxmlformats.org/officeDocument/2006/relationships" id="277" r:id="Re790202a87a54861"/>
    <p:sldId xmlns:r="http://schemas.openxmlformats.org/officeDocument/2006/relationships" id="278" r:id="Rd00fee8df0904b98"/>
    <p:sldId xmlns:r="http://schemas.openxmlformats.org/officeDocument/2006/relationships" id="279" r:id="R2eca2d6995bb4ab3"/>
    <p:sldId xmlns:r="http://schemas.openxmlformats.org/officeDocument/2006/relationships" id="280" r:id="Ra8c6eb0242cd41bc"/>
    <p:sldId xmlns:r="http://schemas.openxmlformats.org/officeDocument/2006/relationships" id="281" r:id="R6197659ce0854e9a"/>
    <p:sldId xmlns:r="http://schemas.openxmlformats.org/officeDocument/2006/relationships" id="282" r:id="R6c5b6819bc1c468c"/>
    <p:sldId xmlns:r="http://schemas.openxmlformats.org/officeDocument/2006/relationships" id="283" r:id="Rac3ce4cfa10b4a53"/>
    <p:sldId xmlns:r="http://schemas.openxmlformats.org/officeDocument/2006/relationships" id="284" r:id="Rc6d0b5f893794038"/>
    <p:sldId xmlns:r="http://schemas.openxmlformats.org/officeDocument/2006/relationships" id="285" r:id="Rd504615c72c749ba"/>
    <p:sldId xmlns:r="http://schemas.openxmlformats.org/officeDocument/2006/relationships" id="286" r:id="R6aa9f53521e0408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c435fdf86cc437f" Type="http://schemas.openxmlformats.org/officeDocument/2006/relationships/tableStyles" Target="tableStyles.xml"/><Relationship Id="R0c50effc4fc6441a" Type="http://schemas.openxmlformats.org/officeDocument/2006/relationships/slide" Target="slides/slide7.xml"/><Relationship Id="R0cf05a6cbdea4cfd" Type="http://schemas.openxmlformats.org/officeDocument/2006/relationships/slide" Target="slides/slide18.xml"/><Relationship Id="R0dc9c16935f44f4e" Type="http://schemas.openxmlformats.org/officeDocument/2006/relationships/slide" Target="slides/slide6.xml"/><Relationship Id="R13ec666620cd490d" Type="http://schemas.openxmlformats.org/officeDocument/2006/relationships/slide" Target="slides/slide3.xml"/><Relationship Id="R188356c6ae73454f" Type="http://schemas.openxmlformats.org/officeDocument/2006/relationships/slide" Target="slides/slide20.xml"/><Relationship Id="R193cb10dca1f4a1b" Type="http://schemas.openxmlformats.org/officeDocument/2006/relationships/slide" Target="slides/slide10.xml"/><Relationship Id="R1d49b71c2f674b3f" Type="http://schemas.openxmlformats.org/officeDocument/2006/relationships/slide" Target="slides/slide9.xml"/><Relationship Id="R2b78b698bce84c4e" Type="http://schemas.openxmlformats.org/officeDocument/2006/relationships/presProps" Target="presProps.xml"/><Relationship Id="R2eca2d6995bb4ab3" Type="http://schemas.openxmlformats.org/officeDocument/2006/relationships/slide" Target="slides/slide24.xml"/><Relationship Id="R3544873d721a458f" Type="http://schemas.openxmlformats.org/officeDocument/2006/relationships/slide" Target="slides/slide16.xml"/><Relationship Id="R3cd5aa458b094528" Type="http://schemas.openxmlformats.org/officeDocument/2006/relationships/slideMaster" Target="slideMasters/slideMaster1.xml"/><Relationship Id="R3d987087edaa4714" Type="http://schemas.openxmlformats.org/officeDocument/2006/relationships/slide" Target="slides/slide12.xml"/><Relationship Id="R42617c4475dc4227" Type="http://schemas.openxmlformats.org/officeDocument/2006/relationships/slide" Target="slides/slide1.xml"/><Relationship Id="R58bc1b1ea9af4afe" Type="http://schemas.openxmlformats.org/officeDocument/2006/relationships/slide" Target="slides/slide14.xml"/><Relationship Id="R6197659ce0854e9a" Type="http://schemas.openxmlformats.org/officeDocument/2006/relationships/slide" Target="slides/slide26.xml"/><Relationship Id="R650ba4edf6e44bd0" Type="http://schemas.openxmlformats.org/officeDocument/2006/relationships/slide" Target="slides/slide15.xml"/><Relationship Id="R6aa9f53521e0408a" Type="http://schemas.openxmlformats.org/officeDocument/2006/relationships/slide" Target="slides/slide31.xml"/><Relationship Id="R6c5b6819bc1c468c" Type="http://schemas.openxmlformats.org/officeDocument/2006/relationships/slide" Target="slides/slide27.xml"/><Relationship Id="R738904ed12014817" Type="http://schemas.openxmlformats.org/officeDocument/2006/relationships/slide" Target="slides/slide4.xml"/><Relationship Id="R7828dbfddaa04ea2" Type="http://schemas.openxmlformats.org/officeDocument/2006/relationships/slide" Target="slides/slide5.xml"/><Relationship Id="R7cbbaa84e1c54661" Type="http://schemas.openxmlformats.org/officeDocument/2006/relationships/notesMaster" Target="notesMasters/notesMaster1.xml"/><Relationship Id="R7fbaecf5a48c4fdd" Type="http://schemas.openxmlformats.org/officeDocument/2006/relationships/slide" Target="slides/slide19.xml"/><Relationship Id="R8efc5c093a0642d6" Type="http://schemas.openxmlformats.org/officeDocument/2006/relationships/slide" Target="slides/slide21.xml"/><Relationship Id="Ra70b14426387479e" Type="http://schemas.openxmlformats.org/officeDocument/2006/relationships/theme" Target="theme/theme1.xml"/><Relationship Id="Ra8c6eb0242cd41bc" Type="http://schemas.openxmlformats.org/officeDocument/2006/relationships/slide" Target="slides/slide25.xml"/><Relationship Id="Raa91fc080e8f4291" Type="http://schemas.openxmlformats.org/officeDocument/2006/relationships/slide" Target="slides/slide8.xml"/><Relationship Id="Rac3ce4cfa10b4a53" Type="http://schemas.openxmlformats.org/officeDocument/2006/relationships/slide" Target="slides/slide28.xml"/><Relationship Id="Raed2ce157458492c" Type="http://schemas.openxmlformats.org/officeDocument/2006/relationships/slide" Target="slides/slide17.xml"/><Relationship Id="Rb9cd260aad914d58" Type="http://schemas.openxmlformats.org/officeDocument/2006/relationships/slide" Target="slides/slide2.xml"/><Relationship Id="Rc6a25867433b49bb" Type="http://schemas.openxmlformats.org/officeDocument/2006/relationships/viewProps" Target="viewProps.xml"/><Relationship Id="Rc6d0b5f893794038" Type="http://schemas.openxmlformats.org/officeDocument/2006/relationships/slide" Target="slides/slide29.xml"/><Relationship Id="Rd00fee8df0904b98" Type="http://schemas.openxmlformats.org/officeDocument/2006/relationships/slide" Target="slides/slide23.xml"/><Relationship Id="Rd504615c72c749ba" Type="http://schemas.openxmlformats.org/officeDocument/2006/relationships/slide" Target="slides/slide30.xml"/><Relationship Id="Re142da3e42c54045" Type="http://schemas.openxmlformats.org/officeDocument/2006/relationships/slide" Target="slides/slide11.xml"/><Relationship Id="Re790202a87a54861" Type="http://schemas.openxmlformats.org/officeDocument/2006/relationships/slide" Target="slides/slide22.xml"/><Relationship Id="Rf468964e796249ba"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502cd46810df4c5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d1ce0e9aca04a59" Type="http://schemas.openxmlformats.org/officeDocument/2006/relationships/slide" Target="../slides/slide1.xml"/><Relationship Id="Rfcbdaf1e00a14ca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15961633146486a" Type="http://schemas.openxmlformats.org/officeDocument/2006/relationships/slide" Target="../slides/slide2.xml"/><Relationship Id="R8489ee2aae7142b5"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65a4adf014504fb1" Type="http://schemas.openxmlformats.org/officeDocument/2006/relationships/slide" Target="../slides/slide3.xml"/><Relationship Id="Red493607cf134e8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75a0236abadd45f1" Type="http://schemas.openxmlformats.org/officeDocument/2006/relationships/slide" Target="../slides/slide4.xml"/><Relationship Id="Rf71252f0048e46e8"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477c38f51a14002" Type="http://schemas.openxmlformats.org/officeDocument/2006/relationships/slide" Target="../slides/slide5.xml"/><Relationship Id="Rde4390631fa34a30"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05b313b6254e43c5" Type="http://schemas.openxmlformats.org/officeDocument/2006/relationships/notesMaster" Target="../notesMasters/notesMaster1.xml"/><Relationship Id="R25103c0bff6043d8"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200d7d9d771f4194" Type="http://schemas.openxmlformats.org/officeDocument/2006/relationships/slide" Target="../slides/slide7.xml"/><Relationship Id="R566ec236502e42cf"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12fff2096764980" Type="http://schemas.openxmlformats.org/officeDocument/2006/relationships/slide" Target="../slides/slide8.xml"/><Relationship Id="Rc75d5f254d0f426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5ee6efaedd343d8" Type="http://schemas.openxmlformats.org/officeDocument/2006/relationships/slide" Target="../slides/slide9.xml"/><Relationship Id="R6128a5dec85448d6"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2bb15fe425ce4499" Type="http://schemas.openxmlformats.org/officeDocument/2006/relationships/slide" Target="../slides/slide10.xml"/><Relationship Id="Raa5ede9172f5417b"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cda5a1f33ed459b" Type="http://schemas.openxmlformats.org/officeDocument/2006/relationships/notesMaster" Target="../notesMasters/notesMaster1.xml"/><Relationship Id="Rbb549537a289441e"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ca5fd1273a14b5d" Type="http://schemas.openxmlformats.org/officeDocument/2006/relationships/notesMaster" Target="../notesMasters/notesMaster1.xml"/><Relationship Id="R49c0c91d7bef4b26"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41dd173c0ed648f3" Type="http://schemas.openxmlformats.org/officeDocument/2006/relationships/slide" Target="../slides/slide13.xml"/><Relationship Id="R8904917773bb4e04"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060c0bef44b4449" Type="http://schemas.openxmlformats.org/officeDocument/2006/relationships/slide" Target="../slides/slide14.xml"/><Relationship Id="Raeb5daf7af4a445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2d7232fc8f114d00" Type="http://schemas.openxmlformats.org/officeDocument/2006/relationships/notesMaster" Target="../notesMasters/notesMaster1.xml"/><Relationship Id="Rc41e295444fb46fa"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71284b23f8641e0" Type="http://schemas.openxmlformats.org/officeDocument/2006/relationships/slide" Target="../slides/slide16.xml"/><Relationship Id="Rcf513738bdd14f3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2b3dbfd9b1254449" Type="http://schemas.openxmlformats.org/officeDocument/2006/relationships/notesMaster" Target="../notesMasters/notesMaster1.xml"/><Relationship Id="R831687cd40284e88"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5e415bdeffc24063" Type="http://schemas.openxmlformats.org/officeDocument/2006/relationships/notesMaster" Target="../notesMasters/notesMaster1.xml"/><Relationship Id="R8d87ca03f714448e"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a00e18510fa845db" Type="http://schemas.openxmlformats.org/officeDocument/2006/relationships/slide" Target="../slides/slide19.xml"/><Relationship Id="Rf1aa226f05074d65"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54b7034ed8a245b0" Type="http://schemas.openxmlformats.org/officeDocument/2006/relationships/slide" Target="../slides/slide20.xml"/><Relationship Id="Rb370de64596b4898"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2a8e2a52d0646e4" Type="http://schemas.openxmlformats.org/officeDocument/2006/relationships/slide" Target="../slides/slide21.xml"/><Relationship Id="Ra27229d4db3847f5"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5456979124534761" Type="http://schemas.openxmlformats.org/officeDocument/2006/relationships/notesMaster" Target="../notesMasters/notesMaster1.xml"/><Relationship Id="Raad3c309fbe5484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e9db1c162054ae8" Type="http://schemas.openxmlformats.org/officeDocument/2006/relationships/notesMaster" Target="../notesMasters/notesMaster1.xml"/><Relationship Id="R9bfb0406439941b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36cb171090e84c61" Type="http://schemas.openxmlformats.org/officeDocument/2006/relationships/slide" Target="../slides/slide24.xml"/><Relationship Id="Rf9bde70553334794"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15ae9e50c455449c" Type="http://schemas.openxmlformats.org/officeDocument/2006/relationships/slide" Target="../slides/slide25.xml"/><Relationship Id="Raaac964f8731407a"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3acaf3787fc44e1d" Type="http://schemas.openxmlformats.org/officeDocument/2006/relationships/slide" Target="../slides/slide26.xml"/><Relationship Id="Rd6adca66eead40d8"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180de782edbf44b8" Type="http://schemas.openxmlformats.org/officeDocument/2006/relationships/notesMaster" Target="../notesMasters/notesMaster1.xml"/><Relationship Id="R6c505807f5dc4df0"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1f6dae4e09ac4b8c" Type="http://schemas.openxmlformats.org/officeDocument/2006/relationships/slide" Target="../slides/slide28.xml"/><Relationship Id="Ra77b0be4933a4bc9"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2ac7e98ddd474b07" Type="http://schemas.openxmlformats.org/officeDocument/2006/relationships/slide" Target="../slides/slide29.xml"/><Relationship Id="Ra8fbf59ef2fb47ac"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770c60c9fdaa49dc" Type="http://schemas.openxmlformats.org/officeDocument/2006/relationships/slide" Target="../slides/slide30.xml"/><Relationship Id="R806a1107dc4f4edf"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27f0ebc81841479c" Type="http://schemas.openxmlformats.org/officeDocument/2006/relationships/slide" Target="../slides/slide31.xml"/><Relationship Id="Rf6b7e86ecac341dd"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nuestra plataforma de microhubs y comercio de proximidad. La idea es acercar los productos al cliente mediante puntos de distribución en su zona. En esta presentación explicaremos la arquitectura actual, que ya cuenta con diez microservicios, y después mostraremos su funcionamiento en vivo.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tres columnas resumen el problema, la solución y el objetivo del parcial. Buscamos reducir las dificultades de atender pedidos pequeños y controlar la disponibilidad por zona. Para hacerlo, integramos el portal con diez servicios que comparten seguridad y almacenamiento persistente.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esta diapositiva separamos los requisitos funcionales de los técnicos. El sistema cubre pedidos, entregas, planeación, documentos y avisos. La arquitectura utiliza diez servicios, tres motores de datos y Docker. Las APIs también atienden Android con JSON y escritorio con XML; TLS y el despliegue en nube quedan para la siguiente etapa.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apartados muestran las mejoras del proyecto. Ampliamos la planeación y los flujos de operación, conectamos diez servicios por HTTP y actualizamos la documentación. Las evidencias registran 93 casos, que sirven para comprobar respuestas y cambios en los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tres columnas muestran cómo creció la web. Operación reúne pedidos, inventario y validaciones; Administración incorpora reportes, archivos y avisos; Planeación permite evaluar ubicaciones, costos y capacidad. Estas funciones del portal conviven con las APIs de los microservicios.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lista muestra que cada perfil tiene un alcance distinto. El cliente consulta sus pedidos, el operador trabaja con su microhub y el repartidor con sus entregas. Los perfiles de planeación, auditoría y análisis tienen funciones específicas. El administrador gestiona usuarios, permisos y el estado de los servicios.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el diagrama, el navegador entra al portal Flask por el puerto 5000. La web y los clientes HTTP se conectan a los diez microservicios, del 5101 al 5110, usando HTTP y JWT. Abajo están PostgreSQL, MongoDB y Redis. Compartimos estos almacenes según la operación, y el portal conserva funciones que trabajan directamente con ellos.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resume la distribución actual. Catálogos se separó en Productos, Zonas y Microhubs, para que cada servicio tenga una responsabilidad concreta. Seguimiento ahora se encarga del recorrido GPS. Auth, Usuarios, Pedidos, Entregas, Planeación y Documentos completan los diez servicios. Los avisos siguen en la web y PostgreSQL, sin un microservicio de Notificaciones.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bloques explican la estructura del código. Cada servicio define sus rutas y reglas en su app.py. Los módulos comunes concentran seguridad, validación y formatos. El acceso a datos usa el cliente correspondiente a cada motor, y los contratos y trazas ayudan a documentar y revisar las 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microservicio tiene su propio Dockerfile. Como muestran los apartados, parte de Python 3.12, instala dependencias e incluye el código y los contratos. Gunicorn ejecuta dos workers con un usuario sin privilegios. EXPOSE identifica el puerto y el healthcheck revisa que el servicio responda.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tabla muestra el contenedor y puerto de cada servicio. Los cambios clave son Productos en 5103, Zonas en 5108, Microhubs en 5109 y Seguimiento en 5110. El puerto 5108 ya no corresponde a Notificaciones. Esta separación permite ejecutar y revisar cada responsabilidad en su propio contenedor.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diagrama muestra la web y los diez servicios conectados a la red interna de datos. PostgreSQL y MongoDB conservan información en volúmenes; Redis está configurado sin persistencia. Las bases no publican puertos al equipo. Compose espera a que PostgreSQL esté saludable y a que terminen las migraciones antes de iniciar los servicios dependientes.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primeros dos apartados muestran la configuración: una llave común para JWT, conexiones a las bases y una plantilla para localizar cada servicio por nombre y puerto. El comando de inicio construye y levanta el entorno en segundo plano. El comando down detiene los contenedores y conserva los volúmenes al no incluir la opción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flujo empieza con el pedido del cliente y continúa con la preparación del operador. Entregas registra el cierre, el cobro y las referencias de evidencia. PostgreSQL actualiza el estado y genera el aviso mediante un trigger. Seguimiento registra el GPS y Documentos guarda los archivos; los identificadores permiten relacionar todo con el mismo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secuencia, el cliente envía el resultado a Entregas. El servicio valida la sesión y la revocación en Redis, y registra el cierre en una transacción de PostgreSQL, junto con el historial y el aviso generado por el trigger. El primer cierre devuelve 201; repetir el mismo UUID devuelve 200 sin aplicar el cierre dos veces. No existe una transacción global entre PostgreSQL y MongoDB.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tres columnas muestran la función de cada almacén. PostgreSQL conserva los datos relacionados del negocio y sus transacciones. MongoDB almacena documentos, GPS, simulaciones y registros. Redis guarda sesiones, revocaciones, caché y contadores temporales. Elegimos cada motor según las características de los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el modelo se relacionan el usuario, el pedido, sus detalles, los productos y la entrega. El inventario se identifica por microhub y producto. Las claves mantienen las relaciones, mientras que restricciones, triggers y funciones aplican reglas. Los bloqueos protegen existencias y el UUID de operación ayuda a evitar cierres duplicados.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apartados muestran operaciones reales de MongoDB. Documentos inserta y recupera archivos, y Seguimiento guarda puntos GPS en ubicaciones_entrega. Las sincronizaciones se actualizan por UUID. Las agregaciones permiten resumir recorridos y simulaciones, mientras que los índices y validadores organizan y restringen los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fila muestra una clave de Redis y su efecto. La sesión tiene un TTL inicial de 900 segundos; la revocación bloquea un JWT durante su vigencia restante. El refresh dura hasta siete días y se usa una sola vez. La caché de catálogo dura cinco minutos y los contadores de consumo permiten devolver 429 al superar el límite.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resume las capas de validación. Primero comprobamos la firma y vigencia del JWT. Después Redis confirma que la sesión siga activa y que el token no esté revocado. Finalmente revisamos permisos y alcance de los datos. Por eso una sesión válida no significa que el usuario pueda consultar cualquier pedido o entrega.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dos columnas muestran que una misma consulta de productos puede responder en JSON o XML según Accept. Content-Type indica el formato del cuerpo enviado. El XML de entrada se valida con XSD. Hay una excepción relevante: el envío de lotes de puntos GPS en Seguimiento admite únicamente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apartados detallan el contrato. JSON define tipos, campos y errores; las listas incluyen datos y paginación. XML conserva raíz, versión y namespace. Los nueve XSD validan las entradas XML, y se rechazan DTD y entidades. El número de esquemas no tiene que coincidir con los diez servicios, porque algunos comparten contratos.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servicio, desde el puerto 5101 hasta el 5110, tiene su propia página en /api/v1/docs. Swagger permite cargar el JWT con Authorize y probar las rutas. OpenAPI describe los parámetros y respuestas. Para revisar disponibilidad usamos /health o /api/v1/salud, que muestran el servicio y sus dependencias.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cinco apartados indican qué guardamos como evidencia. Incluimos la solicitud, la respuesta completa, el tiempo y la traza. También comprobamos qué quedó en las bases de datos. Los casos cubren operaciones correctas y errores, y se conservan en archivos HTML, Markdown y JSON para poder revisarlos.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ejemplo corresponde a la entrega 129 y al pedido 153. A la izquierda se ve el cobro de 146.80 y el UUID de la operación. A la derecha, el primer cierre responde 201 y marca duplicado como falso. Repetir el UUID devuelve 200 y duplicado verdadero; un monto incorrecto devuelve 422. Son resultados de la evidencia adjunta.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diapositiva agrupa los errores por causa: datos inválidos, problemas de acceso, conflictos, límites y dependencias no disponibles. El cuerpo de error mantiene una estructura común. X-Traza-Id conecta la respuesta HTTP con los registros y métricas, lo que facilita localizar una petición al investigar una falla.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esta tabla se ve qué servicios consulta cada pantalla del portal. El tablero revisa la salud de los diez servicios, los resúmenes y un ejemplo XML de Zonas. La vista del pedido junta Pedidos, Entregas, Seguimiento y Documentos. Cada llamada usa el JWT del usuario y deja el código HTTP, el tiempo y la traza. Si un servicio falla, el portal avisa y el resto sigue funcionando.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bloques distinguen las pruebas: catorce unitarias, siete de contrato y cinco de integración web, además de los 93 casos de evidencia. Las de contrato recorren los diez servicios y verifican perfiles y formatos. Las pruebas automáticas usan MongoDB simulado, así que sus validadores requieren comprobación adicional con el motor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resultado guardado en el proyecto es de 93 casos aprobados de 93. Incluye respuestas correctas, errores controlados y comprobaciones en los tres almacenes. Este resultado pertenece a la ejecución registrada del 13 de octubre; la demostración en vivo permitirá comprobar el entorno que estamos utilizando ahora.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relaciona cada requisito con el componente y la evidencia que lo respalda. Por ejemplo, el despliegue se verifica con los diez Dockerfiles y la salud de los contenedores. Los contratos se comprueban con casos JSON y XML, y el cierre de entregas con casos de validación, éxito, repetición y conflicto.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cerrar: separamos los catálogos, movimos el GPS a Seguimiento y dejamos los avisos en PostgreSQL y en el portal. Tenemos diez servicios y 93 casos aprobados. Falta revisar la caché y los validadores de MongoDB en un entorno real. Lo siguiente es TLS, secretos propios, la nube y pruebas de carga.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51a4a9a5aae4ed0"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69403bd8328c4a00"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13e0a7b047bd498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a4a7087258c54ee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446ae4f0838c4e7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9a1129f0af424ca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4FCDBE-3292-40E0-9219-8A84AEC271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0319696E-F3B1-4B42-BF7D-93E4DB3EEE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7C6AD2-7BA7-4392-A671-626889875A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210897-04B1-42F4-AFD4-8CF4B816FB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FF9B6FCD-C434-41A1-930B-719AABB73E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560B6F-B56E-4D6A-8598-C05A405F8A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61E85523-E598-44EB-9866-6E8F7656BC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3EB425BB-064F-4F2D-8225-E0CF666800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A8E3B-0EE3-4F01-AE66-83A5FFFFB1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65CB3BE4-2956-4090-9B51-7FB402696B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658687119da45a2" Type="http://schemas.openxmlformats.org/officeDocument/2006/relationships/slideLayout" Target="../slideLayouts/slideLayout2.xml"/><Relationship Id="R67b0c4dc7e64473e" Type="http://schemas.openxmlformats.org/officeDocument/2006/relationships/slideLayout" Target="../slideLayouts/slideLayout5.xml"/><Relationship Id="R866030877fdb4bf4" Type="http://schemas.openxmlformats.org/officeDocument/2006/relationships/slideLayout" Target="../slideLayouts/slideLayout4.xml"/><Relationship Id="Ra2561aecae444f10" Type="http://schemas.openxmlformats.org/officeDocument/2006/relationships/theme" Target="theme/theme2.xml"/><Relationship Id="Re77e07fbf2ae4252" Type="http://schemas.openxmlformats.org/officeDocument/2006/relationships/slideLayout" Target="../slideLayouts/slideLayout1.xml"/><Relationship Id="Rf568c2780ec14047" Type="http://schemas.openxmlformats.org/officeDocument/2006/relationships/slideLayout" Target="../slideLayouts/slideLayout3.xml"/><Relationship Id="Rf84eee2d4de74e6f"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7e07fbf2ae4252"/>
    <p:sldLayoutId xmlns:r="http://schemas.openxmlformats.org/officeDocument/2006/relationships" id="2147483650" r:id="R5658687119da45a2"/>
    <p:sldLayoutId xmlns:r="http://schemas.openxmlformats.org/officeDocument/2006/relationships" id="2147483651" r:id="Rf568c2780ec14047"/>
    <p:sldLayoutId xmlns:r="http://schemas.openxmlformats.org/officeDocument/2006/relationships" id="2147483652" r:id="R866030877fdb4bf4"/>
    <p:sldLayoutId xmlns:r="http://schemas.openxmlformats.org/officeDocument/2006/relationships" id="2147483653" r:id="R67b0c4dc7e64473e"/>
    <p:sldLayoutId xmlns:r="http://schemas.openxmlformats.org/officeDocument/2006/relationships" id="2147483654" r:id="Rf84eee2d4de74e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75a93e3c8344a7b" Type="http://schemas.openxmlformats.org/officeDocument/2006/relationships/slideLayout" Target="../slideLayouts/slideLayout6.xml"/><Relationship Id="R1c84eca0282549fd" Type="http://schemas.openxmlformats.org/officeDocument/2006/relationships/image" Target="../media/image2.png"/><Relationship Id="R28918656cb0b4b5b" Type="http://schemas.openxmlformats.org/officeDocument/2006/relationships/image" Target="../media/image.png"/><Relationship Id="Rc58dce603de94ce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f0181066f0c4248" Type="http://schemas.openxmlformats.org/officeDocument/2006/relationships/notesSlide" Target="../notesSlides/notesSlide2.xml"/><Relationship Id="R654421fdc14745dd" Type="http://schemas.openxmlformats.org/officeDocument/2006/relationships/image" Target="../media/image3.png"/><Relationship Id="Rf891dbad977b496b"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0ebbd9c84ed6494a" Type="http://schemas.openxmlformats.org/officeDocument/2006/relationships/notesSlide" Target="../notesSlides/notesSlide3.xml"/><Relationship Id="R2998abeb9b894cc5"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1ab0babd04ae498e" Type="http://schemas.openxmlformats.org/officeDocument/2006/relationships/notesSlide" Target="../notesSlides/notesSlide4.xml"/><Relationship Id="R4ca0c55cb04345a5" Type="http://schemas.openxmlformats.org/officeDocument/2006/relationships/image" Target="../media/image4.png"/><Relationship Id="Rfc9ec81a493c4d7c"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de799f014d84ac6" Type="http://schemas.openxmlformats.org/officeDocument/2006/relationships/notesSlide" Target="../notesSlides/notesSlide5.xml"/><Relationship Id="R5d335e29f3cb474d"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6873514ecae647df" Type="http://schemas.openxmlformats.org/officeDocument/2006/relationships/notesSlide" Target="../notesSlides/notesSlide6.xml"/><Relationship Id="Ree8d4bdd128347a8"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165f24c125b4c32" Type="http://schemas.openxmlformats.org/officeDocument/2006/relationships/notesSlide" Target="../notesSlides/notesSlide7.xml"/><Relationship Id="Ra9f7f029976844dd" Type="http://schemas.openxmlformats.org/officeDocument/2006/relationships/slideLayout" Target="../slideLayouts/slideLayout6.xml"/><Relationship Id="Rcc96348ebb5242f5" Type="http://schemas.openxmlformats.org/officeDocument/2006/relationships/image" Target="../media/image5.png"/></Relationships>
</file>

<file path=ppt/slides/_rels/slide8.xml.rels><?xml version='1.0' encoding='UTF-8' standalone='yes'?>
<Relationships xmlns="http://schemas.openxmlformats.org/package/2006/relationships"><Relationship Id="R7a9dd6533053417a" Type="http://schemas.openxmlformats.org/officeDocument/2006/relationships/notesSlide" Target="../notesSlides/notesSlide8.xml"/><Relationship Id="R8c3dbdfde13045f0"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77b5d30a7d6947ee" Type="http://schemas.openxmlformats.org/officeDocument/2006/relationships/notesSlide" Target="../notesSlides/notesSlide9.xml"/><Relationship Id="Rc80b5a153c2c4b0b"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2d5ff69e66c04e5d" Type="http://schemas.openxmlformats.org/officeDocument/2006/relationships/image" Target="../media/image6.png"/><Relationship Id="R4861dad5b30f487b" Type="http://schemas.openxmlformats.org/officeDocument/2006/relationships/notesSlide" Target="../notesSlides/notesSlide10.xml"/><Relationship Id="Rc46c72bec61a43b8"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925af25c2ab443ca" Type="http://schemas.openxmlformats.org/officeDocument/2006/relationships/slideLayout" Target="../slideLayouts/slideLayout6.xml"/><Relationship Id="Ra670ff17dad94b4c"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10b12425f42f4dff" Type="http://schemas.openxmlformats.org/officeDocument/2006/relationships/slideLayout" Target="../slideLayouts/slideLayout6.xml"/><Relationship Id="R148ab9a8fd624b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980ef15015264a88" Type="http://schemas.openxmlformats.org/officeDocument/2006/relationships/slideLayout" Target="../slideLayouts/slideLayout6.xml"/><Relationship Id="Rc39d7ab7f51344ee"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dcf0250be4a4455" Type="http://schemas.openxmlformats.org/officeDocument/2006/relationships/notesSlide" Target="../notesSlides/notesSlide14.xml"/><Relationship Id="R86fc9ff52776473a"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9d9c80a447ea4aa7" Type="http://schemas.openxmlformats.org/officeDocument/2006/relationships/slideLayout" Target="../slideLayouts/slideLayout6.xml"/><Relationship Id="Rb14432665c4b41e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2e02d3cbb8a48b0" Type="http://schemas.openxmlformats.org/officeDocument/2006/relationships/slideLayout" Target="../slideLayouts/slideLayout6.xml"/><Relationship Id="Rb1466ec57e674731" Type="http://schemas.openxmlformats.org/officeDocument/2006/relationships/image" Target="../media/image7.png"/><Relationship Id="Re3ec5566c7354a4e"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43cdcf0e9c164bed" Type="http://schemas.openxmlformats.org/officeDocument/2006/relationships/notesSlide" Target="../notesSlides/notesSlide17.xml"/><Relationship Id="R6c48f41daac745f5"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1c01f9ab3e1b4a1f" Type="http://schemas.openxmlformats.org/officeDocument/2006/relationships/notesSlide" Target="../notesSlides/notesSlide18.xml"/><Relationship Id="Rf39fc7201083441c"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0e5212e1d84f4d81" Type="http://schemas.openxmlformats.org/officeDocument/2006/relationships/notesSlide" Target="../notesSlides/notesSlide19.xml"/><Relationship Id="R7ddea5998bcd4cd4"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31685d1a89fe4f2a" Type="http://schemas.openxmlformats.org/officeDocument/2006/relationships/slideLayout" Target="../slideLayouts/slideLayout6.xml"/><Relationship Id="R691b80ebddd24c4b" Type="http://schemas.openxmlformats.org/officeDocument/2006/relationships/notesSlide" Target="../notesSlides/notesSlide20.xml"/><Relationship Id="R7cc28b39a8934cbd" Type="http://schemas.openxmlformats.org/officeDocument/2006/relationships/image" Target="../media/image8.png"/></Relationships>
</file>

<file path=ppt/slides/_rels/slide21.xml.rels><?xml version='1.0' encoding='UTF-8' standalone='yes'?>
<Relationships xmlns="http://schemas.openxmlformats.org/package/2006/relationships"><Relationship Id="Rc7687fab662d451b" Type="http://schemas.openxmlformats.org/officeDocument/2006/relationships/image" Target="../media/image9.png"/><Relationship Id="Rd468c4a942ea41ca" Type="http://schemas.openxmlformats.org/officeDocument/2006/relationships/notesSlide" Target="../notesSlides/notesSlide21.xml"/><Relationship Id="Reb4afe87206641c6"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347f3c59845d4683" Type="http://schemas.openxmlformats.org/officeDocument/2006/relationships/notesSlide" Target="../notesSlides/notesSlide22.xml"/><Relationship Id="R3819a02ef4cc465d"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87b49cdd74dc4965" Type="http://schemas.openxmlformats.org/officeDocument/2006/relationships/notesSlide" Target="../notesSlides/notesSlide23.xml"/><Relationship Id="R955500c0f455442d"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2eceb10be44844ed" Type="http://schemas.openxmlformats.org/officeDocument/2006/relationships/image" Target="../media/image10.png"/><Relationship Id="R56cb4078bdd14cbf" Type="http://schemas.openxmlformats.org/officeDocument/2006/relationships/slideLayout" Target="../slideLayouts/slideLayout6.xml"/><Relationship Id="R597efc44a522468e"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7b5949ecb9894aa2" Type="http://schemas.openxmlformats.org/officeDocument/2006/relationships/slideLayout" Target="../slideLayouts/slideLayout6.xml"/><Relationship Id="Rb0692399c1834d9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35d776f2e594429b" Type="http://schemas.openxmlformats.org/officeDocument/2006/relationships/slideLayout" Target="../slideLayouts/slideLayout6.xml"/><Relationship Id="Ra53211336a4e466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229a7b166200408a" Type="http://schemas.openxmlformats.org/officeDocument/2006/relationships/notesSlide" Target="../notesSlides/notesSlide27.xml"/><Relationship Id="Rc994d4d59aec4916" Type="http://schemas.openxmlformats.org/officeDocument/2006/relationships/slideLayout" Target="../slideLayouts/slideLayout6.xml"/><Relationship Id="Rff53f8a6fc3f4c8d" Type="http://schemas.openxmlformats.org/officeDocument/2006/relationships/image" Target="../media/image11.png"/></Relationships>
</file>

<file path=ppt/slides/_rels/slide28.xml.rels><?xml version='1.0' encoding='UTF-8' standalone='yes'?>
<Relationships xmlns="http://schemas.openxmlformats.org/package/2006/relationships"><Relationship Id="R5f002c09b4044ce0" Type="http://schemas.openxmlformats.org/officeDocument/2006/relationships/slideLayout" Target="../slideLayouts/slideLayout6.xml"/><Relationship Id="Rf7cb4c34b91c42a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29a30eb7f3204852" Type="http://schemas.openxmlformats.org/officeDocument/2006/relationships/notesSlide" Target="../notesSlides/notesSlide29.xml"/><Relationship Id="R35643851ac014d70"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73b7f32505024601" Type="http://schemas.openxmlformats.org/officeDocument/2006/relationships/notesSlide" Target="../notesSlides/notesSlide30.xml"/><Relationship Id="Rc227b6bfea4b4bb4"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340b4d4b8e6c40f5" Type="http://schemas.openxmlformats.org/officeDocument/2006/relationships/slideLayout" Target="../slideLayouts/slideLayout6.xml"/><Relationship Id="Rdede2e278a0a4be5" Type="http://schemas.openxmlformats.org/officeDocument/2006/relationships/image" Target="../media/image12.png"/><Relationship Id="Ree88ba31ea2440df" Type="http://schemas.openxmlformats.org/officeDocument/2006/relationships/notesSlide" Target="../notesSlides/notesSlide31.xml"/></Relationships>
</file>

<file path=ppt/slides/slide1.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F7D4062-34C7-4114-A33B-1CDCDA381A7E}"/>
              </a:ext>
            </a:extLst>
          </p:cNvPr>
          <p:cNvSpPr>
            <a:spLocks xmlns:a="http://schemas.openxmlformats.org/drawingml/2006/main" noGrp="1"/>
          </p:cNvSpPr>
          <p:nvPr/>
        </p:nvSpPr>
        <p:spPr>
          <a:xfrm xmlns:a="http://schemas.openxmlformats.org/drawingml/2006/main">
            <a:off x="619125" y="533400"/>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0649B"/>
                </a:solidFill>
                <a:latin typeface="Comfortaa"/>
                <a:ea typeface="Comfortaa"/>
                <a:cs typeface="Comfortaa"/>
              </a:defRPr>
            </a:defPPr>
          </a:lstStyle>
          <a:p xmlns:a="http://schemas.openxmlformats.org/drawingml/2006/main">
            <a:pPr>
              <a:buNone/>
              <a:defRPr sz="1650" b="1">
                <a:solidFill>
                  <a:srgbClr val="80649B"/>
                </a:solidFill>
                <a:latin typeface="Comfortaa"/>
                <a:ea typeface="Comfortaa"/>
                <a:cs typeface="Comfortaa"/>
              </a:defRPr>
            </a:pPr>
            <a:r>
              <a:rPr sz="1650" b="1">
                <a:solidFill>
                  <a:srgbClr val="80649B"/>
                </a:solidFill>
                <a:latin typeface="Comfortaa"/>
                <a:ea typeface="Comfortaa"/>
                <a:cs typeface="Comfortaa"/>
              </a:rPr>
              <a:t>CODEX INNOVATIONS</a:t>
            </a:r>
          </a:p>
        </p:txBody>
      </p:sp>
      <p:sp>
        <p:nvSpPr>
          <p:cNvPr id="2" name="text-1">
            <a:extLst xmlns:a="http://schemas.openxmlformats.org/drawingml/2006/main">
              <a:ext uri="{FF2B5EF4-FFF2-40B4-BE49-F238E27FC236}">
                <a16:creationId xmlns:a16="http://schemas.microsoft.com/office/drawing/2014/main" id="{47B624DE-3B8C-4FAD-9D49-8668F502743C}"/>
              </a:ext>
            </a:extLst>
          </p:cNvPr>
          <p:cNvSpPr>
            <a:spLocks xmlns:a="http://schemas.openxmlformats.org/drawingml/2006/main" noGrp="1"/>
          </p:cNvSpPr>
          <p:nvPr/>
        </p:nvSpPr>
        <p:spPr>
          <a:xfrm xmlns:a="http://schemas.openxmlformats.org/drawingml/2006/main">
            <a:off x="619125" y="1638300"/>
            <a:ext cx="704850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500" b="0">
                <a:solidFill>
                  <a:srgbClr val="44364F"/>
                </a:solidFill>
                <a:latin typeface="Playfair Display"/>
                <a:ea typeface="Playfair Display"/>
                <a:cs typeface="Playfair Display"/>
              </a:defRPr>
            </a:defPPr>
          </a:lstStyle>
          <a:p xmlns:a="http://schemas.openxmlformats.org/drawingml/2006/main">
            <a:pPr>
              <a:buNone/>
              <a:defRPr sz="4500" b="0">
                <a:solidFill>
                  <a:srgbClr val="44364F"/>
                </a:solidFill>
                <a:latin typeface="Playfair Display"/>
                <a:ea typeface="Playfair Display"/>
                <a:cs typeface="Playfair Display"/>
              </a:defRPr>
            </a:pPr>
            <a:r>
              <a:rPr sz="4500" b="0">
                <a:solidFill>
                  <a:srgbClr val="44364F"/>
                </a:solidFill>
                <a:latin typeface="Playfair Display"/>
                <a:ea typeface="Playfair Display"/>
                <a:cs typeface="Playfair Display"/>
              </a:rPr>
              <a:t>Microhubs y comercio</a:t>
            </a:r>
          </a:p>
          <a:p xmlns:a="http://schemas.openxmlformats.org/drawingml/2006/main">
            <a:pPr>
              <a:buNone/>
              <a:defRPr sz="4500" b="0">
                <a:solidFill>
                  <a:srgbClr val="44364F"/>
                </a:solidFill>
                <a:latin typeface="Playfair Display"/>
                <a:ea typeface="Playfair Display"/>
                <a:cs typeface="Playfair Display"/>
              </a:defRPr>
            </a:pPr>
            <a:r>
              <a:rPr sz="4500" b="0">
                <a:solidFill>
                  <a:srgbClr val="44364F"/>
                </a:solidFill>
                <a:latin typeface="Playfair Display"/>
                <a:ea typeface="Playfair Display"/>
                <a:cs typeface="Playfair Display"/>
              </a:rPr>
              <a:t>de proximidad</a:t>
            </a:r>
          </a:p>
        </p:txBody>
      </p:sp>
      <p:sp>
        <p:nvSpPr>
          <p:cNvPr id="3" name="text-2">
            <a:extLst xmlns:a="http://schemas.openxmlformats.org/drawingml/2006/main">
              <a:ext uri="{FF2B5EF4-FFF2-40B4-BE49-F238E27FC236}">
                <a16:creationId xmlns:a16="http://schemas.microsoft.com/office/drawing/2014/main" id="{E841B780-8942-4A90-B2AD-9EB2C5936410}"/>
              </a:ext>
            </a:extLst>
          </p:cNvPr>
          <p:cNvSpPr>
            <a:spLocks xmlns:a="http://schemas.openxmlformats.org/drawingml/2006/main" noGrp="1"/>
          </p:cNvSpPr>
          <p:nvPr/>
        </p:nvSpPr>
        <p:spPr>
          <a:xfrm xmlns:a="http://schemas.openxmlformats.org/drawingml/2006/main">
            <a:off x="647700" y="3600450"/>
            <a:ext cx="619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14E58"/>
                </a:solidFill>
                <a:latin typeface="Comfortaa"/>
                <a:ea typeface="Comfortaa"/>
                <a:cs typeface="Comfortaa"/>
              </a:defRPr>
            </a:defPPr>
          </a:lstStyle>
          <a:p xmlns:a="http://schemas.openxmlformats.org/drawingml/2006/main">
            <a:pPr>
              <a:buNone/>
              <a:defRPr sz="1950" b="0">
                <a:solidFill>
                  <a:srgbClr val="514E58"/>
                </a:solidFill>
                <a:latin typeface="Comfortaa"/>
                <a:ea typeface="Comfortaa"/>
                <a:cs typeface="Comfortaa"/>
              </a:defRPr>
            </a:pPr>
            <a:r>
              <a:rPr sz="1950" b="0">
                <a:solidFill>
                  <a:srgbClr val="514E58"/>
                </a:solidFill>
                <a:latin typeface="Comfortaa"/>
                <a:ea typeface="Comfortaa"/>
                <a:cs typeface="Comfortaa"/>
              </a:rPr>
              <a:t>Arquitectura distribuida y demostración funcional</a:t>
            </a:r>
          </a:p>
        </p:txBody>
      </p:sp>
      <p:sp>
        <p:nvSpPr>
          <p:cNvPr id="4" name="text-3">
            <a:extLst xmlns:a="http://schemas.openxmlformats.org/drawingml/2006/main">
              <a:ext uri="{FF2B5EF4-FFF2-40B4-BE49-F238E27FC236}">
                <a16:creationId xmlns:a16="http://schemas.microsoft.com/office/drawing/2014/main" id="{DB374AE0-E73E-4CCD-8D8A-465E8073542E}"/>
              </a:ext>
            </a:extLst>
          </p:cNvPr>
          <p:cNvSpPr>
            <a:spLocks xmlns:a="http://schemas.openxmlformats.org/drawingml/2006/main" noGrp="1"/>
          </p:cNvSpPr>
          <p:nvPr/>
        </p:nvSpPr>
        <p:spPr>
          <a:xfrm xmlns:a="http://schemas.openxmlformats.org/drawingml/2006/main">
            <a:off x="647700" y="4695825"/>
            <a:ext cx="638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80649B"/>
                </a:solidFill>
                <a:latin typeface="Comfortaa"/>
                <a:ea typeface="Comfortaa"/>
                <a:cs typeface="Comfortaa"/>
              </a:defRPr>
            </a:defPPr>
          </a:lstStyle>
          <a:p xmlns:a="http://schemas.openxmlformats.org/drawingml/2006/main">
            <a:pPr>
              <a:buNone/>
              <a:defRPr sz="1500" b="0">
                <a:solidFill>
                  <a:srgbClr val="80649B"/>
                </a:solidFill>
                <a:latin typeface="Comfortaa"/>
                <a:ea typeface="Comfortaa"/>
                <a:cs typeface="Comfortaa"/>
              </a:defRPr>
            </a:pPr>
            <a:r>
              <a:rPr sz="1500" b="0">
                <a:solidFill>
                  <a:srgbClr val="80649B"/>
                </a:solidFill>
                <a:latin typeface="Comfortaa"/>
                <a:ea typeface="Comfortaa"/>
                <a:cs typeface="Comfortaa"/>
              </a:rPr>
              <a:t>Segundo parcial · Equipo 04 · 13 octubre 2026</a:t>
            </a:r>
          </a:p>
        </p:txBody>
      </p:sp>
      <p:sp>
        <p:nvSpPr>
          <p:cNvPr id="5" name="text-4">
            <a:extLst xmlns:a="http://schemas.openxmlformats.org/drawingml/2006/main">
              <a:ext uri="{FF2B5EF4-FFF2-40B4-BE49-F238E27FC236}">
                <a16:creationId xmlns:a16="http://schemas.microsoft.com/office/drawing/2014/main" id="{E5A11515-89F4-4C08-82BE-D10359CBE465}"/>
              </a:ext>
            </a:extLst>
          </p:cNvPr>
          <p:cNvSpPr>
            <a:spLocks xmlns:a="http://schemas.openxmlformats.org/drawingml/2006/main" noGrp="1"/>
          </p:cNvSpPr>
          <p:nvPr/>
        </p:nvSpPr>
        <p:spPr>
          <a:xfrm xmlns:a="http://schemas.openxmlformats.org/drawingml/2006/main">
            <a:off x="647700" y="5600700"/>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75707A"/>
                </a:solidFill>
                <a:latin typeface="Comfortaa"/>
                <a:ea typeface="Comfortaa"/>
                <a:cs typeface="Comfortaa"/>
              </a:defRPr>
            </a:defPPr>
          </a:lstStyle>
          <a:p xmlns:a="http://schemas.openxmlformats.org/drawingml/2006/main">
            <a:pPr>
              <a:buNone/>
              <a:defRPr sz="1350" b="0">
                <a:solidFill>
                  <a:srgbClr val="75707A"/>
                </a:solidFill>
                <a:latin typeface="Comfortaa"/>
                <a:ea typeface="Comfortaa"/>
                <a:cs typeface="Comfortaa"/>
              </a:defRPr>
            </a:pPr>
            <a:r>
              <a:rPr sz="1350" b="0">
                <a:solidFill>
                  <a:srgbClr val="75707A"/>
                </a:solidFill>
                <a:latin typeface="Comfortaa"/>
                <a:ea typeface="Comfortaa"/>
                <a:cs typeface="Comfortaa"/>
              </a:rPr>
              <a:t>Ruth Elizabeth Soriano · Vanessa Morante López · Mauro Castillo Peña</a:t>
            </a:r>
          </a:p>
          <a:p xmlns:a="http://schemas.openxmlformats.org/drawingml/2006/main">
            <a:pPr>
              <a:buNone/>
              <a:defRPr sz="1350" b="0">
                <a:solidFill>
                  <a:srgbClr val="75707A"/>
                </a:solidFill>
                <a:latin typeface="Comfortaa"/>
                <a:ea typeface="Comfortaa"/>
                <a:cs typeface="Comfortaa"/>
              </a:defRPr>
            </a:pPr>
            <a:r>
              <a:rPr sz="1350" b="0">
                <a:solidFill>
                  <a:srgbClr val="75707A"/>
                </a:solidFill>
                <a:latin typeface="Comfortaa"/>
                <a:ea typeface="Comfortaa"/>
                <a:cs typeface="Comfortaa"/>
              </a:rPr>
              <a:t>María José Cedillo Mata · Jorge Antonio Arreola Cantú</a:t>
            </a:r>
          </a:p>
        </p:txBody>
      </p:sp>
      <p:pic>
        <p:nvPicPr>
          <p:cNvPr id="7" name="">
            <a:extLst xmlns:a="http://schemas.openxmlformats.org/drawingml/2006/main">
              <a:ext uri="{FF2B5EF4-FFF2-40B4-BE49-F238E27FC236}">
                <a16:creationId xmlns:a16="http://schemas.microsoft.com/office/drawing/2014/main" id="{70EA2ADA-5B03-435C-AA1F-03A2BB1DC1A4}"/>
              </a:ext>
            </a:extLst>
          </p:cNvPr>
          <p:cNvPicPr>
            <a:picLocks xmlns:a="http://schemas.openxmlformats.org/drawingml/2006/main" noChangeAspect="1"/>
          </p:cNvPicPr>
          <p:nvPr/>
        </p:nvPicPr>
        <p:blipFill>
          <a:blip xmlns:r="http://schemas.openxmlformats.org/officeDocument/2006/relationships" xmlns:a="http://schemas.openxmlformats.org/drawingml/2006/main" r:embed="R28918656cb0b4b5b"/>
          <a:stretch xmlns:a="http://schemas.openxmlformats.org/drawingml/2006/main"/>
        </p:blipFill>
        <p:spPr>
          <a:xfrm xmlns:a="http://schemas.openxmlformats.org/drawingml/2006/main">
            <a:off x="7286625" y="1143000"/>
            <a:ext cx="4572000" cy="45720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AF9BE23-806A-431B-A711-76367784DC8D}"/>
              </a:ext>
            </a:extLst>
          </p:cNvPr>
          <p:cNvPicPr>
            <a:picLocks xmlns:a="http://schemas.openxmlformats.org/drawingml/2006/main" noChangeAspect="1"/>
          </p:cNvPicPr>
          <p:nvPr/>
        </p:nvPicPr>
        <p:blipFill>
          <a:blip xmlns:r="http://schemas.openxmlformats.org/officeDocument/2006/relationships" xmlns:a="http://schemas.openxmlformats.org/drawingml/2006/main" r:embed="R1c84eca0282549fd"/>
          <a:stretch xmlns:a="http://schemas.openxmlformats.org/drawingml/2006/main"/>
        </p:blipFill>
        <p:spPr>
          <a:xfrm xmlns:a="http://schemas.openxmlformats.org/drawingml/2006/main">
            <a:off x="7429500" y="838200"/>
            <a:ext cx="1143000" cy="1143000"/>
          </a:xfrm>
          <a:prstGeom xmlns:a="http://schemas.openxmlformats.org/drawingml/2006/main" prst="rect">
            <a:avLst/>
          </a:prstGeom>
        </p:spPr>
      </p:pic>
    </p:spTree>
    <p:extLst>
      <p:ext uri="{BB962C8B-B14F-4D97-AF65-F5344CB8AC3E}">
        <p14:creationId xmlns:p14="http://schemas.microsoft.com/office/powerpoint/2010/main" val="1746928785"/>
      </p:ext>
    </p:extLst>
  </p:cSld>
</p:sld>
</file>

<file path=ppt/slides/slide2.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E780CC3-123F-486A-9611-29FB42F11E67}"/>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Problema y objetivo</a:t>
            </a:r>
          </a:p>
        </p:txBody>
      </p:sp>
      <p:sp>
        <p:nvSpPr>
          <p:cNvPr id="2" name="text-1">
            <a:extLst xmlns:a="http://schemas.openxmlformats.org/drawingml/2006/main">
              <a:ext uri="{FF2B5EF4-FFF2-40B4-BE49-F238E27FC236}">
                <a16:creationId xmlns:a16="http://schemas.microsoft.com/office/drawing/2014/main" id="{0FADDE0C-D0AD-43AA-AF83-98033EF24600}"/>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EB3388D9-F976-49B6-981C-4A09BFC463C1}"/>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02</a:t>
            </a:r>
          </a:p>
        </p:txBody>
      </p:sp>
      <p:sp>
        <p:nvSpPr>
          <p:cNvPr id="4" name="text-3">
            <a:extLst xmlns:a="http://schemas.openxmlformats.org/drawingml/2006/main">
              <a:ext uri="{FF2B5EF4-FFF2-40B4-BE49-F238E27FC236}">
                <a16:creationId xmlns:a16="http://schemas.microsoft.com/office/drawing/2014/main" id="{2B61CE4C-A3AF-4C4C-851B-7D1C39BCFAB4}"/>
              </a:ext>
            </a:extLst>
          </p:cNvPr>
          <p:cNvSpPr>
            <a:spLocks xmlns:a="http://schemas.openxmlformats.org/drawingml/2006/main" noGrp="1"/>
          </p:cNvSpPr>
          <p:nvPr/>
        </p:nvSpPr>
        <p:spPr>
          <a:xfrm xmlns:a="http://schemas.openxmlformats.org/drawingml/2006/main">
            <a:off x="61912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01</a:t>
            </a:r>
          </a:p>
        </p:txBody>
      </p:sp>
      <p:sp>
        <p:nvSpPr>
          <p:cNvPr id="5" name="text-4">
            <a:extLst xmlns:a="http://schemas.openxmlformats.org/drawingml/2006/main">
              <a:ext uri="{FF2B5EF4-FFF2-40B4-BE49-F238E27FC236}">
                <a16:creationId xmlns:a16="http://schemas.microsoft.com/office/drawing/2014/main" id="{ECA525CA-8783-43F0-8DB8-14E5DC090196}"/>
              </a:ext>
            </a:extLst>
          </p:cNvPr>
          <p:cNvSpPr>
            <a:spLocks xmlns:a="http://schemas.openxmlformats.org/drawingml/2006/main" noGrp="1"/>
          </p:cNvSpPr>
          <p:nvPr/>
        </p:nvSpPr>
        <p:spPr>
          <a:xfrm xmlns:a="http://schemas.openxmlformats.org/drawingml/2006/main">
            <a:off x="61912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El problema</a:t>
            </a:r>
          </a:p>
        </p:txBody>
      </p:sp>
      <p:sp>
        <p:nvSpPr>
          <p:cNvPr id="6" name="text-5">
            <a:extLst xmlns:a="http://schemas.openxmlformats.org/drawingml/2006/main">
              <a:ext uri="{FF2B5EF4-FFF2-40B4-BE49-F238E27FC236}">
                <a16:creationId xmlns:a16="http://schemas.microsoft.com/office/drawing/2014/main" id="{D435778F-E8CF-46D5-B500-22982B8C2780}"/>
              </a:ext>
            </a:extLst>
          </p:cNvPr>
          <p:cNvSpPr>
            <a:spLocks xmlns:a="http://schemas.openxmlformats.org/drawingml/2006/main" noGrp="1"/>
          </p:cNvSpPr>
          <p:nvPr/>
        </p:nvSpPr>
        <p:spPr>
          <a:xfrm xmlns:a="http://schemas.openxmlformats.org/drawingml/2006/main">
            <a:off x="61912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Pedidos pequeños, entregas costosas y disponibilidad limitada por zona.</a:t>
            </a:r>
          </a:p>
        </p:txBody>
      </p:sp>
      <p:sp>
        <p:nvSpPr>
          <p:cNvPr id="7" name="text-6">
            <a:extLst xmlns:a="http://schemas.openxmlformats.org/drawingml/2006/main">
              <a:ext uri="{FF2B5EF4-FFF2-40B4-BE49-F238E27FC236}">
                <a16:creationId xmlns:a16="http://schemas.microsoft.com/office/drawing/2014/main" id="{F6DD248A-C527-4A3D-A09F-EF26227CFFF6}"/>
              </a:ext>
            </a:extLst>
          </p:cNvPr>
          <p:cNvSpPr>
            <a:spLocks xmlns:a="http://schemas.openxmlformats.org/drawingml/2006/main" noGrp="1"/>
          </p:cNvSpPr>
          <p:nvPr/>
        </p:nvSpPr>
        <p:spPr>
          <a:xfrm xmlns:a="http://schemas.openxmlformats.org/drawingml/2006/main">
            <a:off x="433387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02</a:t>
            </a:r>
          </a:p>
        </p:txBody>
      </p:sp>
      <p:sp>
        <p:nvSpPr>
          <p:cNvPr id="8" name="text-7">
            <a:extLst xmlns:a="http://schemas.openxmlformats.org/drawingml/2006/main">
              <a:ext uri="{FF2B5EF4-FFF2-40B4-BE49-F238E27FC236}">
                <a16:creationId xmlns:a16="http://schemas.microsoft.com/office/drawing/2014/main" id="{DA3FC1BA-1822-41E0-B446-D9974FEF2D67}"/>
              </a:ext>
            </a:extLst>
          </p:cNvPr>
          <p:cNvSpPr>
            <a:spLocks xmlns:a="http://schemas.openxmlformats.org/drawingml/2006/main" noGrp="1"/>
          </p:cNvSpPr>
          <p:nvPr/>
        </p:nvSpPr>
        <p:spPr>
          <a:xfrm xmlns:a="http://schemas.openxmlformats.org/drawingml/2006/main">
            <a:off x="433387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Nuestra solución</a:t>
            </a:r>
          </a:p>
        </p:txBody>
      </p:sp>
      <p:sp>
        <p:nvSpPr>
          <p:cNvPr id="9" name="text-8">
            <a:extLst xmlns:a="http://schemas.openxmlformats.org/drawingml/2006/main">
              <a:ext uri="{FF2B5EF4-FFF2-40B4-BE49-F238E27FC236}">
                <a16:creationId xmlns:a16="http://schemas.microsoft.com/office/drawing/2014/main" id="{125ED529-1357-4FCE-9DFE-B0AA4235AE08}"/>
              </a:ext>
            </a:extLst>
          </p:cNvPr>
          <p:cNvSpPr>
            <a:spLocks xmlns:a="http://schemas.openxmlformats.org/drawingml/2006/main" noGrp="1"/>
          </p:cNvSpPr>
          <p:nvPr/>
        </p:nvSpPr>
        <p:spPr>
          <a:xfrm xmlns:a="http://schemas.openxmlformats.org/drawingml/2006/main">
            <a:off x="433387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Administrar microhubs cercanos al cliente, con inventario, pedidos y cobertura.</a:t>
            </a:r>
          </a:p>
        </p:txBody>
      </p:sp>
      <p:sp>
        <p:nvSpPr>
          <p:cNvPr id="10" name="text-9">
            <a:extLst xmlns:a="http://schemas.openxmlformats.org/drawingml/2006/main">
              <a:ext uri="{FF2B5EF4-FFF2-40B4-BE49-F238E27FC236}">
                <a16:creationId xmlns:a16="http://schemas.microsoft.com/office/drawing/2014/main" id="{FA201932-77DA-4823-918D-EF92021D026C}"/>
              </a:ext>
            </a:extLst>
          </p:cNvPr>
          <p:cNvSpPr>
            <a:spLocks xmlns:a="http://schemas.openxmlformats.org/drawingml/2006/main" noGrp="1"/>
          </p:cNvSpPr>
          <p:nvPr/>
        </p:nvSpPr>
        <p:spPr>
          <a:xfrm xmlns:a="http://schemas.openxmlformats.org/drawingml/2006/main">
            <a:off x="804862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03</a:t>
            </a:r>
          </a:p>
        </p:txBody>
      </p:sp>
      <p:sp>
        <p:nvSpPr>
          <p:cNvPr id="11" name="text-10">
            <a:extLst xmlns:a="http://schemas.openxmlformats.org/drawingml/2006/main">
              <a:ext uri="{FF2B5EF4-FFF2-40B4-BE49-F238E27FC236}">
                <a16:creationId xmlns:a16="http://schemas.microsoft.com/office/drawing/2014/main" id="{0F935715-A9AC-402A-8DC6-50CE9A5B1D9C}"/>
              </a:ext>
            </a:extLst>
          </p:cNvPr>
          <p:cNvSpPr>
            <a:spLocks xmlns:a="http://schemas.openxmlformats.org/drawingml/2006/main" noGrp="1"/>
          </p:cNvSpPr>
          <p:nvPr/>
        </p:nvSpPr>
        <p:spPr>
          <a:xfrm xmlns:a="http://schemas.openxmlformats.org/drawingml/2006/main">
            <a:off x="804862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Objetivo del parcial</a:t>
            </a:r>
          </a:p>
        </p:txBody>
      </p:sp>
      <p:sp>
        <p:nvSpPr>
          <p:cNvPr id="12" name="text-11">
            <a:extLst xmlns:a="http://schemas.openxmlformats.org/drawingml/2006/main">
              <a:ext uri="{FF2B5EF4-FFF2-40B4-BE49-F238E27FC236}">
                <a16:creationId xmlns:a16="http://schemas.microsoft.com/office/drawing/2014/main" id="{00AD3B8C-7528-4D1D-8811-3B65900591F4}"/>
              </a:ext>
            </a:extLst>
          </p:cNvPr>
          <p:cNvSpPr>
            <a:spLocks xmlns:a="http://schemas.openxmlformats.org/drawingml/2006/main" noGrp="1"/>
          </p:cNvSpPr>
          <p:nvPr/>
        </p:nvSpPr>
        <p:spPr>
          <a:xfrm xmlns:a="http://schemas.openxmlformats.org/drawingml/2006/main">
            <a:off x="804862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Integrar la web con diez servicios, seguridad común y datos persistentes.</a:t>
            </a:r>
          </a:p>
        </p:txBody>
      </p:sp>
      <p:pic>
        <p:nvPicPr>
          <p:cNvPr id="14" name="">
            <a:extLst xmlns:a="http://schemas.openxmlformats.org/drawingml/2006/main">
              <a:ext uri="{FF2B5EF4-FFF2-40B4-BE49-F238E27FC236}">
                <a16:creationId xmlns:a16="http://schemas.microsoft.com/office/drawing/2014/main" id="{948826EA-EFF5-4867-A268-D5ED9EA09605}"/>
              </a:ext>
            </a:extLst>
          </p:cNvPr>
          <p:cNvPicPr>
            <a:picLocks xmlns:a="http://schemas.openxmlformats.org/drawingml/2006/main" noChangeAspect="1"/>
          </p:cNvPicPr>
          <p:nvPr/>
        </p:nvPicPr>
        <p:blipFill>
          <a:blip xmlns:r="http://schemas.openxmlformats.org/officeDocument/2006/relationships" xmlns:a="http://schemas.openxmlformats.org/drawingml/2006/main" r:embed="R654421fdc14745dd"/>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1045790496"/>
      </p:ext>
    </p:extLst>
  </p:cSld>
</p:sld>
</file>

<file path=ppt/slides/slide3.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E7C34F0-8C26-4E50-845A-2233DCBF4ED0}"/>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Alcance y requerimientos del parcial</a:t>
            </a:r>
          </a:p>
        </p:txBody>
      </p:sp>
      <p:sp>
        <p:nvSpPr>
          <p:cNvPr id="2" name="text-1">
            <a:extLst xmlns:a="http://schemas.openxmlformats.org/drawingml/2006/main">
              <a:ext uri="{FF2B5EF4-FFF2-40B4-BE49-F238E27FC236}">
                <a16:creationId xmlns:a16="http://schemas.microsoft.com/office/drawing/2014/main" id="{200DE47E-3E97-4C14-9476-DD5E2649B2CA}"/>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49DEB7C7-A373-4971-8F1A-43F52F16A1FE}"/>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03</a:t>
            </a:r>
          </a:p>
        </p:txBody>
      </p:sp>
      <p:sp>
        <p:nvSpPr>
          <p:cNvPr id="4" name="text-3">
            <a:extLst xmlns:a="http://schemas.openxmlformats.org/drawingml/2006/main">
              <a:ext uri="{FF2B5EF4-FFF2-40B4-BE49-F238E27FC236}">
                <a16:creationId xmlns:a16="http://schemas.microsoft.com/office/drawing/2014/main" id="{5BA3BEF1-929D-468C-8C4D-A71CA0B48593}"/>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Funcionales</a:t>
            </a:r>
          </a:p>
        </p:txBody>
      </p:sp>
      <p:sp>
        <p:nvSpPr>
          <p:cNvPr id="5" name="text-4">
            <a:extLst xmlns:a="http://schemas.openxmlformats.org/drawingml/2006/main">
              <a:ext uri="{FF2B5EF4-FFF2-40B4-BE49-F238E27FC236}">
                <a16:creationId xmlns:a16="http://schemas.microsoft.com/office/drawing/2014/main" id="{760818A9-E415-4A93-B99E-38952A8CBC92}"/>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Pedidos, entregas con evidencia, planeación, documentos y avisos.</a:t>
            </a:r>
          </a:p>
        </p:txBody>
      </p:sp>
      <p:sp>
        <p:nvSpPr>
          <p:cNvPr id="6" name="text-5">
            <a:extLst xmlns:a="http://schemas.openxmlformats.org/drawingml/2006/main">
              <a:ext uri="{FF2B5EF4-FFF2-40B4-BE49-F238E27FC236}">
                <a16:creationId xmlns:a16="http://schemas.microsoft.com/office/drawing/2014/main" id="{A498C560-36D1-4700-A262-1225794DA8CA}"/>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No funcionales</a:t>
            </a:r>
          </a:p>
        </p:txBody>
      </p:sp>
      <p:sp>
        <p:nvSpPr>
          <p:cNvPr id="7" name="text-6">
            <a:extLst xmlns:a="http://schemas.openxmlformats.org/drawingml/2006/main">
              <a:ext uri="{FF2B5EF4-FFF2-40B4-BE49-F238E27FC236}">
                <a16:creationId xmlns:a16="http://schemas.microsoft.com/office/drawing/2014/main" id="{167E18A2-3FFD-4B3A-88B4-34C302F09296}"/>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JWT común, permisos, errores controlados, contratos y despliegue reproducible.</a:t>
            </a:r>
          </a:p>
        </p:txBody>
      </p:sp>
      <p:sp>
        <p:nvSpPr>
          <p:cNvPr id="8" name="text-7">
            <a:extLst xmlns:a="http://schemas.openxmlformats.org/drawingml/2006/main">
              <a:ext uri="{FF2B5EF4-FFF2-40B4-BE49-F238E27FC236}">
                <a16:creationId xmlns:a16="http://schemas.microsoft.com/office/drawing/2014/main" id="{D387ACDE-86BC-43F1-B284-6A2B88124D11}"/>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Alcance técnico</a:t>
            </a:r>
          </a:p>
        </p:txBody>
      </p:sp>
      <p:sp>
        <p:nvSpPr>
          <p:cNvPr id="9" name="text-8">
            <a:extLst xmlns:a="http://schemas.openxmlformats.org/drawingml/2006/main">
              <a:ext uri="{FF2B5EF4-FFF2-40B4-BE49-F238E27FC236}">
                <a16:creationId xmlns:a16="http://schemas.microsoft.com/office/drawing/2014/main" id="{E46081BA-6B3B-4C05-9EC8-F38D4F09B712}"/>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Web funcional, 10 servicios, PostgreSQL, MongoDB, Redis y Docker.</a:t>
            </a:r>
          </a:p>
        </p:txBody>
      </p:sp>
      <p:sp>
        <p:nvSpPr>
          <p:cNvPr id="10" name="text-9">
            <a:extLst xmlns:a="http://schemas.openxmlformats.org/drawingml/2006/main">
              <a:ext uri="{FF2B5EF4-FFF2-40B4-BE49-F238E27FC236}">
                <a16:creationId xmlns:a16="http://schemas.microsoft.com/office/drawing/2014/main" id="{B6DAA6B4-F1C9-4B67-BA94-D2D723DBC1D9}"/>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Clientes y siguiente etapa</a:t>
            </a:r>
          </a:p>
        </p:txBody>
      </p:sp>
      <p:sp>
        <p:nvSpPr>
          <p:cNvPr id="11" name="text-10">
            <a:extLst xmlns:a="http://schemas.openxmlformats.org/drawingml/2006/main">
              <a:ext uri="{FF2B5EF4-FFF2-40B4-BE49-F238E27FC236}">
                <a16:creationId xmlns:a16="http://schemas.microsoft.com/office/drawing/2014/main" id="{56BD8466-2CCF-440E-A8CF-B1FD2C83EE4B}"/>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APIs para Android (JSON) y escritorio (XML). TLS y nube: siguiente parcial.</a:t>
            </a:r>
          </a:p>
        </p:txBody>
      </p:sp>
    </p:spTree>
    <p:extLst>
      <p:ext uri="{BB962C8B-B14F-4D97-AF65-F5344CB8AC3E}">
        <p14:creationId xmlns:p14="http://schemas.microsoft.com/office/powerpoint/2010/main" val="1756115580"/>
      </p:ext>
    </p:extLst>
  </p:cSld>
</p:sld>
</file>

<file path=ppt/slides/slide4.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3A5DA48B-8311-418C-A598-D939D6A4031A}"/>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Correcciones del primer parcial</a:t>
            </a:r>
          </a:p>
        </p:txBody>
      </p:sp>
      <p:sp>
        <p:nvSpPr>
          <p:cNvPr id="2" name="text-1">
            <a:extLst xmlns:a="http://schemas.openxmlformats.org/drawingml/2006/main">
              <a:ext uri="{FF2B5EF4-FFF2-40B4-BE49-F238E27FC236}">
                <a16:creationId xmlns:a16="http://schemas.microsoft.com/office/drawing/2014/main" id="{74938A31-147C-4768-A99C-A6CAF3497D77}"/>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70948393-E05E-4871-AF69-1046EF4ACB83}"/>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04</a:t>
            </a:r>
          </a:p>
        </p:txBody>
      </p:sp>
      <p:sp>
        <p:nvSpPr>
          <p:cNvPr id="4" name="text-3">
            <a:extLst xmlns:a="http://schemas.openxmlformats.org/drawingml/2006/main">
              <a:ext uri="{FF2B5EF4-FFF2-40B4-BE49-F238E27FC236}">
                <a16:creationId xmlns:a16="http://schemas.microsoft.com/office/drawing/2014/main" id="{7512D9FD-BF41-446B-8888-180B58187637}"/>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Viabilidad</a:t>
            </a:r>
          </a:p>
        </p:txBody>
      </p:sp>
      <p:sp>
        <p:nvSpPr>
          <p:cNvPr id="5" name="text-4">
            <a:extLst xmlns:a="http://schemas.openxmlformats.org/drawingml/2006/main">
              <a:ext uri="{FF2B5EF4-FFF2-40B4-BE49-F238E27FC236}">
                <a16:creationId xmlns:a16="http://schemas.microsoft.com/office/drawing/2014/main" id="{A4486622-210E-4EFA-B210-14A538227B9D}"/>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Planeación de ubicaciones, simulación, capacidad, ABC y escenarios.</a:t>
            </a:r>
          </a:p>
        </p:txBody>
      </p:sp>
      <p:sp>
        <p:nvSpPr>
          <p:cNvPr id="6" name="text-5">
            <a:extLst xmlns:a="http://schemas.openxmlformats.org/drawingml/2006/main">
              <a:ext uri="{FF2B5EF4-FFF2-40B4-BE49-F238E27FC236}">
                <a16:creationId xmlns:a16="http://schemas.microsoft.com/office/drawing/2014/main" id="{C7B474F3-6CF8-479A-B92B-EBFEA3A597A3}"/>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Operación</a:t>
            </a:r>
          </a:p>
        </p:txBody>
      </p:sp>
      <p:sp>
        <p:nvSpPr>
          <p:cNvPr id="7" name="text-6">
            <a:extLst xmlns:a="http://schemas.openxmlformats.org/drawingml/2006/main">
              <a:ext uri="{FF2B5EF4-FFF2-40B4-BE49-F238E27FC236}">
                <a16:creationId xmlns:a16="http://schemas.microsoft.com/office/drawing/2014/main" id="{1F2CDEEA-3E83-4F31-9D85-520B92BC1307}"/>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Repartidor, rutas, cierre parcial, devoluciones e incidencias.</a:t>
            </a:r>
          </a:p>
        </p:txBody>
      </p:sp>
      <p:sp>
        <p:nvSpPr>
          <p:cNvPr id="8" name="text-7">
            <a:extLst xmlns:a="http://schemas.openxmlformats.org/drawingml/2006/main">
              <a:ext uri="{FF2B5EF4-FFF2-40B4-BE49-F238E27FC236}">
                <a16:creationId xmlns:a16="http://schemas.microsoft.com/office/drawing/2014/main" id="{8EB7CCCD-34EC-49EA-927B-5D3F4DDA200D}"/>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Integración</a:t>
            </a:r>
          </a:p>
        </p:txBody>
      </p:sp>
      <p:sp>
        <p:nvSpPr>
          <p:cNvPr id="9" name="text-8">
            <a:extLst xmlns:a="http://schemas.openxmlformats.org/drawingml/2006/main">
              <a:ext uri="{FF2B5EF4-FFF2-40B4-BE49-F238E27FC236}">
                <a16:creationId xmlns:a16="http://schemas.microsoft.com/office/drawing/2014/main" id="{4A8FE77A-505D-48A1-B004-5BB78A43F1AD}"/>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Diez servicios y pantallas web que los consumen por HTTP.</a:t>
            </a:r>
          </a:p>
        </p:txBody>
      </p:sp>
      <p:sp>
        <p:nvSpPr>
          <p:cNvPr id="10" name="text-9">
            <a:extLst xmlns:a="http://schemas.openxmlformats.org/drawingml/2006/main">
              <a:ext uri="{FF2B5EF4-FFF2-40B4-BE49-F238E27FC236}">
                <a16:creationId xmlns:a16="http://schemas.microsoft.com/office/drawing/2014/main" id="{449D16EA-A5DA-4F8B-A2CB-0049B85DA781}"/>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Documentación</a:t>
            </a:r>
          </a:p>
        </p:txBody>
      </p:sp>
      <p:sp>
        <p:nvSpPr>
          <p:cNvPr id="11" name="text-10">
            <a:extLst xmlns:a="http://schemas.openxmlformats.org/drawingml/2006/main">
              <a:ext uri="{FF2B5EF4-FFF2-40B4-BE49-F238E27FC236}">
                <a16:creationId xmlns:a16="http://schemas.microsoft.com/office/drawing/2014/main" id="{A94C5527-3A84-48E5-B230-EE4A02BD5E3D}"/>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Reporte integral, diagramas actualizados y 93 casos de evidencia.</a:t>
            </a:r>
          </a:p>
        </p:txBody>
      </p:sp>
      <p:pic>
        <p:nvPicPr>
          <p:cNvPr id="13" name="">
            <a:extLst xmlns:a="http://schemas.openxmlformats.org/drawingml/2006/main">
              <a:ext uri="{FF2B5EF4-FFF2-40B4-BE49-F238E27FC236}">
                <a16:creationId xmlns:a16="http://schemas.microsoft.com/office/drawing/2014/main" id="{52CBF643-FC79-4D66-AA29-B4775648E93D}"/>
              </a:ext>
            </a:extLst>
          </p:cNvPr>
          <p:cNvPicPr>
            <a:picLocks xmlns:a="http://schemas.openxmlformats.org/drawingml/2006/main" noChangeAspect="1"/>
          </p:cNvPicPr>
          <p:nvPr/>
        </p:nvPicPr>
        <p:blipFill>
          <a:blip xmlns:r="http://schemas.openxmlformats.org/officeDocument/2006/relationships" xmlns:a="http://schemas.openxmlformats.org/drawingml/2006/main" r:embed="R4ca0c55cb04345a5"/>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1356653835"/>
      </p:ext>
    </p:extLst>
  </p:cSld>
</p:sld>
</file>

<file path=ppt/slides/slide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230DF600-8A7F-40CC-B0FF-8F95B3F88AE0}"/>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Evolución del sistema web</a:t>
            </a:r>
          </a:p>
        </p:txBody>
      </p:sp>
      <p:sp>
        <p:nvSpPr>
          <p:cNvPr id="2" name="text-1">
            <a:extLst xmlns:a="http://schemas.openxmlformats.org/drawingml/2006/main">
              <a:ext uri="{FF2B5EF4-FFF2-40B4-BE49-F238E27FC236}">
                <a16:creationId xmlns:a16="http://schemas.microsoft.com/office/drawing/2014/main" id="{A57353CA-F8E3-4516-8613-88E42AAD8FC0}"/>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447D9B3A-EABC-4705-9609-915925A3E444}"/>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05</a:t>
            </a:r>
          </a:p>
        </p:txBody>
      </p:sp>
      <p:sp>
        <p:nvSpPr>
          <p:cNvPr id="4" name="text-3">
            <a:extLst xmlns:a="http://schemas.openxmlformats.org/drawingml/2006/main">
              <a:ext uri="{FF2B5EF4-FFF2-40B4-BE49-F238E27FC236}">
                <a16:creationId xmlns:a16="http://schemas.microsoft.com/office/drawing/2014/main" id="{0DB6AC0F-ED33-4DE4-A262-98BD26255027}"/>
              </a:ext>
            </a:extLst>
          </p:cNvPr>
          <p:cNvSpPr>
            <a:spLocks xmlns:a="http://schemas.openxmlformats.org/drawingml/2006/main" noGrp="1"/>
          </p:cNvSpPr>
          <p:nvPr/>
        </p:nvSpPr>
        <p:spPr>
          <a:xfrm xmlns:a="http://schemas.openxmlformats.org/drawingml/2006/main">
            <a:off x="61912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01</a:t>
            </a:r>
          </a:p>
        </p:txBody>
      </p:sp>
      <p:sp>
        <p:nvSpPr>
          <p:cNvPr id="5" name="text-4">
            <a:extLst xmlns:a="http://schemas.openxmlformats.org/drawingml/2006/main">
              <a:ext uri="{FF2B5EF4-FFF2-40B4-BE49-F238E27FC236}">
                <a16:creationId xmlns:a16="http://schemas.microsoft.com/office/drawing/2014/main" id="{56857B14-791E-47AF-88F4-660EA867678A}"/>
              </a:ext>
            </a:extLst>
          </p:cNvPr>
          <p:cNvSpPr>
            <a:spLocks xmlns:a="http://schemas.openxmlformats.org/drawingml/2006/main" noGrp="1"/>
          </p:cNvSpPr>
          <p:nvPr/>
        </p:nvSpPr>
        <p:spPr>
          <a:xfrm xmlns:a="http://schemas.openxmlformats.org/drawingml/2006/main">
            <a:off x="61912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Operación</a:t>
            </a:r>
          </a:p>
        </p:txBody>
      </p:sp>
      <p:sp>
        <p:nvSpPr>
          <p:cNvPr id="6" name="text-5">
            <a:extLst xmlns:a="http://schemas.openxmlformats.org/drawingml/2006/main">
              <a:ext uri="{FF2B5EF4-FFF2-40B4-BE49-F238E27FC236}">
                <a16:creationId xmlns:a16="http://schemas.microsoft.com/office/drawing/2014/main" id="{74B407BC-2386-45C9-9E0B-5C4FFCE8F9C3}"/>
              </a:ext>
            </a:extLst>
          </p:cNvPr>
          <p:cNvSpPr>
            <a:spLocks xmlns:a="http://schemas.openxmlformats.org/drawingml/2006/main" noGrp="1"/>
          </p:cNvSpPr>
          <p:nvPr/>
        </p:nvSpPr>
        <p:spPr>
          <a:xfrm xmlns:a="http://schemas.openxmlformats.org/drawingml/2006/main">
            <a:off x="61912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CRUD, permisos, pedidos e inventario.</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Filtros, paginación y validaciones.</a:t>
            </a:r>
          </a:p>
        </p:txBody>
      </p:sp>
      <p:sp>
        <p:nvSpPr>
          <p:cNvPr id="7" name="text-6">
            <a:extLst xmlns:a="http://schemas.openxmlformats.org/drawingml/2006/main">
              <a:ext uri="{FF2B5EF4-FFF2-40B4-BE49-F238E27FC236}">
                <a16:creationId xmlns:a16="http://schemas.microsoft.com/office/drawing/2014/main" id="{3D01E8D5-A7A5-4D3B-BDEC-D21BAF53AF93}"/>
              </a:ext>
            </a:extLst>
          </p:cNvPr>
          <p:cNvSpPr>
            <a:spLocks xmlns:a="http://schemas.openxmlformats.org/drawingml/2006/main" noGrp="1"/>
          </p:cNvSpPr>
          <p:nvPr/>
        </p:nvSpPr>
        <p:spPr>
          <a:xfrm xmlns:a="http://schemas.openxmlformats.org/drawingml/2006/main">
            <a:off x="433387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02</a:t>
            </a:r>
          </a:p>
        </p:txBody>
      </p:sp>
      <p:sp>
        <p:nvSpPr>
          <p:cNvPr id="8" name="text-7">
            <a:extLst xmlns:a="http://schemas.openxmlformats.org/drawingml/2006/main">
              <a:ext uri="{FF2B5EF4-FFF2-40B4-BE49-F238E27FC236}">
                <a16:creationId xmlns:a16="http://schemas.microsoft.com/office/drawing/2014/main" id="{F9BB3D27-DBCA-4BF3-96D9-7ADC50730E07}"/>
              </a:ext>
            </a:extLst>
          </p:cNvPr>
          <p:cNvSpPr>
            <a:spLocks xmlns:a="http://schemas.openxmlformats.org/drawingml/2006/main" noGrp="1"/>
          </p:cNvSpPr>
          <p:nvPr/>
        </p:nvSpPr>
        <p:spPr>
          <a:xfrm xmlns:a="http://schemas.openxmlformats.org/drawingml/2006/main">
            <a:off x="433387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Administración</a:t>
            </a:r>
          </a:p>
        </p:txBody>
      </p:sp>
      <p:sp>
        <p:nvSpPr>
          <p:cNvPr id="9" name="text-8">
            <a:extLst xmlns:a="http://schemas.openxmlformats.org/drawingml/2006/main">
              <a:ext uri="{FF2B5EF4-FFF2-40B4-BE49-F238E27FC236}">
                <a16:creationId xmlns:a16="http://schemas.microsoft.com/office/drawing/2014/main" id="{0E0E4182-46E7-4A57-A506-EBE3FD2CDA40}"/>
              </a:ext>
            </a:extLst>
          </p:cNvPr>
          <p:cNvSpPr>
            <a:spLocks xmlns:a="http://schemas.openxmlformats.org/drawingml/2006/main" noGrp="1"/>
          </p:cNvSpPr>
          <p:nvPr/>
        </p:nvSpPr>
        <p:spPr>
          <a:xfrm xmlns:a="http://schemas.openxmlformats.org/drawingml/2006/main">
            <a:off x="433387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Reportes CSV y gráficas Highcharts.</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Archivos, avisos e historial.</a:t>
            </a:r>
          </a:p>
        </p:txBody>
      </p:sp>
      <p:sp>
        <p:nvSpPr>
          <p:cNvPr id="10" name="text-9">
            <a:extLst xmlns:a="http://schemas.openxmlformats.org/drawingml/2006/main">
              <a:ext uri="{FF2B5EF4-FFF2-40B4-BE49-F238E27FC236}">
                <a16:creationId xmlns:a16="http://schemas.microsoft.com/office/drawing/2014/main" id="{B78DC6A9-A0E3-4B66-8A09-1F19E5988B86}"/>
              </a:ext>
            </a:extLst>
          </p:cNvPr>
          <p:cNvSpPr>
            <a:spLocks xmlns:a="http://schemas.openxmlformats.org/drawingml/2006/main" noGrp="1"/>
          </p:cNvSpPr>
          <p:nvPr/>
        </p:nvSpPr>
        <p:spPr>
          <a:xfrm xmlns:a="http://schemas.openxmlformats.org/drawingml/2006/main">
            <a:off x="804862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03</a:t>
            </a:r>
          </a:p>
        </p:txBody>
      </p:sp>
      <p:sp>
        <p:nvSpPr>
          <p:cNvPr id="11" name="text-10">
            <a:extLst xmlns:a="http://schemas.openxmlformats.org/drawingml/2006/main">
              <a:ext uri="{FF2B5EF4-FFF2-40B4-BE49-F238E27FC236}">
                <a16:creationId xmlns:a16="http://schemas.microsoft.com/office/drawing/2014/main" id="{89BEC7D0-2F24-4731-BFEA-70C9904EEBB9}"/>
              </a:ext>
            </a:extLst>
          </p:cNvPr>
          <p:cNvSpPr>
            <a:spLocks xmlns:a="http://schemas.openxmlformats.org/drawingml/2006/main" noGrp="1"/>
          </p:cNvSpPr>
          <p:nvPr/>
        </p:nvSpPr>
        <p:spPr>
          <a:xfrm xmlns:a="http://schemas.openxmlformats.org/drawingml/2006/main">
            <a:off x="804862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Planeación</a:t>
            </a:r>
          </a:p>
        </p:txBody>
      </p:sp>
      <p:sp>
        <p:nvSpPr>
          <p:cNvPr id="12" name="text-11">
            <a:extLst xmlns:a="http://schemas.openxmlformats.org/drawingml/2006/main">
              <a:ext uri="{FF2B5EF4-FFF2-40B4-BE49-F238E27FC236}">
                <a16:creationId xmlns:a16="http://schemas.microsoft.com/office/drawing/2014/main" id="{CAD54ED2-D867-4E17-8586-2B029F6A1CB0}"/>
              </a:ext>
            </a:extLst>
          </p:cNvPr>
          <p:cNvSpPr>
            <a:spLocks xmlns:a="http://schemas.openxmlformats.org/drawingml/2006/main" noGrp="1"/>
          </p:cNvSpPr>
          <p:nvPr/>
        </p:nvSpPr>
        <p:spPr>
          <a:xfrm xmlns:a="http://schemas.openxmlformats.org/drawingml/2006/main">
            <a:off x="804862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Ubicaciones, capacidad y costos.</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Simulación, surtido ABC y rutas.</a:t>
            </a:r>
          </a:p>
        </p:txBody>
      </p:sp>
    </p:spTree>
    <p:extLst>
      <p:ext uri="{BB962C8B-B14F-4D97-AF65-F5344CB8AC3E}">
        <p14:creationId xmlns:p14="http://schemas.microsoft.com/office/powerpoint/2010/main" val="363503963"/>
      </p:ext>
    </p:extLst>
  </p:cSld>
</p:sld>
</file>

<file path=ppt/slides/slide6.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C01C1C2-15C7-4A5B-B0F8-C4D6E7149CF1}"/>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Perfiles, permisos y ámbito de datos</a:t>
            </a:r>
          </a:p>
        </p:txBody>
      </p:sp>
      <p:sp>
        <p:nvSpPr>
          <p:cNvPr id="2" name="text-1">
            <a:extLst xmlns:a="http://schemas.openxmlformats.org/drawingml/2006/main">
              <a:ext uri="{FF2B5EF4-FFF2-40B4-BE49-F238E27FC236}">
                <a16:creationId xmlns:a16="http://schemas.microsoft.com/office/drawing/2014/main" id="{4C2C1E45-9F34-4DD2-AD64-93606B51F2A5}"/>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18B3E1DC-5323-431A-A49B-2D91C101F348}"/>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06</a:t>
            </a:r>
          </a:p>
        </p:txBody>
      </p:sp>
      <p:sp>
        <p:nvSpPr>
          <p:cNvPr id="4" name="text-3">
            <a:extLst xmlns:a="http://schemas.openxmlformats.org/drawingml/2006/main">
              <a:ext uri="{FF2B5EF4-FFF2-40B4-BE49-F238E27FC236}">
                <a16:creationId xmlns:a16="http://schemas.microsoft.com/office/drawing/2014/main" id="{978D3791-C55D-4752-9DBD-19BE7DD26D35}"/>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Cliente / visitante</a:t>
            </a:r>
          </a:p>
        </p:txBody>
      </p:sp>
      <p:sp>
        <p:nvSpPr>
          <p:cNvPr id="5" name="text-4">
            <a:extLst xmlns:a="http://schemas.openxmlformats.org/drawingml/2006/main">
              <a:ext uri="{FF2B5EF4-FFF2-40B4-BE49-F238E27FC236}">
                <a16:creationId xmlns:a16="http://schemas.microsoft.com/office/drawing/2014/main" id="{F429303E-6D74-46B5-963B-BFB6945B8164}"/>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Catálogo, cobertura y pedidos propios.</a:t>
            </a:r>
          </a:p>
        </p:txBody>
      </p:sp>
      <p:sp>
        <p:nvSpPr>
          <p:cNvPr id="6" name="text-5">
            <a:extLst xmlns:a="http://schemas.openxmlformats.org/drawingml/2006/main">
              <a:ext uri="{FF2B5EF4-FFF2-40B4-BE49-F238E27FC236}">
                <a16:creationId xmlns:a16="http://schemas.microsoft.com/office/drawing/2014/main" id="{82006D52-8787-4E3D-9087-2381BCB01ED3}"/>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Operador / repartidor</a:t>
            </a:r>
          </a:p>
        </p:txBody>
      </p:sp>
      <p:sp>
        <p:nvSpPr>
          <p:cNvPr id="7" name="text-6">
            <a:extLst xmlns:a="http://schemas.openxmlformats.org/drawingml/2006/main">
              <a:ext uri="{FF2B5EF4-FFF2-40B4-BE49-F238E27FC236}">
                <a16:creationId xmlns:a16="http://schemas.microsoft.com/office/drawing/2014/main" id="{768D3E0B-B789-44E5-9486-BEBBBA86036D}"/>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Preparación por microhub y entregas asignadas.</a:t>
            </a:r>
          </a:p>
        </p:txBody>
      </p:sp>
      <p:sp>
        <p:nvSpPr>
          <p:cNvPr id="8" name="text-7">
            <a:extLst xmlns:a="http://schemas.openxmlformats.org/drawingml/2006/main">
              <a:ext uri="{FF2B5EF4-FFF2-40B4-BE49-F238E27FC236}">
                <a16:creationId xmlns:a16="http://schemas.microsoft.com/office/drawing/2014/main" id="{C81ACA7A-CFC1-4305-888E-CFED2F2F9867}"/>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Planeador / auditor</a:t>
            </a:r>
          </a:p>
        </p:txBody>
      </p:sp>
      <p:sp>
        <p:nvSpPr>
          <p:cNvPr id="9" name="text-8">
            <a:extLst xmlns:a="http://schemas.openxmlformats.org/drawingml/2006/main">
              <a:ext uri="{FF2B5EF4-FFF2-40B4-BE49-F238E27FC236}">
                <a16:creationId xmlns:a16="http://schemas.microsoft.com/office/drawing/2014/main" id="{CF2BC2DD-CB19-479D-A3C1-9BCCA803C25A}"/>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Simulación y decisiones / consulta de solo lectura.</a:t>
            </a:r>
          </a:p>
        </p:txBody>
      </p:sp>
      <p:sp>
        <p:nvSpPr>
          <p:cNvPr id="10" name="text-9">
            <a:extLst xmlns:a="http://schemas.openxmlformats.org/drawingml/2006/main">
              <a:ext uri="{FF2B5EF4-FFF2-40B4-BE49-F238E27FC236}">
                <a16:creationId xmlns:a16="http://schemas.microsoft.com/office/drawing/2014/main" id="{32EF1229-D918-47BB-8A55-324683A8CB61}"/>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Analista / supervisor</a:t>
            </a:r>
          </a:p>
        </p:txBody>
      </p:sp>
      <p:sp>
        <p:nvSpPr>
          <p:cNvPr id="11" name="text-10">
            <a:extLst xmlns:a="http://schemas.openxmlformats.org/drawingml/2006/main">
              <a:ext uri="{FF2B5EF4-FFF2-40B4-BE49-F238E27FC236}">
                <a16:creationId xmlns:a16="http://schemas.microsoft.com/office/drawing/2014/main" id="{7A0DFD17-2B3E-4D14-93A4-3CDEFFB9848E}"/>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Reportes generales / reportes de su microhub.</a:t>
            </a:r>
          </a:p>
        </p:txBody>
      </p:sp>
      <p:sp>
        <p:nvSpPr>
          <p:cNvPr id="12" name="text-11">
            <a:extLst xmlns:a="http://schemas.openxmlformats.org/drawingml/2006/main">
              <a:ext uri="{FF2B5EF4-FFF2-40B4-BE49-F238E27FC236}">
                <a16:creationId xmlns:a16="http://schemas.microsoft.com/office/drawing/2014/main" id="{EB690A8F-28B2-4C7A-BF43-F3A42AF2B172}"/>
              </a:ext>
            </a:extLst>
          </p:cNvPr>
          <p:cNvSpPr>
            <a:spLocks xmlns:a="http://schemas.openxmlformats.org/drawingml/2006/main" noGrp="1"/>
          </p:cNvSpPr>
          <p:nvPr/>
        </p:nvSpPr>
        <p:spPr>
          <a:xfrm xmlns:a="http://schemas.openxmlformats.org/drawingml/2006/main">
            <a:off x="619125" y="48577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Administrador</a:t>
            </a:r>
          </a:p>
        </p:txBody>
      </p:sp>
      <p:sp>
        <p:nvSpPr>
          <p:cNvPr id="13" name="text-12">
            <a:extLst xmlns:a="http://schemas.openxmlformats.org/drawingml/2006/main">
              <a:ext uri="{FF2B5EF4-FFF2-40B4-BE49-F238E27FC236}">
                <a16:creationId xmlns:a16="http://schemas.microsoft.com/office/drawing/2014/main" id="{4B5F6900-9553-4A63-AC98-73C0900F1068}"/>
              </a:ext>
            </a:extLst>
          </p:cNvPr>
          <p:cNvSpPr>
            <a:spLocks xmlns:a="http://schemas.openxmlformats.org/drawingml/2006/main" noGrp="1"/>
          </p:cNvSpPr>
          <p:nvPr/>
        </p:nvSpPr>
        <p:spPr>
          <a:xfrm xmlns:a="http://schemas.openxmlformats.org/drawingml/2006/main">
            <a:off x="3857625" y="48577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Usuarios, permisos, parámetros y estado de los servicios.</a:t>
            </a:r>
          </a:p>
        </p:txBody>
      </p:sp>
    </p:spTree>
    <p:extLst>
      <p:ext uri="{BB962C8B-B14F-4D97-AF65-F5344CB8AC3E}">
        <p14:creationId xmlns:p14="http://schemas.microsoft.com/office/powerpoint/2010/main" val="148619675"/>
      </p:ext>
    </p:extLst>
  </p:cSld>
</p:sld>
</file>

<file path=ppt/slides/slide7.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cxnSp>
        <p:nvCxnSpPr>
          <p:cNvPr id="18" name="Connector: Elbow 17">
            <a:extLst xmlns:a="http://schemas.openxmlformats.org/drawingml/2006/main">
              <a:ext uri="{FF2B5EF4-FFF2-40B4-BE49-F238E27FC236}">
                <a16:creationId xmlns:a16="http://schemas.microsoft.com/office/drawing/2014/main" id="{12E59EFC-9AFE-4D3A-B0F9-9375459CDF1E}"/>
              </a:ext>
            </a:extLst>
          </p:cNvPr>
          <p:cNvCxnSpPr>
            <a:stCxn xmlns:a="http://schemas.openxmlformats.org/drawingml/2006/main" id="7" idx="2"/>
            <a:endCxn xmlns:a="http://schemas.openxmlformats.org/drawingml/2006/main" id="8" idx="0"/>
          </p:cNvCxnSpPr>
          <p:nvPr/>
        </p:nvCxnSpPr>
        <p:spPr>
          <a:xfrm xmlns:a="http://schemas.openxmlformats.org/drawingml/2006/main" flipH="1">
            <a:off x="2238375" y="3600450"/>
            <a:ext cx="6786563" cy="1114425"/>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7" name="Connector: Elbow 16">
            <a:extLst xmlns:a="http://schemas.openxmlformats.org/drawingml/2006/main">
              <a:ext uri="{FF2B5EF4-FFF2-40B4-BE49-F238E27FC236}">
                <a16:creationId xmlns:a16="http://schemas.microsoft.com/office/drawing/2014/main" id="{72623823-4C2E-4F73-948D-F8F807187BDA}"/>
              </a:ext>
            </a:extLst>
          </p:cNvPr>
          <p:cNvCxnSpPr>
            <a:stCxn xmlns:a="http://schemas.openxmlformats.org/drawingml/2006/main" id="7" idx="2"/>
            <a:endCxn xmlns:a="http://schemas.openxmlformats.org/drawingml/2006/main" id="10" idx="0"/>
          </p:cNvCxnSpPr>
          <p:nvPr/>
        </p:nvCxnSpPr>
        <p:spPr>
          <a:xfrm xmlns:a="http://schemas.openxmlformats.org/drawingml/2006/main">
            <a:off x="9024938" y="3600450"/>
            <a:ext cx="928688" cy="1114425"/>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6" name="Connector: Elbow 15">
            <a:extLst xmlns:a="http://schemas.openxmlformats.org/drawingml/2006/main">
              <a:ext uri="{FF2B5EF4-FFF2-40B4-BE49-F238E27FC236}">
                <a16:creationId xmlns:a16="http://schemas.microsoft.com/office/drawing/2014/main" id="{7047D475-98DE-4102-B90C-9DED9C220034}"/>
              </a:ext>
            </a:extLst>
          </p:cNvPr>
          <p:cNvCxnSpPr>
            <a:stCxn xmlns:a="http://schemas.openxmlformats.org/drawingml/2006/main" id="7" idx="2"/>
            <a:endCxn xmlns:a="http://schemas.openxmlformats.org/drawingml/2006/main" id="9" idx="0"/>
          </p:cNvCxnSpPr>
          <p:nvPr/>
        </p:nvCxnSpPr>
        <p:spPr>
          <a:xfrm xmlns:a="http://schemas.openxmlformats.org/drawingml/2006/main" flipH="1">
            <a:off x="6096000" y="3600450"/>
            <a:ext cx="2928938" cy="1114425"/>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5" name="Connector: Elbow 14">
            <a:extLst xmlns:a="http://schemas.openxmlformats.org/drawingml/2006/main">
              <a:ext uri="{FF2B5EF4-FFF2-40B4-BE49-F238E27FC236}">
                <a16:creationId xmlns:a16="http://schemas.microsoft.com/office/drawing/2014/main" id="{429D9D8E-23BE-4FCD-A5AF-FA79B81EB81E}"/>
              </a:ext>
            </a:extLst>
          </p:cNvPr>
          <p:cNvCxnSpPr>
            <a:stCxn xmlns:a="http://schemas.openxmlformats.org/drawingml/2006/main" id="6" idx="2"/>
            <a:endCxn xmlns:a="http://schemas.openxmlformats.org/drawingml/2006/main" id="8" idx="0"/>
          </p:cNvCxnSpPr>
          <p:nvPr/>
        </p:nvCxnSpPr>
        <p:spPr>
          <a:xfrm xmlns:a="http://schemas.openxmlformats.org/drawingml/2006/main" flipH="1">
            <a:off x="2238375" y="3600450"/>
            <a:ext cx="333375" cy="1114425"/>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7ED27594-4898-4F0A-B0C9-EF255488E4FA}"/>
              </a:ext>
            </a:extLst>
          </p:cNvPr>
          <p:cNvCxnSpPr>
            <a:stCxn xmlns:a="http://schemas.openxmlformats.org/drawingml/2006/main" id="6" idx="3"/>
            <a:endCxn xmlns:a="http://schemas.openxmlformats.org/drawingml/2006/main" id="7" idx="1"/>
          </p:cNvCxnSpPr>
          <p:nvPr/>
        </p:nvCxnSpPr>
        <p:spPr>
          <a:xfrm xmlns:a="http://schemas.openxmlformats.org/drawingml/2006/main">
            <a:off x="4333875" y="3171825"/>
            <a:ext cx="2571750"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12" name="Connector: Elbow 11">
            <a:extLst xmlns:a="http://schemas.openxmlformats.org/drawingml/2006/main">
              <a:ext uri="{FF2B5EF4-FFF2-40B4-BE49-F238E27FC236}">
                <a16:creationId xmlns:a16="http://schemas.microsoft.com/office/drawing/2014/main" id="{F7DDC35F-8F09-4655-AA21-937D32486C7D}"/>
              </a:ext>
            </a:extLst>
          </p:cNvPr>
          <p:cNvCxnSpPr>
            <a:stCxn xmlns:a="http://schemas.openxmlformats.org/drawingml/2006/main" id="5" idx="2"/>
            <a:endCxn xmlns:a="http://schemas.openxmlformats.org/drawingml/2006/main" id="7" idx="0"/>
          </p:cNvCxnSpPr>
          <p:nvPr/>
        </p:nvCxnSpPr>
        <p:spPr>
          <a:xfrm xmlns:a="http://schemas.openxmlformats.org/drawingml/2006/main" flipH="1">
            <a:off x="9024938" y="2190750"/>
            <a:ext cx="333375" cy="552450"/>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1" name="Connector: Elbow 10">
            <a:extLst xmlns:a="http://schemas.openxmlformats.org/drawingml/2006/main">
              <a:ext uri="{FF2B5EF4-FFF2-40B4-BE49-F238E27FC236}">
                <a16:creationId xmlns:a16="http://schemas.microsoft.com/office/drawing/2014/main" id="{7E5687FB-9921-408D-9593-EBF4DDB89414}"/>
              </a:ext>
            </a:extLst>
          </p:cNvPr>
          <p:cNvCxnSpPr>
            <a:stCxn xmlns:a="http://schemas.openxmlformats.org/drawingml/2006/main" id="4" idx="2"/>
            <a:endCxn xmlns:a="http://schemas.openxmlformats.org/drawingml/2006/main" id="6" idx="0"/>
          </p:cNvCxnSpPr>
          <p:nvPr/>
        </p:nvCxnSpPr>
        <p:spPr>
          <a:xfrm xmlns:a="http://schemas.openxmlformats.org/drawingml/2006/main">
            <a:off x="2000250" y="2190750"/>
            <a:ext cx="571500" cy="552450"/>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sp>
        <p:nvSpPr>
          <p:cNvPr id="20" name="text-0">
            <a:extLst xmlns:a="http://schemas.openxmlformats.org/drawingml/2006/main">
              <a:ext uri="{FF2B5EF4-FFF2-40B4-BE49-F238E27FC236}">
                <a16:creationId xmlns:a16="http://schemas.microsoft.com/office/drawing/2014/main" id="{182943E7-334E-4C0F-A8E5-1ACEE9EB8E1C}"/>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Arquitectura implementada</a:t>
            </a:r>
          </a:p>
        </p:txBody>
      </p:sp>
      <p:sp>
        <p:nvSpPr>
          <p:cNvPr id="2" name="text-1">
            <a:extLst xmlns:a="http://schemas.openxmlformats.org/drawingml/2006/main">
              <a:ext uri="{FF2B5EF4-FFF2-40B4-BE49-F238E27FC236}">
                <a16:creationId xmlns:a16="http://schemas.microsoft.com/office/drawing/2014/main" id="{4E77A48D-7107-46D5-A510-3C00B06CDDFE}"/>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652DF640-256C-4660-9863-9246DEDE62A6}"/>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07</a:t>
            </a:r>
          </a:p>
        </p:txBody>
      </p:sp>
      <p:sp>
        <p:nvSpPr>
          <p:cNvPr id="4" name="Rectangle 3">
            <a:extLst xmlns:a="http://schemas.openxmlformats.org/drawingml/2006/main">
              <a:ext uri="{FF2B5EF4-FFF2-40B4-BE49-F238E27FC236}">
                <a16:creationId xmlns:a16="http://schemas.microsoft.com/office/drawing/2014/main" id="{CFB35CA9-8338-4E3C-98F0-8793816661A4}"/>
              </a:ext>
            </a:extLst>
          </p:cNvPr>
          <p:cNvSpPr>
            <a:spLocks xmlns:a="http://schemas.openxmlformats.org/drawingml/2006/main" noGrp="1"/>
          </p:cNvSpPr>
          <p:nvPr/>
        </p:nvSpPr>
        <p:spPr>
          <a:xfrm xmlns:a="http://schemas.openxmlformats.org/drawingml/2006/main">
            <a:off x="809625" y="1571625"/>
            <a:ext cx="2381250" cy="6191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Navegador</a:t>
            </a:r>
          </a:p>
        </p:txBody>
      </p:sp>
      <p:sp>
        <p:nvSpPr>
          <p:cNvPr id="5" name="Rectangle 4">
            <a:extLst xmlns:a="http://schemas.openxmlformats.org/drawingml/2006/main">
              <a:ext uri="{FF2B5EF4-FFF2-40B4-BE49-F238E27FC236}">
                <a16:creationId xmlns:a16="http://schemas.microsoft.com/office/drawing/2014/main" id="{D4A44C75-890C-4931-A05D-161F233EFE91}"/>
              </a:ext>
            </a:extLst>
          </p:cNvPr>
          <p:cNvSpPr>
            <a:spLocks xmlns:a="http://schemas.openxmlformats.org/drawingml/2006/main" noGrp="1"/>
          </p:cNvSpPr>
          <p:nvPr/>
        </p:nvSpPr>
        <p:spPr>
          <a:xfrm xmlns:a="http://schemas.openxmlformats.org/drawingml/2006/main">
            <a:off x="7572375" y="1571625"/>
            <a:ext cx="3571875" cy="6191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Android / escritorio / Swagger</a:t>
            </a:r>
          </a:p>
        </p:txBody>
      </p:sp>
      <p:sp>
        <p:nvSpPr>
          <p:cNvPr id="6" name="Rectangle 5">
            <a:extLst xmlns:a="http://schemas.openxmlformats.org/drawingml/2006/main">
              <a:ext uri="{FF2B5EF4-FFF2-40B4-BE49-F238E27FC236}">
                <a16:creationId xmlns:a16="http://schemas.microsoft.com/office/drawing/2014/main" id="{BC28C40A-597C-4502-A93C-33F1B392CCC7}"/>
              </a:ext>
            </a:extLst>
          </p:cNvPr>
          <p:cNvSpPr>
            <a:spLocks xmlns:a="http://schemas.openxmlformats.org/drawingml/2006/main" noGrp="1"/>
          </p:cNvSpPr>
          <p:nvPr/>
        </p:nvSpPr>
        <p:spPr>
          <a:xfrm xmlns:a="http://schemas.openxmlformats.org/drawingml/2006/main">
            <a:off x="809625" y="2743200"/>
            <a:ext cx="3524250" cy="8572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Web Flask :5000</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Operación e integración</a:t>
            </a:r>
          </a:p>
        </p:txBody>
      </p:sp>
      <p:sp>
        <p:nvSpPr>
          <p:cNvPr id="7" name="Rectangle 6">
            <a:extLst xmlns:a="http://schemas.openxmlformats.org/drawingml/2006/main">
              <a:ext uri="{FF2B5EF4-FFF2-40B4-BE49-F238E27FC236}">
                <a16:creationId xmlns:a16="http://schemas.microsoft.com/office/drawing/2014/main" id="{7AADA118-AA7B-4B2E-9503-7DBAA0AC98BB}"/>
              </a:ext>
            </a:extLst>
          </p:cNvPr>
          <p:cNvSpPr>
            <a:spLocks xmlns:a="http://schemas.openxmlformats.org/drawingml/2006/main" noGrp="1"/>
          </p:cNvSpPr>
          <p:nvPr/>
        </p:nvSpPr>
        <p:spPr>
          <a:xfrm xmlns:a="http://schemas.openxmlformats.org/drawingml/2006/main">
            <a:off x="6905625" y="2743200"/>
            <a:ext cx="4238625" cy="8572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10 microservicios Flask
:5101 a :5110</a:t>
            </a:r>
          </a:p>
        </p:txBody>
      </p:sp>
      <p:sp>
        <p:nvSpPr>
          <p:cNvPr id="8" name="Rectangle 7">
            <a:extLst xmlns:a="http://schemas.openxmlformats.org/drawingml/2006/main">
              <a:ext uri="{FF2B5EF4-FFF2-40B4-BE49-F238E27FC236}">
                <a16:creationId xmlns:a16="http://schemas.microsoft.com/office/drawing/2014/main" id="{19C4C8BB-D832-444F-86BA-33BE4470F9AC}"/>
              </a:ext>
            </a:extLst>
          </p:cNvPr>
          <p:cNvSpPr>
            <a:spLocks xmlns:a="http://schemas.openxmlformats.org/drawingml/2006/main" noGrp="1"/>
          </p:cNvSpPr>
          <p:nvPr/>
        </p:nvSpPr>
        <p:spPr>
          <a:xfrm xmlns:a="http://schemas.openxmlformats.org/drawingml/2006/main">
            <a:off x="809625" y="4714875"/>
            <a:ext cx="2857500" cy="8191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PostgreSQL</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Datos del negocio</a:t>
            </a:r>
          </a:p>
        </p:txBody>
      </p:sp>
      <p:sp>
        <p:nvSpPr>
          <p:cNvPr id="9" name="Rectangle 8">
            <a:extLst xmlns:a="http://schemas.openxmlformats.org/drawingml/2006/main">
              <a:ext uri="{FF2B5EF4-FFF2-40B4-BE49-F238E27FC236}">
                <a16:creationId xmlns:a16="http://schemas.microsoft.com/office/drawing/2014/main" id="{5F678ACC-56F9-4724-8E03-503148FF9F42}"/>
              </a:ext>
            </a:extLst>
          </p:cNvPr>
          <p:cNvSpPr>
            <a:spLocks xmlns:a="http://schemas.openxmlformats.org/drawingml/2006/main" noGrp="1"/>
          </p:cNvSpPr>
          <p:nvPr/>
        </p:nvSpPr>
        <p:spPr>
          <a:xfrm xmlns:a="http://schemas.openxmlformats.org/drawingml/2006/main">
            <a:off x="4667250" y="4714875"/>
            <a:ext cx="2857500" cy="8191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MongoDB</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Evidencias y eventos</a:t>
            </a:r>
          </a:p>
        </p:txBody>
      </p:sp>
      <p:sp>
        <p:nvSpPr>
          <p:cNvPr id="10" name="Rectangle 9">
            <a:extLst xmlns:a="http://schemas.openxmlformats.org/drawingml/2006/main">
              <a:ext uri="{FF2B5EF4-FFF2-40B4-BE49-F238E27FC236}">
                <a16:creationId xmlns:a16="http://schemas.microsoft.com/office/drawing/2014/main" id="{E0527BEE-B35D-4BFA-BA7B-58BB7F089381}"/>
              </a:ext>
            </a:extLst>
          </p:cNvPr>
          <p:cNvSpPr>
            <a:spLocks xmlns:a="http://schemas.openxmlformats.org/drawingml/2006/main" noGrp="1"/>
          </p:cNvSpPr>
          <p:nvPr/>
        </p:nvSpPr>
        <p:spPr>
          <a:xfrm xmlns:a="http://schemas.openxmlformats.org/drawingml/2006/main">
            <a:off x="8524875" y="4714875"/>
            <a:ext cx="2857500" cy="8191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Redis</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Sesiones y caché</a:t>
            </a:r>
          </a:p>
        </p:txBody>
      </p:sp>
      <p:sp>
        <p:nvSpPr>
          <p:cNvPr id="14" name="text-13">
            <a:extLst xmlns:a="http://schemas.openxmlformats.org/drawingml/2006/main">
              <a:ext uri="{FF2B5EF4-FFF2-40B4-BE49-F238E27FC236}">
                <a16:creationId xmlns:a16="http://schemas.microsoft.com/office/drawing/2014/main" id="{87FFD6E3-55CD-43CA-8286-A9C06A074142}"/>
              </a:ext>
            </a:extLst>
          </p:cNvPr>
          <p:cNvSpPr>
            <a:spLocks xmlns:a="http://schemas.openxmlformats.org/drawingml/2006/main" noGrp="1"/>
          </p:cNvSpPr>
          <p:nvPr/>
        </p:nvSpPr>
        <p:spPr>
          <a:xfrm xmlns:a="http://schemas.openxmlformats.org/drawingml/2006/main">
            <a:off x="4476750" y="28194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22" b="0">
                <a:solidFill>
                  <a:srgbClr val="80649B"/>
                </a:solidFill>
                <a:latin typeface="Playfair Display"/>
                <a:ea typeface="Playfair Display"/>
                <a:cs typeface="Playfair Display"/>
              </a:defRPr>
            </a:defPPr>
          </a:lstStyle>
          <a:p xmlns:a="http://schemas.openxmlformats.org/drawingml/2006/main">
            <a:pPr>
              <a:buNone/>
              <a:defRPr sz="1622" b="0">
                <a:solidFill>
                  <a:srgbClr val="80649B"/>
                </a:solidFill>
                <a:latin typeface="Playfair Display"/>
                <a:ea typeface="Playfair Display"/>
                <a:cs typeface="Playfair Display"/>
              </a:defRPr>
            </a:pPr>
            <a:r>
              <a:rPr sz="1622" b="0">
                <a:solidFill>
                  <a:srgbClr val="80649B"/>
                </a:solidFill>
                <a:latin typeface="Playfair Display"/>
                <a:ea typeface="Playfair Display"/>
                <a:cs typeface="Playfair Display"/>
              </a:rPr>
              <a:t>HTTP + JWT</a:t>
            </a:r>
          </a:p>
        </p:txBody>
      </p:sp>
      <p:sp>
        <p:nvSpPr>
          <p:cNvPr id="19" name="text-18">
            <a:extLst xmlns:a="http://schemas.openxmlformats.org/drawingml/2006/main">
              <a:ext uri="{FF2B5EF4-FFF2-40B4-BE49-F238E27FC236}">
                <a16:creationId xmlns:a16="http://schemas.microsoft.com/office/drawing/2014/main" id="{3EC530FB-E2C0-42E0-B36D-68607329654F}"/>
              </a:ext>
            </a:extLst>
          </p:cNvPr>
          <p:cNvSpPr>
            <a:spLocks xmlns:a="http://schemas.openxmlformats.org/drawingml/2006/main" noGrp="1"/>
          </p:cNvSpPr>
          <p:nvPr/>
        </p:nvSpPr>
        <p:spPr>
          <a:xfrm xmlns:a="http://schemas.openxmlformats.org/drawingml/2006/main">
            <a:off x="619125" y="581025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514E58"/>
                </a:solidFill>
                <a:latin typeface="Comfortaa"/>
                <a:ea typeface="Comfortaa"/>
                <a:cs typeface="Comfortaa"/>
              </a:defRPr>
            </a:defPPr>
          </a:lstStyle>
          <a:p xmlns:a="http://schemas.openxmlformats.org/drawingml/2006/main">
            <a:pPr>
              <a:buNone/>
              <a:defRPr sz="1410" b="0">
                <a:solidFill>
                  <a:srgbClr val="514E58"/>
                </a:solidFill>
                <a:latin typeface="Comfortaa"/>
                <a:ea typeface="Comfortaa"/>
                <a:cs typeface="Comfortaa"/>
              </a:defRPr>
            </a:pPr>
            <a:r>
              <a:rPr sz="1410" b="0">
                <a:solidFill>
                  <a:srgbClr val="514E58"/>
                </a:solidFill>
                <a:latin typeface="Comfortaa"/>
                <a:ea typeface="Comfortaa"/>
                <a:cs typeface="Comfortaa"/>
              </a:rPr>
              <a:t>Almacenes compartidos según responsabilidad. La web también usa Redis y MongoDB.</a:t>
            </a:r>
          </a:p>
        </p:txBody>
      </p:sp>
      <p:pic>
        <p:nvPicPr>
          <p:cNvPr id="21" name="">
            <a:extLst xmlns:a="http://schemas.openxmlformats.org/drawingml/2006/main">
              <a:ext uri="{FF2B5EF4-FFF2-40B4-BE49-F238E27FC236}">
                <a16:creationId xmlns:a16="http://schemas.microsoft.com/office/drawing/2014/main" id="{7A48AC8F-FE2E-4FDF-8160-FDE92E388050}"/>
              </a:ext>
            </a:extLst>
          </p:cNvPr>
          <p:cNvPicPr>
            <a:picLocks xmlns:a="http://schemas.openxmlformats.org/drawingml/2006/main" noChangeAspect="1"/>
          </p:cNvPicPr>
          <p:nvPr/>
        </p:nvPicPr>
        <p:blipFill>
          <a:blip xmlns:r="http://schemas.openxmlformats.org/officeDocument/2006/relationships" xmlns:a="http://schemas.openxmlformats.org/drawingml/2006/main" r:embed="Rcc96348ebb5242f5"/>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1313367461"/>
      </p:ext>
    </p:extLst>
  </p:cSld>
</p:sld>
</file>

<file path=ppt/slides/slide8.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4C774C7-C53B-4877-8D73-71E0B78ED6F9}"/>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Responsabilidades de los diez servicios</a:t>
            </a:r>
          </a:p>
        </p:txBody>
      </p:sp>
      <p:sp>
        <p:nvSpPr>
          <p:cNvPr id="2" name="text-1">
            <a:extLst xmlns:a="http://schemas.openxmlformats.org/drawingml/2006/main">
              <a:ext uri="{FF2B5EF4-FFF2-40B4-BE49-F238E27FC236}">
                <a16:creationId xmlns:a16="http://schemas.microsoft.com/office/drawing/2014/main" id="{BDBD69CB-96DD-43D6-AEF1-8F23D3B6EF48}"/>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5FEA9E9C-5FAE-4CD4-A1F3-B39CD5A12C61}"/>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08</a:t>
            </a:r>
          </a:p>
        </p:txBody>
      </p:sp>
      <p:graphicFrame>
        <p:nvGraphicFramePr>
          <p:cNvPr id="4" name="Table 3">
            <a:extLst xmlns:a="http://schemas.openxmlformats.org/drawingml/2006/main">
              <a:ext uri="{FF2B5EF4-FFF2-40B4-BE49-F238E27FC236}">
                <a16:creationId xmlns:a16="http://schemas.microsoft.com/office/drawing/2014/main" id="{3DA2A5B0-FBA5-42CB-BDB0-A6F8644190AF}"/>
              </a:ext>
            </a:extLst>
          </p:cNvPr>
          <p:cNvGraphicFramePr/>
          <p:nvPr/>
        </p:nvGraphicFramePr>
        <p:xfrm>
          <a:off xmlns:a="http://schemas.openxmlformats.org/drawingml/2006/main" x="619125" y="1543050"/>
          <a:ext xmlns:a="http://schemas.openxmlformats.org/drawingml/2006/main" cx="10953750" cy="4576572"/>
        </p:xfrm>
        <a:graphic xmlns:a="http://schemas.openxmlformats.org/drawingml/2006/main">
          <a:graphicData uri="http://schemas.openxmlformats.org/drawingml/2006/table">
            <a:tbl>
              <a:tblPr/>
              <a:tblGrid>
                <a:gridCol w="2857500"/>
                <a:gridCol w="2095500"/>
                <a:gridCol w="6000750"/>
              </a:tblGrid>
              <a:tr h="416052">
                <a:tc>
                  <a:txBody>
                    <a:bodyPr/>
                    <a:lstStyle/>
                    <a:p>
                      <a:r>
                        <a:rPr sz="1600" b="0">
                          <a:solidFill>
                            <a:srgbClr val="44364F"/>
                          </a:solidFill>
                          <a:latin typeface="Playfair Display"/>
                          <a:ea typeface="Playfair Display"/>
                          <a:cs typeface="Playfair Display"/>
                        </a:rPr>
                        <a:t>Servicio</a:t>
                      </a:r>
                    </a:p>
                  </a:txBody>
                  <a:tcPr marL="91440" marR="91440" marT="45720" marB="45720">
                    <a:lnL w="5715">
                      <a:solidFill>
                        <a:srgbClr val="D5CCD9"/>
                      </a:solidFill>
                      <a:prstDash val="solid"/>
                    </a:lnL>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600" b="0">
                          <a:solidFill>
                            <a:srgbClr val="44364F"/>
                          </a:solidFill>
                          <a:latin typeface="Playfair Display"/>
                          <a:ea typeface="Playfair Display"/>
                          <a:cs typeface="Playfair Display"/>
                        </a:rPr>
                        <a:t>Puerto</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600" b="0">
                          <a:solidFill>
                            <a:srgbClr val="44364F"/>
                          </a:solidFill>
                          <a:latin typeface="Playfair Display"/>
                          <a:ea typeface="Playfair Display"/>
                          <a:cs typeface="Playfair Display"/>
                        </a:rPr>
                        <a:t>Responsabilidad</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r>
              <a:tr h="416052">
                <a:tc>
                  <a:txBody>
                    <a:bodyPr/>
                    <a:lstStyle/>
                    <a:p>
                      <a:r>
                        <a:rPr sz="1600" b="0">
                          <a:solidFill>
                            <a:srgbClr val="514E58"/>
                          </a:solidFill>
                          <a:latin typeface="Comfortaa"/>
                          <a:ea typeface="Comfortaa"/>
                          <a:cs typeface="Comfortaa"/>
                        </a:rPr>
                        <a:t>Auth</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5101</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Sesión común: login, renovación y revocación</a:t>
                      </a:r>
                    </a:p>
                  </a:txBody>
                  <a:tcPr marL="91440" marR="91440" marT="45720" marB="45720">
                    <a:lnR w="5715">
                      <a:solidFill>
                        <a:srgbClr val="D5CCD9"/>
                      </a:solidFill>
                      <a:prstDash val="solid"/>
                    </a:lnR>
                    <a:lnB w="5715">
                      <a:solidFill>
                        <a:srgbClr val="D5CCD9"/>
                      </a:solidFill>
                      <a:prstDash val="solid"/>
                    </a:lnB>
                    <a:solidFill>
                      <a:srgbClr val="FAF8F4"/>
                    </a:solidFill>
                  </a:tcPr>
                </a:tc>
              </a:tr>
              <a:tr h="416052">
                <a:tc>
                  <a:txBody>
                    <a:bodyPr/>
                    <a:lstStyle/>
                    <a:p>
                      <a:r>
                        <a:rPr sz="1600" b="0">
                          <a:solidFill>
                            <a:srgbClr val="514E58"/>
                          </a:solidFill>
                          <a:latin typeface="Comfortaa"/>
                          <a:ea typeface="Comfortaa"/>
                          <a:cs typeface="Comfortaa"/>
                        </a:rPr>
                        <a:t>Usuarios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5102</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Perfil de la cuenta y directorio de usuarios</a:t>
                      </a:r>
                    </a:p>
                  </a:txBody>
                  <a:tcPr marL="91440" marR="91440" marT="45720" marB="45720">
                    <a:lnR w="5715">
                      <a:solidFill>
                        <a:srgbClr val="D5CCD9"/>
                      </a:solidFill>
                      <a:prstDash val="solid"/>
                    </a:lnR>
                    <a:lnB w="5715">
                      <a:solidFill>
                        <a:srgbClr val="D5CCD9"/>
                      </a:solidFill>
                      <a:prstDash val="solid"/>
                    </a:lnB>
                    <a:solidFill>
                      <a:srgbClr val="EAF0E5"/>
                    </a:solidFill>
                  </a:tcPr>
                </a:tc>
              </a:tr>
              <a:tr h="416052">
                <a:tc>
                  <a:txBody>
                    <a:bodyPr/>
                    <a:lstStyle/>
                    <a:p>
                      <a:r>
                        <a:rPr sz="1600" b="0">
                          <a:solidFill>
                            <a:srgbClr val="514E58"/>
                          </a:solidFill>
                          <a:latin typeface="Comfortaa"/>
                          <a:ea typeface="Comfortaa"/>
                          <a:cs typeface="Comfortaa"/>
                        </a:rPr>
                        <a:t>Productos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5103</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Catálogo comercial de solo lectura</a:t>
                      </a:r>
                    </a:p>
                  </a:txBody>
                  <a:tcPr marL="91440" marR="91440" marT="45720" marB="45720">
                    <a:lnR w="5715">
                      <a:solidFill>
                        <a:srgbClr val="D5CCD9"/>
                      </a:solidFill>
                      <a:prstDash val="solid"/>
                    </a:lnR>
                    <a:lnB w="5715">
                      <a:solidFill>
                        <a:srgbClr val="D5CCD9"/>
                      </a:solidFill>
                      <a:prstDash val="solid"/>
                    </a:lnB>
                    <a:solidFill>
                      <a:srgbClr val="FAF8F4"/>
                    </a:solidFill>
                  </a:tcPr>
                </a:tc>
              </a:tr>
              <a:tr h="416052">
                <a:tc>
                  <a:txBody>
                    <a:bodyPr/>
                    <a:lstStyle/>
                    <a:p>
                      <a:r>
                        <a:rPr sz="1600" b="0">
                          <a:solidFill>
                            <a:srgbClr val="514E58"/>
                          </a:solidFill>
                          <a:latin typeface="Comfortaa"/>
                          <a:ea typeface="Comfortaa"/>
                          <a:cs typeface="Comfortaa"/>
                        </a:rPr>
                        <a:t>Pedidos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5104</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Consulta, historial y estados del pedido</a:t>
                      </a:r>
                    </a:p>
                  </a:txBody>
                  <a:tcPr marL="91440" marR="91440" marT="45720" marB="45720">
                    <a:lnR w="5715">
                      <a:solidFill>
                        <a:srgbClr val="D5CCD9"/>
                      </a:solidFill>
                      <a:prstDash val="solid"/>
                    </a:lnR>
                    <a:lnB w="5715">
                      <a:solidFill>
                        <a:srgbClr val="D5CCD9"/>
                      </a:solidFill>
                      <a:prstDash val="solid"/>
                    </a:lnB>
                    <a:solidFill>
                      <a:srgbClr val="EAF0E5"/>
                    </a:solidFill>
                  </a:tcPr>
                </a:tc>
              </a:tr>
              <a:tr h="416052">
                <a:tc>
                  <a:txBody>
                    <a:bodyPr/>
                    <a:lstStyle/>
                    <a:p>
                      <a:r>
                        <a:rPr sz="1600" b="0">
                          <a:solidFill>
                            <a:srgbClr val="514E58"/>
                          </a:solidFill>
                          <a:latin typeface="Comfortaa"/>
                          <a:ea typeface="Comfortaa"/>
                          <a:cs typeface="Comfortaa"/>
                        </a:rPr>
                        <a:t>Entregas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5105</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Paradas del repartidor y cierre de la entrega</a:t>
                      </a:r>
                    </a:p>
                  </a:txBody>
                  <a:tcPr marL="91440" marR="91440" marT="45720" marB="45720">
                    <a:lnR w="5715">
                      <a:solidFill>
                        <a:srgbClr val="D5CCD9"/>
                      </a:solidFill>
                      <a:prstDash val="solid"/>
                    </a:lnR>
                    <a:lnB w="5715">
                      <a:solidFill>
                        <a:srgbClr val="D5CCD9"/>
                      </a:solidFill>
                      <a:prstDash val="solid"/>
                    </a:lnB>
                    <a:solidFill>
                      <a:srgbClr val="FAF8F4"/>
                    </a:solidFill>
                  </a:tcPr>
                </a:tc>
              </a:tr>
              <a:tr h="416052">
                <a:tc>
                  <a:txBody>
                    <a:bodyPr/>
                    <a:lstStyle/>
                    <a:p>
                      <a:r>
                        <a:rPr sz="1600" b="0">
                          <a:solidFill>
                            <a:srgbClr val="514E58"/>
                          </a:solidFill>
                          <a:latin typeface="Comfortaa"/>
                          <a:ea typeface="Comfortaa"/>
                          <a:cs typeface="Comfortaa"/>
                        </a:rPr>
                        <a:t>Planeación</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5106</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Candidatos, simulaciones y escenarios</a:t>
                      </a:r>
                    </a:p>
                  </a:txBody>
                  <a:tcPr marL="91440" marR="91440" marT="45720" marB="45720">
                    <a:lnR w="5715">
                      <a:solidFill>
                        <a:srgbClr val="D5CCD9"/>
                      </a:solidFill>
                      <a:prstDash val="solid"/>
                    </a:lnR>
                    <a:lnB w="5715">
                      <a:solidFill>
                        <a:srgbClr val="D5CCD9"/>
                      </a:solidFill>
                      <a:prstDash val="solid"/>
                    </a:lnB>
                    <a:solidFill>
                      <a:srgbClr val="EAF0E5"/>
                    </a:solidFill>
                  </a:tcPr>
                </a:tc>
              </a:tr>
              <a:tr h="416052">
                <a:tc>
                  <a:txBody>
                    <a:bodyPr/>
                    <a:lstStyle/>
                    <a:p>
                      <a:r>
                        <a:rPr sz="1600" b="0">
                          <a:solidFill>
                            <a:srgbClr val="514E58"/>
                          </a:solidFill>
                          <a:latin typeface="Comfortaa"/>
                          <a:ea typeface="Comfortaa"/>
                          <a:cs typeface="Comfortaa"/>
                        </a:rPr>
                        <a:t>Documentos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5107</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Archivos y evidencias en MongoDB</a:t>
                      </a:r>
                    </a:p>
                  </a:txBody>
                  <a:tcPr marL="91440" marR="91440" marT="45720" marB="45720">
                    <a:lnR w="5715">
                      <a:solidFill>
                        <a:srgbClr val="D5CCD9"/>
                      </a:solidFill>
                      <a:prstDash val="solid"/>
                    </a:lnR>
                    <a:lnB w="5715">
                      <a:solidFill>
                        <a:srgbClr val="D5CCD9"/>
                      </a:solidFill>
                      <a:prstDash val="solid"/>
                    </a:lnB>
                    <a:solidFill>
                      <a:srgbClr val="EAF0E5"/>
                    </a:solidFill>
                  </a:tcPr>
                </a:tc>
              </a:tr>
              <a:tr h="416052">
                <a:tc>
                  <a:txBody>
                    <a:bodyPr/>
                    <a:lstStyle/>
                    <a:p>
                      <a:r>
                        <a:rPr sz="1600" b="0">
                          <a:solidFill>
                            <a:srgbClr val="514E58"/>
                          </a:solidFill>
                          <a:latin typeface="Comfortaa"/>
                          <a:ea typeface="Comfortaa"/>
                          <a:cs typeface="Comfortaa"/>
                        </a:rPr>
                        <a:t>Zonas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5108</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Zonas de cobertura (colonias)</a:t>
                      </a:r>
                    </a:p>
                  </a:txBody>
                  <a:tcPr marL="91440" marR="91440" marT="45720" marB="45720">
                    <a:lnR w="5715">
                      <a:solidFill>
                        <a:srgbClr val="D5CCD9"/>
                      </a:solidFill>
                      <a:prstDash val="solid"/>
                    </a:lnR>
                    <a:lnB w="5715">
                      <a:solidFill>
                        <a:srgbClr val="D5CCD9"/>
                      </a:solidFill>
                      <a:prstDash val="solid"/>
                    </a:lnB>
                    <a:solidFill>
                      <a:srgbClr val="EAF0E5"/>
                    </a:solidFill>
                  </a:tcPr>
                </a:tc>
              </a:tr>
              <a:tr h="416052">
                <a:tc>
                  <a:txBody>
                    <a:bodyPr/>
                    <a:lstStyle/>
                    <a:p>
                      <a:r>
                        <a:rPr sz="1600" b="0">
                          <a:solidFill>
                            <a:srgbClr val="514E58"/>
                          </a:solidFill>
                          <a:latin typeface="Comfortaa"/>
                          <a:ea typeface="Comfortaa"/>
                          <a:cs typeface="Comfortaa"/>
                        </a:rPr>
                        <a:t>Microhubs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5109</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Red de microhubs y su radio de cobertura</a:t>
                      </a:r>
                    </a:p>
                  </a:txBody>
                  <a:tcPr marL="91440" marR="91440" marT="45720" marB="45720">
                    <a:lnR w="5715">
                      <a:solidFill>
                        <a:srgbClr val="D5CCD9"/>
                      </a:solidFill>
                      <a:prstDash val="solid"/>
                    </a:lnR>
                    <a:lnB w="5715">
                      <a:solidFill>
                        <a:srgbClr val="D5CCD9"/>
                      </a:solidFill>
                      <a:prstDash val="solid"/>
                    </a:lnB>
                    <a:solidFill>
                      <a:srgbClr val="FAF8F4"/>
                    </a:solidFill>
                  </a:tcPr>
                </a:tc>
              </a:tr>
              <a:tr h="416052">
                <a:tc>
                  <a:txBody>
                    <a:bodyPr/>
                    <a:lstStyle/>
                    <a:p>
                      <a:r>
                        <a:rPr sz="1600" b="0">
                          <a:solidFill>
                            <a:srgbClr val="514E58"/>
                          </a:solidFill>
                          <a:latin typeface="Comfortaa"/>
                          <a:ea typeface="Comfortaa"/>
                          <a:cs typeface="Comfortaa"/>
                        </a:rPr>
                        <a:t>Seguimiento</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5110</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Puntos GPS y resumen del recorrido</a:t>
                      </a:r>
                    </a:p>
                  </a:txBody>
                  <a:tcPr marL="91440" marR="91440" marT="45720" marB="45720">
                    <a:lnR w="5715">
                      <a:solidFill>
                        <a:srgbClr val="D5CCD9"/>
                      </a:solidFill>
                      <a:prstDash val="solid"/>
                    </a:lnR>
                    <a:lnB w="5715">
                      <a:solidFill>
                        <a:srgbClr val="D5CCD9"/>
                      </a:solidFill>
                      <a:prstDash val="solid"/>
                    </a:lnB>
                    <a:solidFill>
                      <a:srgbClr val="EAF0E5"/>
                    </a:solidFill>
                  </a:tcPr>
                </a:tc>
              </a:tr>
            </a:tbl>
          </a:graphicData>
        </a:graphic>
      </p:graphicFrame>
    </p:spTree>
    <p:extLst>
      <p:ext uri="{BB962C8B-B14F-4D97-AF65-F5344CB8AC3E}">
        <p14:creationId xmlns:p14="http://schemas.microsoft.com/office/powerpoint/2010/main" val="388382371"/>
      </p:ext>
    </p:extLst>
  </p:cSld>
</p:sld>
</file>

<file path=ppt/slides/slide9.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DEEFCF4-DBEF-4B91-95DE-086FF2879EA1}"/>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Diseño interno y componentes comunes</a:t>
            </a:r>
          </a:p>
        </p:txBody>
      </p:sp>
      <p:sp>
        <p:nvSpPr>
          <p:cNvPr id="2" name="text-1">
            <a:extLst xmlns:a="http://schemas.openxmlformats.org/drawingml/2006/main">
              <a:ext uri="{FF2B5EF4-FFF2-40B4-BE49-F238E27FC236}">
                <a16:creationId xmlns:a16="http://schemas.microsoft.com/office/drawing/2014/main" id="{527DF4DE-B745-481E-8ECB-30BAB277B150}"/>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3CDBF9A0-F0C7-40D8-B256-7A2FDD968CCA}"/>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09</a:t>
            </a:r>
          </a:p>
        </p:txBody>
      </p:sp>
      <p:sp>
        <p:nvSpPr>
          <p:cNvPr id="4" name="text-3">
            <a:extLst xmlns:a="http://schemas.openxmlformats.org/drawingml/2006/main">
              <a:ext uri="{FF2B5EF4-FFF2-40B4-BE49-F238E27FC236}">
                <a16:creationId xmlns:a16="http://schemas.microsoft.com/office/drawing/2014/main" id="{7C3F8AA2-6E7C-4153-8EE4-6C25673AC974}"/>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Rutas y negocio</a:t>
            </a:r>
          </a:p>
        </p:txBody>
      </p:sp>
      <p:sp>
        <p:nvSpPr>
          <p:cNvPr id="5" name="text-4">
            <a:extLst xmlns:a="http://schemas.openxmlformats.org/drawingml/2006/main">
              <a:ext uri="{FF2B5EF4-FFF2-40B4-BE49-F238E27FC236}">
                <a16:creationId xmlns:a16="http://schemas.microsoft.com/office/drawing/2014/main" id="{CA942600-B01A-4250-B59F-2AB8027AE295}"/>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Cada servicios/&lt;nombre&gt;/app.py define su responsabilidad.</a:t>
            </a:r>
          </a:p>
        </p:txBody>
      </p:sp>
      <p:sp>
        <p:nvSpPr>
          <p:cNvPr id="6" name="text-5">
            <a:extLst xmlns:a="http://schemas.openxmlformats.org/drawingml/2006/main">
              <a:ext uri="{FF2B5EF4-FFF2-40B4-BE49-F238E27FC236}">
                <a16:creationId xmlns:a16="http://schemas.microsoft.com/office/drawing/2014/main" id="{260F8040-AD3E-4622-A03B-4B74B090D4E8}"/>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Seguridad y formatos</a:t>
            </a:r>
          </a:p>
        </p:txBody>
      </p:sp>
      <p:sp>
        <p:nvSpPr>
          <p:cNvPr id="7" name="text-6">
            <a:extLst xmlns:a="http://schemas.openxmlformats.org/drawingml/2006/main">
              <a:ext uri="{FF2B5EF4-FFF2-40B4-BE49-F238E27FC236}">
                <a16:creationId xmlns:a16="http://schemas.microsoft.com/office/drawing/2014/main" id="{A9F7E710-E771-48DC-B980-418F96A70C46}"/>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comun/base.py, validar.py, formatos.py y esquemas.py.</a:t>
            </a:r>
          </a:p>
        </p:txBody>
      </p:sp>
      <p:sp>
        <p:nvSpPr>
          <p:cNvPr id="8" name="text-7">
            <a:extLst xmlns:a="http://schemas.openxmlformats.org/drawingml/2006/main">
              <a:ext uri="{FF2B5EF4-FFF2-40B4-BE49-F238E27FC236}">
                <a16:creationId xmlns:a16="http://schemas.microsoft.com/office/drawing/2014/main" id="{467F7168-1707-4241-B135-19A5E16F46C0}"/>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Acceso a datos</a:t>
            </a:r>
          </a:p>
        </p:txBody>
      </p:sp>
      <p:sp>
        <p:nvSpPr>
          <p:cNvPr id="9" name="text-8">
            <a:extLst xmlns:a="http://schemas.openxmlformats.org/drawingml/2006/main">
              <a:ext uri="{FF2B5EF4-FFF2-40B4-BE49-F238E27FC236}">
                <a16:creationId xmlns:a16="http://schemas.microsoft.com/office/drawing/2014/main" id="{C75D0E33-1028-49E2-87B6-377BAAC5E49B}"/>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psycopg, PyMongo y cliente Redis según la operación.</a:t>
            </a:r>
          </a:p>
        </p:txBody>
      </p:sp>
      <p:sp>
        <p:nvSpPr>
          <p:cNvPr id="10" name="text-9">
            <a:extLst xmlns:a="http://schemas.openxmlformats.org/drawingml/2006/main">
              <a:ext uri="{FF2B5EF4-FFF2-40B4-BE49-F238E27FC236}">
                <a16:creationId xmlns:a16="http://schemas.microsoft.com/office/drawing/2014/main" id="{EBC94992-AD28-4A77-96C2-53E17E9B0331}"/>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Registro y contratos</a:t>
            </a:r>
          </a:p>
        </p:txBody>
      </p:sp>
      <p:sp>
        <p:nvSpPr>
          <p:cNvPr id="11" name="text-10">
            <a:extLst xmlns:a="http://schemas.openxmlformats.org/drawingml/2006/main">
              <a:ext uri="{FF2B5EF4-FFF2-40B4-BE49-F238E27FC236}">
                <a16:creationId xmlns:a16="http://schemas.microsoft.com/office/drawing/2014/main" id="{F5908BE8-11EF-433E-AC40-4DEFDAD6FDA1}"/>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OpenAPI, X-Traza-Id, logs_tecnicos y metricas_servicio.</a:t>
            </a:r>
          </a:p>
        </p:txBody>
      </p:sp>
    </p:spTree>
    <p:extLst>
      <p:ext uri="{BB962C8B-B14F-4D97-AF65-F5344CB8AC3E}">
        <p14:creationId xmlns:p14="http://schemas.microsoft.com/office/powerpoint/2010/main" val="432844673"/>
      </p:ext>
    </p:extLst>
  </p:cSld>
</p:sld>
</file>

<file path=ppt/slides/slide10.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3E519290-0F2C-49C6-A272-F0232AC56321}"/>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Un Dockerfile por microservicio</a:t>
            </a:r>
          </a:p>
        </p:txBody>
      </p:sp>
      <p:sp>
        <p:nvSpPr>
          <p:cNvPr id="2" name="text-1">
            <a:extLst xmlns:a="http://schemas.openxmlformats.org/drawingml/2006/main">
              <a:ext uri="{FF2B5EF4-FFF2-40B4-BE49-F238E27FC236}">
                <a16:creationId xmlns:a16="http://schemas.microsoft.com/office/drawing/2014/main" id="{6C2FF99A-BE2D-4394-9CA5-5BFCB57A3A22}"/>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595CF202-CE6C-43A4-93D1-2386B0DD96B4}"/>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10</a:t>
            </a:r>
          </a:p>
        </p:txBody>
      </p:sp>
      <p:sp>
        <p:nvSpPr>
          <p:cNvPr id="4" name="text-3">
            <a:extLst xmlns:a="http://schemas.openxmlformats.org/drawingml/2006/main">
              <a:ext uri="{FF2B5EF4-FFF2-40B4-BE49-F238E27FC236}">
                <a16:creationId xmlns:a16="http://schemas.microsoft.com/office/drawing/2014/main" id="{29068464-6AD0-4731-8F11-1323EFFE0215}"/>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Imagen base</a:t>
            </a:r>
          </a:p>
        </p:txBody>
      </p:sp>
      <p:sp>
        <p:nvSpPr>
          <p:cNvPr id="5" name="text-4">
            <a:extLst xmlns:a="http://schemas.openxmlformats.org/drawingml/2006/main">
              <a:ext uri="{FF2B5EF4-FFF2-40B4-BE49-F238E27FC236}">
                <a16:creationId xmlns:a16="http://schemas.microsoft.com/office/drawing/2014/main" id="{E2C3762B-40F3-4DFE-B976-42BC305F01CE}"/>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python:3.12-slim con dependencias de requirements.txt.</a:t>
            </a:r>
          </a:p>
        </p:txBody>
      </p:sp>
      <p:sp>
        <p:nvSpPr>
          <p:cNvPr id="6" name="text-5">
            <a:extLst xmlns:a="http://schemas.openxmlformats.org/drawingml/2006/main">
              <a:ext uri="{FF2B5EF4-FFF2-40B4-BE49-F238E27FC236}">
                <a16:creationId xmlns:a16="http://schemas.microsoft.com/office/drawing/2014/main" id="{52839904-E365-4A08-9931-1F4DDBBF9015}"/>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Contenido</a:t>
            </a:r>
          </a:p>
        </p:txBody>
      </p:sp>
      <p:sp>
        <p:nvSpPr>
          <p:cNvPr id="7" name="text-6">
            <a:extLst xmlns:a="http://schemas.openxmlformats.org/drawingml/2006/main">
              <a:ext uri="{FF2B5EF4-FFF2-40B4-BE49-F238E27FC236}">
                <a16:creationId xmlns:a16="http://schemas.microsoft.com/office/drawing/2014/main" id="{2A029F22-1C26-46A3-94EF-D486860DB1D1}"/>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Código del servicio, módulo común, contratos XSD y ejemplos.</a:t>
            </a:r>
          </a:p>
        </p:txBody>
      </p:sp>
      <p:sp>
        <p:nvSpPr>
          <p:cNvPr id="8" name="text-7">
            <a:extLst xmlns:a="http://schemas.openxmlformats.org/drawingml/2006/main">
              <a:ext uri="{FF2B5EF4-FFF2-40B4-BE49-F238E27FC236}">
                <a16:creationId xmlns:a16="http://schemas.microsoft.com/office/drawing/2014/main" id="{B3DD4548-43C2-4C4C-9F33-3935C75ADAEA}"/>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Ejecución</a:t>
            </a:r>
          </a:p>
        </p:txBody>
      </p:sp>
      <p:sp>
        <p:nvSpPr>
          <p:cNvPr id="9" name="text-8">
            <a:extLst xmlns:a="http://schemas.openxmlformats.org/drawingml/2006/main">
              <a:ext uri="{FF2B5EF4-FFF2-40B4-BE49-F238E27FC236}">
                <a16:creationId xmlns:a16="http://schemas.microsoft.com/office/drawing/2014/main" id="{45A10A59-CA2C-4D1E-A2AE-DC49BBBC200A}"/>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Usuario sin privilegios y Gunicorn con 2 workers.</a:t>
            </a:r>
          </a:p>
        </p:txBody>
      </p:sp>
      <p:sp>
        <p:nvSpPr>
          <p:cNvPr id="10" name="text-9">
            <a:extLst xmlns:a="http://schemas.openxmlformats.org/drawingml/2006/main">
              <a:ext uri="{FF2B5EF4-FFF2-40B4-BE49-F238E27FC236}">
                <a16:creationId xmlns:a16="http://schemas.microsoft.com/office/drawing/2014/main" id="{D0A08182-BB34-4FCA-B682-C39F9722EE01}"/>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Puerto y salud</a:t>
            </a:r>
          </a:p>
        </p:txBody>
      </p:sp>
      <p:sp>
        <p:nvSpPr>
          <p:cNvPr id="11" name="text-10">
            <a:extLst xmlns:a="http://schemas.openxmlformats.org/drawingml/2006/main">
              <a:ext uri="{FF2B5EF4-FFF2-40B4-BE49-F238E27FC236}">
                <a16:creationId xmlns:a16="http://schemas.microsoft.com/office/drawing/2014/main" id="{6E8D05F3-D5FF-4C7A-BB47-1C7DC83278E4}"/>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EXPOSE del puerto propio y HEALTHCHECK sobre /health.</a:t>
            </a:r>
          </a:p>
        </p:txBody>
      </p:sp>
      <p:pic>
        <p:nvPicPr>
          <p:cNvPr id="13" name="">
            <a:extLst xmlns:a="http://schemas.openxmlformats.org/drawingml/2006/main">
              <a:ext uri="{FF2B5EF4-FFF2-40B4-BE49-F238E27FC236}">
                <a16:creationId xmlns:a16="http://schemas.microsoft.com/office/drawing/2014/main" id="{10435A00-B088-4CEA-9961-6F0002F9D7F6}"/>
              </a:ext>
            </a:extLst>
          </p:cNvPr>
          <p:cNvPicPr>
            <a:picLocks xmlns:a="http://schemas.openxmlformats.org/drawingml/2006/main" noChangeAspect="1"/>
          </p:cNvPicPr>
          <p:nvPr/>
        </p:nvPicPr>
        <p:blipFill>
          <a:blip xmlns:r="http://schemas.openxmlformats.org/officeDocument/2006/relationships" xmlns:a="http://schemas.openxmlformats.org/drawingml/2006/main" r:embed="R2d5ff69e66c04e5d"/>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99825174"/>
      </p:ext>
    </p:extLst>
  </p:cSld>
</p:sld>
</file>

<file path=ppt/slides/slide11.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0B784D59-A55D-4F93-A340-30F9A0477C70}"/>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Diez contenedores y puertos propios</a:t>
            </a:r>
          </a:p>
        </p:txBody>
      </p:sp>
      <p:sp>
        <p:nvSpPr>
          <p:cNvPr id="2" name="text-1">
            <a:extLst xmlns:a="http://schemas.openxmlformats.org/drawingml/2006/main">
              <a:ext uri="{FF2B5EF4-FFF2-40B4-BE49-F238E27FC236}">
                <a16:creationId xmlns:a16="http://schemas.microsoft.com/office/drawing/2014/main" id="{0289B2B8-0523-4E71-822E-ACBA37E73B6E}"/>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1704FD5D-6675-43D9-BB18-295BE11C2486}"/>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11</a:t>
            </a:r>
          </a:p>
        </p:txBody>
      </p:sp>
      <p:graphicFrame>
        <p:nvGraphicFramePr>
          <p:cNvPr id="4" name="Table 3">
            <a:extLst xmlns:a="http://schemas.openxmlformats.org/drawingml/2006/main">
              <a:ext uri="{FF2B5EF4-FFF2-40B4-BE49-F238E27FC236}">
                <a16:creationId xmlns:a16="http://schemas.microsoft.com/office/drawing/2014/main" id="{158BC701-DD7A-46CF-94CD-5C5717ACC13D}"/>
              </a:ext>
            </a:extLst>
          </p:cNvPr>
          <p:cNvGraphicFramePr/>
          <p:nvPr/>
        </p:nvGraphicFramePr>
        <p:xfrm>
          <a:off xmlns:a="http://schemas.openxmlformats.org/drawingml/2006/main" x="619125" y="1514475"/>
          <a:ext xmlns:a="http://schemas.openxmlformats.org/drawingml/2006/main" cx="10953750" cy="4434837"/>
        </p:xfrm>
        <a:graphic xmlns:a="http://schemas.openxmlformats.org/drawingml/2006/main">
          <a:graphicData uri="http://schemas.openxmlformats.org/drawingml/2006/table">
            <a:tbl>
              <a:tblPr/>
              <a:tblGrid>
                <a:gridCol w="2762250"/>
                <a:gridCol w="1619250"/>
                <a:gridCol w="6572250"/>
              </a:tblGrid>
              <a:tr h="403167">
                <a:tc>
                  <a:txBody>
                    <a:bodyPr/>
                    <a:lstStyle/>
                    <a:p>
                      <a:r>
                        <a:rPr sz="1600" b="0">
                          <a:solidFill>
                            <a:srgbClr val="44364F"/>
                          </a:solidFill>
                          <a:latin typeface="Playfair Display"/>
                          <a:ea typeface="Playfair Display"/>
                          <a:cs typeface="Playfair Display"/>
                        </a:rPr>
                        <a:t>Contenedor</a:t>
                      </a:r>
                    </a:p>
                  </a:txBody>
                  <a:tcPr marL="91440" marR="91440" marT="45720" marB="45720">
                    <a:lnL w="5715">
                      <a:solidFill>
                        <a:srgbClr val="D5CCD9"/>
                      </a:solidFill>
                      <a:prstDash val="solid"/>
                    </a:lnL>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600" b="0">
                          <a:solidFill>
                            <a:srgbClr val="44364F"/>
                          </a:solidFill>
                          <a:latin typeface="Playfair Display"/>
                          <a:ea typeface="Playfair Display"/>
                          <a:cs typeface="Playfair Display"/>
                        </a:rPr>
                        <a:t>Puerto</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600" b="0">
                          <a:solidFill>
                            <a:srgbClr val="44364F"/>
                          </a:solidFill>
                          <a:latin typeface="Playfair Display"/>
                          <a:ea typeface="Playfair Display"/>
                          <a:cs typeface="Playfair Display"/>
                        </a:rPr>
                        <a:t>Responsabilidad</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r>
              <a:tr h="403167">
                <a:tc>
                  <a:txBody>
                    <a:bodyPr/>
                    <a:lstStyle/>
                    <a:p>
                      <a:r>
                        <a:rPr sz="1600" b="0">
                          <a:solidFill>
                            <a:srgbClr val="514E58"/>
                          </a:solidFill>
                          <a:latin typeface="Comfortaa"/>
                          <a:ea typeface="Comfortaa"/>
                          <a:cs typeface="Comfortaa"/>
                        </a:rPr>
                        <a:t>Auth</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5101</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Sesión y tokens</a:t>
                      </a:r>
                    </a:p>
                  </a:txBody>
                  <a:tcPr marL="91440" marR="91440" marT="45720" marB="45720">
                    <a:lnR w="5715">
                      <a:solidFill>
                        <a:srgbClr val="D5CCD9"/>
                      </a:solidFill>
                      <a:prstDash val="solid"/>
                    </a:lnR>
                    <a:lnB w="5715">
                      <a:solidFill>
                        <a:srgbClr val="D5CCD9"/>
                      </a:solidFill>
                      <a:prstDash val="solid"/>
                    </a:lnB>
                    <a:solidFill>
                      <a:srgbClr val="FAF8F4"/>
                    </a:solidFill>
                  </a:tcPr>
                </a:tc>
              </a:tr>
              <a:tr h="403167">
                <a:tc>
                  <a:txBody>
                    <a:bodyPr/>
                    <a:lstStyle/>
                    <a:p>
                      <a:r>
                        <a:rPr sz="1600" b="0">
                          <a:solidFill>
                            <a:srgbClr val="514E58"/>
                          </a:solidFill>
                          <a:latin typeface="Comfortaa"/>
                          <a:ea typeface="Comfortaa"/>
                          <a:cs typeface="Comfortaa"/>
                        </a:rPr>
                        <a:t>Usuarios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5102</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Perfil y consulta</a:t>
                      </a:r>
                    </a:p>
                  </a:txBody>
                  <a:tcPr marL="91440" marR="91440" marT="45720" marB="45720">
                    <a:lnR w="5715">
                      <a:solidFill>
                        <a:srgbClr val="D5CCD9"/>
                      </a:solidFill>
                      <a:prstDash val="solid"/>
                    </a:lnR>
                    <a:lnB w="5715">
                      <a:solidFill>
                        <a:srgbClr val="D5CCD9"/>
                      </a:solidFill>
                      <a:prstDash val="solid"/>
                    </a:lnB>
                    <a:solidFill>
                      <a:srgbClr val="EAF0E5"/>
                    </a:solidFill>
                  </a:tcPr>
                </a:tc>
              </a:tr>
              <a:tr h="403167">
                <a:tc>
                  <a:txBody>
                    <a:bodyPr/>
                    <a:lstStyle/>
                    <a:p>
                      <a:r>
                        <a:rPr sz="1600" b="0">
                          <a:solidFill>
                            <a:srgbClr val="514E58"/>
                          </a:solidFill>
                          <a:latin typeface="Comfortaa"/>
                          <a:ea typeface="Comfortaa"/>
                          <a:cs typeface="Comfortaa"/>
                        </a:rPr>
                        <a:t>Productos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5103</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Catálogo comercial</a:t>
                      </a:r>
                    </a:p>
                  </a:txBody>
                  <a:tcPr marL="91440" marR="91440" marT="45720" marB="45720">
                    <a:lnR w="5715">
                      <a:solidFill>
                        <a:srgbClr val="D5CCD9"/>
                      </a:solidFill>
                      <a:prstDash val="solid"/>
                    </a:lnR>
                    <a:lnB w="5715">
                      <a:solidFill>
                        <a:srgbClr val="D5CCD9"/>
                      </a:solidFill>
                      <a:prstDash val="solid"/>
                    </a:lnB>
                    <a:solidFill>
                      <a:srgbClr val="FAF8F4"/>
                    </a:solidFill>
                  </a:tcPr>
                </a:tc>
              </a:tr>
              <a:tr h="403167">
                <a:tc>
                  <a:txBody>
                    <a:bodyPr/>
                    <a:lstStyle/>
                    <a:p>
                      <a:r>
                        <a:rPr sz="1600" b="0">
                          <a:solidFill>
                            <a:srgbClr val="514E58"/>
                          </a:solidFill>
                          <a:latin typeface="Comfortaa"/>
                          <a:ea typeface="Comfortaa"/>
                          <a:cs typeface="Comfortaa"/>
                        </a:rPr>
                        <a:t>Pedidos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5104</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Consulta, historial y estados</a:t>
                      </a:r>
                    </a:p>
                  </a:txBody>
                  <a:tcPr marL="91440" marR="91440" marT="45720" marB="45720">
                    <a:lnR w="5715">
                      <a:solidFill>
                        <a:srgbClr val="D5CCD9"/>
                      </a:solidFill>
                      <a:prstDash val="solid"/>
                    </a:lnR>
                    <a:lnB w="5715">
                      <a:solidFill>
                        <a:srgbClr val="D5CCD9"/>
                      </a:solidFill>
                      <a:prstDash val="solid"/>
                    </a:lnB>
                    <a:solidFill>
                      <a:srgbClr val="EAF0E5"/>
                    </a:solidFill>
                  </a:tcPr>
                </a:tc>
              </a:tr>
              <a:tr h="403167">
                <a:tc>
                  <a:txBody>
                    <a:bodyPr/>
                    <a:lstStyle/>
                    <a:p>
                      <a:r>
                        <a:rPr sz="1600" b="0">
                          <a:solidFill>
                            <a:srgbClr val="514E58"/>
                          </a:solidFill>
                          <a:latin typeface="Comfortaa"/>
                          <a:ea typeface="Comfortaa"/>
                          <a:cs typeface="Comfortaa"/>
                        </a:rPr>
                        <a:t>Entregas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5105</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Cierre, cobro y evidencia</a:t>
                      </a:r>
                    </a:p>
                  </a:txBody>
                  <a:tcPr marL="91440" marR="91440" marT="45720" marB="45720">
                    <a:lnR w="5715">
                      <a:solidFill>
                        <a:srgbClr val="D5CCD9"/>
                      </a:solidFill>
                      <a:prstDash val="solid"/>
                    </a:lnR>
                    <a:lnB w="5715">
                      <a:solidFill>
                        <a:srgbClr val="D5CCD9"/>
                      </a:solidFill>
                      <a:prstDash val="solid"/>
                    </a:lnB>
                    <a:solidFill>
                      <a:srgbClr val="FAF8F4"/>
                    </a:solidFill>
                  </a:tcPr>
                </a:tc>
              </a:tr>
              <a:tr h="403167">
                <a:tc>
                  <a:txBody>
                    <a:bodyPr/>
                    <a:lstStyle/>
                    <a:p>
                      <a:r>
                        <a:rPr sz="1600" b="0">
                          <a:solidFill>
                            <a:srgbClr val="514E58"/>
                          </a:solidFill>
                          <a:latin typeface="Comfortaa"/>
                          <a:ea typeface="Comfortaa"/>
                          <a:cs typeface="Comfortaa"/>
                        </a:rPr>
                        <a:t>Planeación</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5106</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Candidatos y simulaciones</a:t>
                      </a:r>
                    </a:p>
                  </a:txBody>
                  <a:tcPr marL="91440" marR="91440" marT="45720" marB="45720">
                    <a:lnR w="5715">
                      <a:solidFill>
                        <a:srgbClr val="D5CCD9"/>
                      </a:solidFill>
                      <a:prstDash val="solid"/>
                    </a:lnR>
                    <a:lnB w="5715">
                      <a:solidFill>
                        <a:srgbClr val="D5CCD9"/>
                      </a:solidFill>
                      <a:prstDash val="solid"/>
                    </a:lnB>
                    <a:solidFill>
                      <a:srgbClr val="EAF0E5"/>
                    </a:solidFill>
                  </a:tcPr>
                </a:tc>
              </a:tr>
              <a:tr h="403167">
                <a:tc>
                  <a:txBody>
                    <a:bodyPr/>
                    <a:lstStyle/>
                    <a:p>
                      <a:r>
                        <a:rPr sz="1600" b="0">
                          <a:solidFill>
                            <a:srgbClr val="514E58"/>
                          </a:solidFill>
                          <a:latin typeface="Comfortaa"/>
                          <a:ea typeface="Comfortaa"/>
                          <a:cs typeface="Comfortaa"/>
                        </a:rPr>
                        <a:t>Documentos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5107</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Archivos en MongoDB</a:t>
                      </a:r>
                    </a:p>
                  </a:txBody>
                  <a:tcPr marL="91440" marR="91440" marT="45720" marB="45720">
                    <a:lnR w="5715">
                      <a:solidFill>
                        <a:srgbClr val="D5CCD9"/>
                      </a:solidFill>
                      <a:prstDash val="solid"/>
                    </a:lnR>
                    <a:lnB w="5715">
                      <a:solidFill>
                        <a:srgbClr val="D5CCD9"/>
                      </a:solidFill>
                      <a:prstDash val="solid"/>
                    </a:lnB>
                    <a:solidFill>
                      <a:srgbClr val="FAF8F4"/>
                    </a:solidFill>
                  </a:tcPr>
                </a:tc>
              </a:tr>
              <a:tr h="403167">
                <a:tc>
                  <a:txBody>
                    <a:bodyPr/>
                    <a:lstStyle/>
                    <a:p>
                      <a:r>
                        <a:rPr sz="1600" b="0">
                          <a:solidFill>
                            <a:srgbClr val="514E58"/>
                          </a:solidFill>
                          <a:latin typeface="Comfortaa"/>
                          <a:ea typeface="Comfortaa"/>
                          <a:cs typeface="Comfortaa"/>
                        </a:rPr>
                        <a:t>Zonas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5108</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Colonias y cobertura</a:t>
                      </a:r>
                    </a:p>
                  </a:txBody>
                  <a:tcPr marL="91440" marR="91440" marT="45720" marB="45720">
                    <a:lnR w="5715">
                      <a:solidFill>
                        <a:srgbClr val="D5CCD9"/>
                      </a:solidFill>
                      <a:prstDash val="solid"/>
                    </a:lnR>
                    <a:lnB w="5715">
                      <a:solidFill>
                        <a:srgbClr val="D5CCD9"/>
                      </a:solidFill>
                      <a:prstDash val="solid"/>
                    </a:lnB>
                    <a:solidFill>
                      <a:srgbClr val="EAF0E5"/>
                    </a:solidFill>
                  </a:tcPr>
                </a:tc>
              </a:tr>
              <a:tr h="403167">
                <a:tc>
                  <a:txBody>
                    <a:bodyPr/>
                    <a:lstStyle/>
                    <a:p>
                      <a:r>
                        <a:rPr sz="1600" b="0">
                          <a:solidFill>
                            <a:srgbClr val="514E58"/>
                          </a:solidFill>
                          <a:latin typeface="Comfortaa"/>
                          <a:ea typeface="Comfortaa"/>
                          <a:cs typeface="Comfortaa"/>
                        </a:rPr>
                        <a:t>Microhubs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5109</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Red de puntos de operación</a:t>
                      </a:r>
                    </a:p>
                  </a:txBody>
                  <a:tcPr marL="91440" marR="91440" marT="45720" marB="45720">
                    <a:lnR w="5715">
                      <a:solidFill>
                        <a:srgbClr val="D5CCD9"/>
                      </a:solidFill>
                      <a:prstDash val="solid"/>
                    </a:lnR>
                    <a:lnB w="5715">
                      <a:solidFill>
                        <a:srgbClr val="D5CCD9"/>
                      </a:solidFill>
                      <a:prstDash val="solid"/>
                    </a:lnB>
                    <a:solidFill>
                      <a:srgbClr val="EAF0E5"/>
                    </a:solidFill>
                  </a:tcPr>
                </a:tc>
              </a:tr>
              <a:tr h="403167">
                <a:tc>
                  <a:txBody>
                    <a:bodyPr/>
                    <a:lstStyle/>
                    <a:p>
                      <a:r>
                        <a:rPr sz="1600" b="0">
                          <a:solidFill>
                            <a:srgbClr val="514E58"/>
                          </a:solidFill>
                          <a:latin typeface="Comfortaa"/>
                          <a:ea typeface="Comfortaa"/>
                          <a:cs typeface="Comfortaa"/>
                        </a:rPr>
                        <a:t>Seguimiento</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5110</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Ubicaciones GPS y recorrido</a:t>
                      </a:r>
                    </a:p>
                  </a:txBody>
                  <a:tcPr marL="91440" marR="91440" marT="45720" marB="45720">
                    <a:lnR w="5715">
                      <a:solidFill>
                        <a:srgbClr val="D5CCD9"/>
                      </a:solidFill>
                      <a:prstDash val="solid"/>
                    </a:lnR>
                    <a:lnB w="5715">
                      <a:solidFill>
                        <a:srgbClr val="D5CCD9"/>
                      </a:solidFill>
                      <a:prstDash val="solid"/>
                    </a:lnB>
                    <a:solidFill>
                      <a:srgbClr val="EAF0E5"/>
                    </a:solidFill>
                  </a:tcPr>
                </a:tc>
              </a:tr>
            </a:tbl>
          </a:graphicData>
        </a:graphic>
      </p:graphicFrame>
    </p:spTree>
    <p:extLst>
      <p:ext uri="{BB962C8B-B14F-4D97-AF65-F5344CB8AC3E}">
        <p14:creationId xmlns:p14="http://schemas.microsoft.com/office/powerpoint/2010/main" val="960949066"/>
      </p:ext>
    </p:extLst>
  </p:cSld>
</p:sld>
</file>

<file path=ppt/slides/slide12.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cxnSp>
        <p:nvCxnSpPr>
          <p:cNvPr id="14" name="Connector: Elbow 13">
            <a:extLst xmlns:a="http://schemas.openxmlformats.org/drawingml/2006/main">
              <a:ext uri="{FF2B5EF4-FFF2-40B4-BE49-F238E27FC236}">
                <a16:creationId xmlns:a16="http://schemas.microsoft.com/office/drawing/2014/main" id="{DD230C6C-E068-40F9-B645-0FF66351142B}"/>
              </a:ext>
            </a:extLst>
          </p:cNvPr>
          <p:cNvCxnSpPr>
            <a:stCxn xmlns:a="http://schemas.openxmlformats.org/drawingml/2006/main" id="6" idx="2"/>
            <a:endCxn xmlns:a="http://schemas.openxmlformats.org/drawingml/2006/main" id="11" idx="0"/>
          </p:cNvCxnSpPr>
          <p:nvPr/>
        </p:nvCxnSpPr>
        <p:spPr>
          <a:xfrm xmlns:a="http://schemas.openxmlformats.org/drawingml/2006/main">
            <a:off x="6000750" y="3762375"/>
            <a:ext cx="3905250" cy="571500"/>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3" name="Connector: Elbow 12">
            <a:extLst xmlns:a="http://schemas.openxmlformats.org/drawingml/2006/main">
              <a:ext uri="{FF2B5EF4-FFF2-40B4-BE49-F238E27FC236}">
                <a16:creationId xmlns:a16="http://schemas.microsoft.com/office/drawing/2014/main" id="{E35EE71E-25B1-4240-AB1B-AA05BF591224}"/>
              </a:ext>
            </a:extLst>
          </p:cNvPr>
          <p:cNvCxnSpPr>
            <a:stCxn xmlns:a="http://schemas.openxmlformats.org/drawingml/2006/main" id="6" idx="2"/>
            <a:endCxn xmlns:a="http://schemas.openxmlformats.org/drawingml/2006/main" id="10" idx="0"/>
          </p:cNvCxnSpPr>
          <p:nvPr/>
        </p:nvCxnSpPr>
        <p:spPr>
          <a:xfrm xmlns:a="http://schemas.openxmlformats.org/drawingml/2006/main">
            <a:off x="6000750" y="3762375"/>
            <a:ext cx="71438" cy="571500"/>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12" name="Connector: Elbow 11">
            <a:extLst xmlns:a="http://schemas.openxmlformats.org/drawingml/2006/main">
              <a:ext uri="{FF2B5EF4-FFF2-40B4-BE49-F238E27FC236}">
                <a16:creationId xmlns:a16="http://schemas.microsoft.com/office/drawing/2014/main" id="{9C49FF32-2742-4419-B904-02FC51B63F7E}"/>
              </a:ext>
            </a:extLst>
          </p:cNvPr>
          <p:cNvCxnSpPr>
            <a:stCxn xmlns:a="http://schemas.openxmlformats.org/drawingml/2006/main" id="6" idx="2"/>
            <a:endCxn xmlns:a="http://schemas.openxmlformats.org/drawingml/2006/main" id="9" idx="0"/>
          </p:cNvCxnSpPr>
          <p:nvPr/>
        </p:nvCxnSpPr>
        <p:spPr>
          <a:xfrm xmlns:a="http://schemas.openxmlformats.org/drawingml/2006/main" flipH="1">
            <a:off x="2166938" y="3762375"/>
            <a:ext cx="3833813" cy="571500"/>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8" name="Connector: Elbow 7">
            <a:extLst xmlns:a="http://schemas.openxmlformats.org/drawingml/2006/main">
              <a:ext uri="{FF2B5EF4-FFF2-40B4-BE49-F238E27FC236}">
                <a16:creationId xmlns:a16="http://schemas.microsoft.com/office/drawing/2014/main" id="{688BE3B3-4A27-489C-BA07-A80B654D03A1}"/>
              </a:ext>
            </a:extLst>
          </p:cNvPr>
          <p:cNvCxnSpPr>
            <a:stCxn xmlns:a="http://schemas.openxmlformats.org/drawingml/2006/main" id="5" idx="2"/>
            <a:endCxn xmlns:a="http://schemas.openxmlformats.org/drawingml/2006/main" id="6" idx="0"/>
          </p:cNvCxnSpPr>
          <p:nvPr/>
        </p:nvCxnSpPr>
        <p:spPr>
          <a:xfrm xmlns:a="http://schemas.openxmlformats.org/drawingml/2006/main" flipH="1">
            <a:off x="6000750" y="2219325"/>
            <a:ext cx="1666875" cy="923925"/>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cxnSp>
        <p:nvCxnSpPr>
          <p:cNvPr id="7" name="Connector: Elbow 6">
            <a:extLst xmlns:a="http://schemas.openxmlformats.org/drawingml/2006/main">
              <a:ext uri="{FF2B5EF4-FFF2-40B4-BE49-F238E27FC236}">
                <a16:creationId xmlns:a16="http://schemas.microsoft.com/office/drawing/2014/main" id="{6B923340-CE4F-48D1-9E90-B9C4373C1D3F}"/>
              </a:ext>
            </a:extLst>
          </p:cNvPr>
          <p:cNvCxnSpPr>
            <a:stCxn xmlns:a="http://schemas.openxmlformats.org/drawingml/2006/main" id="4" idx="2"/>
            <a:endCxn xmlns:a="http://schemas.openxmlformats.org/drawingml/2006/main" id="6" idx="0"/>
          </p:cNvCxnSpPr>
          <p:nvPr/>
        </p:nvCxnSpPr>
        <p:spPr>
          <a:xfrm xmlns:a="http://schemas.openxmlformats.org/drawingml/2006/main">
            <a:off x="1762125" y="2219325"/>
            <a:ext cx="4238625" cy="923925"/>
          </a:xfrm>
          <a:prstGeom xmlns:a="http://schemas.openxmlformats.org/drawingml/2006/main" prst="bentConnector4">
            <a:avLst>
              <a:gd name="adj1" fmla="val 0"/>
              <a:gd name="adj2" fmla="val 50000"/>
            </a:avLst>
          </a:prstGeom>
          <a:ln xmlns:a="http://schemas.openxmlformats.org/drawingml/2006/main" w="14288">
            <a:solidFill>
              <a:srgbClr val="9C89AE"/>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76F412FA-2C6C-48E2-96E9-DC438C847434}"/>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Despliegue, redes y persistencia</a:t>
            </a:r>
          </a:p>
        </p:txBody>
      </p:sp>
      <p:sp>
        <p:nvSpPr>
          <p:cNvPr id="2" name="text-1">
            <a:extLst xmlns:a="http://schemas.openxmlformats.org/drawingml/2006/main">
              <a:ext uri="{FF2B5EF4-FFF2-40B4-BE49-F238E27FC236}">
                <a16:creationId xmlns:a16="http://schemas.microsoft.com/office/drawing/2014/main" id="{54643952-1ACE-4BAD-90BA-6E51BE6B3584}"/>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BD6C1239-55EA-4305-BAC1-4DC323AEA370}"/>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12</a:t>
            </a:r>
          </a:p>
        </p:txBody>
      </p:sp>
      <p:sp>
        <p:nvSpPr>
          <p:cNvPr id="4" name="Rectangle 3">
            <a:extLst xmlns:a="http://schemas.openxmlformats.org/drawingml/2006/main">
              <a:ext uri="{FF2B5EF4-FFF2-40B4-BE49-F238E27FC236}">
                <a16:creationId xmlns:a16="http://schemas.microsoft.com/office/drawing/2014/main" id="{A6E6B8A5-3BB6-4CD3-B3F5-5A17CAA6F5B0}"/>
              </a:ext>
            </a:extLst>
          </p:cNvPr>
          <p:cNvSpPr>
            <a:spLocks xmlns:a="http://schemas.openxmlformats.org/drawingml/2006/main" noGrp="1"/>
          </p:cNvSpPr>
          <p:nvPr/>
        </p:nvSpPr>
        <p:spPr>
          <a:xfrm xmlns:a="http://schemas.openxmlformats.org/drawingml/2006/main">
            <a:off x="619125" y="1600200"/>
            <a:ext cx="2286000" cy="6191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Web :5000</a:t>
            </a:r>
          </a:p>
        </p:txBody>
      </p:sp>
      <p:sp>
        <p:nvSpPr>
          <p:cNvPr id="5" name="Rectangle 4">
            <a:extLst xmlns:a="http://schemas.openxmlformats.org/drawingml/2006/main">
              <a:ext uri="{FF2B5EF4-FFF2-40B4-BE49-F238E27FC236}">
                <a16:creationId xmlns:a16="http://schemas.microsoft.com/office/drawing/2014/main" id="{FFDDCAB2-B3CA-4AE9-BE91-60B0167F994B}"/>
              </a:ext>
            </a:extLst>
          </p:cNvPr>
          <p:cNvSpPr>
            <a:spLocks xmlns:a="http://schemas.openxmlformats.org/drawingml/2006/main" noGrp="1"/>
          </p:cNvSpPr>
          <p:nvPr/>
        </p:nvSpPr>
        <p:spPr>
          <a:xfrm xmlns:a="http://schemas.openxmlformats.org/drawingml/2006/main">
            <a:off x="3952875" y="1600200"/>
            <a:ext cx="7429500" cy="6191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10 contenedores de servicios :5101–5110</a:t>
            </a:r>
          </a:p>
        </p:txBody>
      </p:sp>
      <p:sp>
        <p:nvSpPr>
          <p:cNvPr id="6" name="Rectangle 5">
            <a:extLst xmlns:a="http://schemas.openxmlformats.org/drawingml/2006/main">
              <a:ext uri="{FF2B5EF4-FFF2-40B4-BE49-F238E27FC236}">
                <a16:creationId xmlns:a16="http://schemas.microsoft.com/office/drawing/2014/main" id="{8EE27DB8-E2F8-46D9-96AB-09BA0811482C}"/>
              </a:ext>
            </a:extLst>
          </p:cNvPr>
          <p:cNvSpPr>
            <a:spLocks xmlns:a="http://schemas.openxmlformats.org/drawingml/2006/main" noGrp="1"/>
          </p:cNvSpPr>
          <p:nvPr/>
        </p:nvSpPr>
        <p:spPr>
          <a:xfrm xmlns:a="http://schemas.openxmlformats.org/drawingml/2006/main">
            <a:off x="619125" y="3143250"/>
            <a:ext cx="10763250" cy="6191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Red datos interna · acceso por nombres de servicio</a:t>
            </a:r>
          </a:p>
        </p:txBody>
      </p:sp>
      <p:sp>
        <p:nvSpPr>
          <p:cNvPr id="9" name="Rectangle 8">
            <a:extLst xmlns:a="http://schemas.openxmlformats.org/drawingml/2006/main">
              <a:ext uri="{FF2B5EF4-FFF2-40B4-BE49-F238E27FC236}">
                <a16:creationId xmlns:a16="http://schemas.microsoft.com/office/drawing/2014/main" id="{72DF9D9D-3A5C-42BF-BD5E-118F301680A6}"/>
              </a:ext>
            </a:extLst>
          </p:cNvPr>
          <p:cNvSpPr>
            <a:spLocks xmlns:a="http://schemas.openxmlformats.org/drawingml/2006/main" noGrp="1"/>
          </p:cNvSpPr>
          <p:nvPr/>
        </p:nvSpPr>
        <p:spPr>
          <a:xfrm xmlns:a="http://schemas.openxmlformats.org/drawingml/2006/main">
            <a:off x="619125" y="4333875"/>
            <a:ext cx="3095625" cy="8096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PostgreSQL 16</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volumen datos_pg</a:t>
            </a:r>
          </a:p>
        </p:txBody>
      </p:sp>
      <p:sp>
        <p:nvSpPr>
          <p:cNvPr id="10" name="Rectangle 9">
            <a:extLst xmlns:a="http://schemas.openxmlformats.org/drawingml/2006/main">
              <a:ext uri="{FF2B5EF4-FFF2-40B4-BE49-F238E27FC236}">
                <a16:creationId xmlns:a16="http://schemas.microsoft.com/office/drawing/2014/main" id="{8CF28CD4-2B53-4310-BFAE-BA5055009483}"/>
              </a:ext>
            </a:extLst>
          </p:cNvPr>
          <p:cNvSpPr>
            <a:spLocks xmlns:a="http://schemas.openxmlformats.org/drawingml/2006/main" noGrp="1"/>
          </p:cNvSpPr>
          <p:nvPr/>
        </p:nvSpPr>
        <p:spPr>
          <a:xfrm xmlns:a="http://schemas.openxmlformats.org/drawingml/2006/main">
            <a:off x="4524375" y="4333875"/>
            <a:ext cx="3095625" cy="8096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MongoDB 7</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volumen datos_mongo</a:t>
            </a:r>
          </a:p>
        </p:txBody>
      </p:sp>
      <p:sp>
        <p:nvSpPr>
          <p:cNvPr id="11" name="Rectangle 10">
            <a:extLst xmlns:a="http://schemas.openxmlformats.org/drawingml/2006/main">
              <a:ext uri="{FF2B5EF4-FFF2-40B4-BE49-F238E27FC236}">
                <a16:creationId xmlns:a16="http://schemas.microsoft.com/office/drawing/2014/main" id="{37EC097B-68AC-40B7-BCE5-106E2CE88A23}"/>
              </a:ext>
            </a:extLst>
          </p:cNvPr>
          <p:cNvSpPr>
            <a:spLocks xmlns:a="http://schemas.openxmlformats.org/drawingml/2006/main" noGrp="1"/>
          </p:cNvSpPr>
          <p:nvPr/>
        </p:nvSpPr>
        <p:spPr>
          <a:xfrm xmlns:a="http://schemas.openxmlformats.org/drawingml/2006/main">
            <a:off x="8429625" y="4333875"/>
            <a:ext cx="2952750" cy="80962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Redis 7</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sin persistencia</a:t>
            </a:r>
          </a:p>
        </p:txBody>
      </p:sp>
      <p:sp>
        <p:nvSpPr>
          <p:cNvPr id="15" name="text-14">
            <a:extLst xmlns:a="http://schemas.openxmlformats.org/drawingml/2006/main">
              <a:ext uri="{FF2B5EF4-FFF2-40B4-BE49-F238E27FC236}">
                <a16:creationId xmlns:a16="http://schemas.microsoft.com/office/drawing/2014/main" id="{C1A4932A-1D53-406F-984E-795DA994F79D}"/>
              </a:ext>
            </a:extLst>
          </p:cNvPr>
          <p:cNvSpPr>
            <a:spLocks xmlns:a="http://schemas.openxmlformats.org/drawingml/2006/main" noGrp="1"/>
          </p:cNvSpPr>
          <p:nvPr/>
        </p:nvSpPr>
        <p:spPr>
          <a:xfrm xmlns:a="http://schemas.openxmlformats.org/drawingml/2006/main">
            <a:off x="619125" y="52101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514E58"/>
                </a:solidFill>
                <a:latin typeface="Comfortaa"/>
                <a:ea typeface="Comfortaa"/>
                <a:cs typeface="Comfortaa"/>
              </a:defRPr>
            </a:defPPr>
          </a:lstStyle>
          <a:p xmlns:a="http://schemas.openxmlformats.org/drawingml/2006/main">
            <a:pPr>
              <a:buNone/>
              <a:defRPr sz="1481" b="0">
                <a:solidFill>
                  <a:srgbClr val="514E58"/>
                </a:solidFill>
                <a:latin typeface="Comfortaa"/>
                <a:ea typeface="Comfortaa"/>
                <a:cs typeface="Comfortaa"/>
              </a:defRPr>
            </a:pPr>
            <a:r>
              <a:rPr sz="1481" b="0">
                <a:solidFill>
                  <a:srgbClr val="514E58"/>
                </a:solidFill>
                <a:latin typeface="Comfortaa"/>
                <a:ea typeface="Comfortaa"/>
                <a:cs typeface="Comfortaa"/>
              </a:rPr>
              <a:t>Red publica: web y servicios. Las bases no publican puertos al equipo.</a:t>
            </a:r>
          </a:p>
        </p:txBody>
      </p:sp>
      <p:sp>
        <p:nvSpPr>
          <p:cNvPr id="16" name="text-15">
            <a:extLst xmlns:a="http://schemas.openxmlformats.org/drawingml/2006/main">
              <a:ext uri="{FF2B5EF4-FFF2-40B4-BE49-F238E27FC236}">
                <a16:creationId xmlns:a16="http://schemas.microsoft.com/office/drawing/2014/main" id="{DB40FF00-CD50-4E6E-9719-63292C1D9AE3}"/>
              </a:ext>
            </a:extLst>
          </p:cNvPr>
          <p:cNvSpPr>
            <a:spLocks xmlns:a="http://schemas.openxmlformats.org/drawingml/2006/main" noGrp="1"/>
          </p:cNvSpPr>
          <p:nvPr/>
        </p:nvSpPr>
        <p:spPr>
          <a:xfrm xmlns:a="http://schemas.openxmlformats.org/drawingml/2006/main">
            <a:off x="619125" y="556260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22" b="0">
                <a:solidFill>
                  <a:srgbClr val="514E58"/>
                </a:solidFill>
                <a:latin typeface="Comfortaa"/>
                <a:ea typeface="Comfortaa"/>
                <a:cs typeface="Comfortaa"/>
              </a:defRPr>
            </a:defPPr>
          </a:lstStyle>
          <a:p xmlns:a="http://schemas.openxmlformats.org/drawingml/2006/main">
            <a:pP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Arranque: PostgreSQL saludable, migraciones (Exit 0) y dependencias de cada servicio.</a:t>
            </a:r>
          </a:p>
        </p:txBody>
      </p:sp>
    </p:spTree>
    <p:extLst>
      <p:ext uri="{BB962C8B-B14F-4D97-AF65-F5344CB8AC3E}">
        <p14:creationId xmlns:p14="http://schemas.microsoft.com/office/powerpoint/2010/main" val="1075413240"/>
      </p:ext>
    </p:extLst>
  </p:cSld>
</p:sld>
</file>

<file path=ppt/slides/slide1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8B7627A-80C5-4712-961B-E34D4CC96A25}"/>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Configuración y operación con Compose</a:t>
            </a:r>
          </a:p>
        </p:txBody>
      </p:sp>
      <p:sp>
        <p:nvSpPr>
          <p:cNvPr id="2" name="text-1">
            <a:extLst xmlns:a="http://schemas.openxmlformats.org/drawingml/2006/main">
              <a:ext uri="{FF2B5EF4-FFF2-40B4-BE49-F238E27FC236}">
                <a16:creationId xmlns:a16="http://schemas.microsoft.com/office/drawing/2014/main" id="{EA1B8DC7-D29B-4597-8437-5880D04B5D9F}"/>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F46E327D-4660-41F0-892D-27BC7E3355A4}"/>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13</a:t>
            </a:r>
          </a:p>
        </p:txBody>
      </p:sp>
      <p:sp>
        <p:nvSpPr>
          <p:cNvPr id="4" name="text-3">
            <a:extLst xmlns:a="http://schemas.openxmlformats.org/drawingml/2006/main">
              <a:ext uri="{FF2B5EF4-FFF2-40B4-BE49-F238E27FC236}">
                <a16:creationId xmlns:a16="http://schemas.microsoft.com/office/drawing/2014/main" id="{88E05DA5-4C2D-4051-9E19-255E3B09E5DF}"/>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Variables</a:t>
            </a:r>
          </a:p>
        </p:txBody>
      </p:sp>
      <p:sp>
        <p:nvSpPr>
          <p:cNvPr id="5" name="text-4">
            <a:extLst xmlns:a="http://schemas.openxmlformats.org/drawingml/2006/main">
              <a:ext uri="{FF2B5EF4-FFF2-40B4-BE49-F238E27FC236}">
                <a16:creationId xmlns:a16="http://schemas.microsoft.com/office/drawing/2014/main" id="{77CDE039-D04C-41C2-8163-9FE6553CF886}"/>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SECRET_KEY común, PG_DSN, MONGO_URL, REDIS_URL y WEB_PORT.</a:t>
            </a:r>
          </a:p>
        </p:txBody>
      </p:sp>
      <p:sp>
        <p:nvSpPr>
          <p:cNvPr id="6" name="text-5">
            <a:extLst xmlns:a="http://schemas.openxmlformats.org/drawingml/2006/main">
              <a:ext uri="{FF2B5EF4-FFF2-40B4-BE49-F238E27FC236}">
                <a16:creationId xmlns:a16="http://schemas.microsoft.com/office/drawing/2014/main" id="{94BDDC46-E01D-4CC7-A9DA-D28E0BE7B0F4}"/>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Descubrimiento</a:t>
            </a:r>
          </a:p>
        </p:txBody>
      </p:sp>
      <p:sp>
        <p:nvSpPr>
          <p:cNvPr id="7" name="text-6">
            <a:extLst xmlns:a="http://schemas.openxmlformats.org/drawingml/2006/main">
              <a:ext uri="{FF2B5EF4-FFF2-40B4-BE49-F238E27FC236}">
                <a16:creationId xmlns:a16="http://schemas.microsoft.com/office/drawing/2014/main" id="{5C4D74C4-FC08-48F3-96C8-7D80CFEF2447}"/>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MICROSERVICIOS_URL usa http://{servicio}:{puerto}.</a:t>
            </a:r>
          </a:p>
        </p:txBody>
      </p:sp>
      <p:sp>
        <p:nvSpPr>
          <p:cNvPr id="8" name="text-7">
            <a:extLst xmlns:a="http://schemas.openxmlformats.org/drawingml/2006/main">
              <a:ext uri="{FF2B5EF4-FFF2-40B4-BE49-F238E27FC236}">
                <a16:creationId xmlns:a16="http://schemas.microsoft.com/office/drawing/2014/main" id="{B3A6C99F-5685-4523-97D7-613480D17D28}"/>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Inicio y revisión</a:t>
            </a:r>
          </a:p>
        </p:txBody>
      </p:sp>
      <p:sp>
        <p:nvSpPr>
          <p:cNvPr id="9" name="text-8">
            <a:extLst xmlns:a="http://schemas.openxmlformats.org/drawingml/2006/main">
              <a:ext uri="{FF2B5EF4-FFF2-40B4-BE49-F238E27FC236}">
                <a16:creationId xmlns:a16="http://schemas.microsoft.com/office/drawing/2014/main" id="{883C988A-94DE-490C-B33F-099A378E7F20}"/>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docker compose -f docker-compose.integrado.yml</a:t>
            </a:r>
          </a:p>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up --build -d</a:t>
            </a:r>
          </a:p>
        </p:txBody>
      </p:sp>
      <p:sp>
        <p:nvSpPr>
          <p:cNvPr id="10" name="text-9">
            <a:extLst xmlns:a="http://schemas.openxmlformats.org/drawingml/2006/main">
              <a:ext uri="{FF2B5EF4-FFF2-40B4-BE49-F238E27FC236}">
                <a16:creationId xmlns:a16="http://schemas.microsoft.com/office/drawing/2014/main" id="{E17667C5-BBBB-4A75-9095-18D60E9E9FFD}"/>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Detención</a:t>
            </a:r>
          </a:p>
        </p:txBody>
      </p:sp>
      <p:sp>
        <p:nvSpPr>
          <p:cNvPr id="11" name="text-10">
            <a:extLst xmlns:a="http://schemas.openxmlformats.org/drawingml/2006/main">
              <a:ext uri="{FF2B5EF4-FFF2-40B4-BE49-F238E27FC236}">
                <a16:creationId xmlns:a16="http://schemas.microsoft.com/office/drawing/2014/main" id="{CF260B7B-6655-4961-9617-CD46D50496E2}"/>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docker compose -f docker-compose.integrado.yml down</a:t>
            </a:r>
          </a:p>
        </p:txBody>
      </p:sp>
    </p:spTree>
    <p:extLst>
      <p:ext uri="{BB962C8B-B14F-4D97-AF65-F5344CB8AC3E}">
        <p14:creationId xmlns:p14="http://schemas.microsoft.com/office/powerpoint/2010/main" val="1765219103"/>
      </p:ext>
    </p:extLst>
  </p:cSld>
</p:sld>
</file>

<file path=ppt/slides/slide14.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cxnSp>
        <p:nvCxnSpPr>
          <p:cNvPr id="12" name="Straight Arrow Connector 11">
            <a:extLst xmlns:a="http://schemas.openxmlformats.org/drawingml/2006/main">
              <a:ext uri="{FF2B5EF4-FFF2-40B4-BE49-F238E27FC236}">
                <a16:creationId xmlns:a16="http://schemas.microsoft.com/office/drawing/2014/main" id="{828D6818-0221-46B6-ACB1-E045125C607A}"/>
              </a:ext>
            </a:extLst>
          </p:cNvPr>
          <p:cNvCxnSpPr>
            <a:stCxn xmlns:a="http://schemas.openxmlformats.org/drawingml/2006/main" id="7" idx="1"/>
            <a:endCxn xmlns:a="http://schemas.openxmlformats.org/drawingml/2006/main" id="8" idx="3"/>
          </p:cNvCxnSpPr>
          <p:nvPr/>
        </p:nvCxnSpPr>
        <p:spPr>
          <a:xfrm xmlns:a="http://schemas.openxmlformats.org/drawingml/2006/main" flipH="1">
            <a:off x="7477125" y="4548188"/>
            <a:ext cx="71437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9614680C-8EF0-4EEF-BDA3-61EA9300AD74}"/>
              </a:ext>
            </a:extLst>
          </p:cNvPr>
          <p:cNvCxnSpPr>
            <a:stCxn xmlns:a="http://schemas.openxmlformats.org/drawingml/2006/main" id="6" idx="2"/>
            <a:endCxn xmlns:a="http://schemas.openxmlformats.org/drawingml/2006/main" id="7" idx="0"/>
          </p:cNvCxnSpPr>
          <p:nvPr/>
        </p:nvCxnSpPr>
        <p:spPr>
          <a:xfrm xmlns:a="http://schemas.openxmlformats.org/drawingml/2006/main">
            <a:off x="9715500" y="3048000"/>
            <a:ext cx="0" cy="95250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10" name="Straight Arrow Connector 9">
            <a:extLst xmlns:a="http://schemas.openxmlformats.org/drawingml/2006/main">
              <a:ext uri="{FF2B5EF4-FFF2-40B4-BE49-F238E27FC236}">
                <a16:creationId xmlns:a16="http://schemas.microsoft.com/office/drawing/2014/main" id="{C8AD66CA-426A-4E83-A98E-1B73A0DD6A10}"/>
              </a:ext>
            </a:extLst>
          </p:cNvPr>
          <p:cNvCxnSpPr>
            <a:stCxn xmlns:a="http://schemas.openxmlformats.org/drawingml/2006/main" id="5" idx="3"/>
            <a:endCxn xmlns:a="http://schemas.openxmlformats.org/drawingml/2006/main" id="6" idx="1"/>
          </p:cNvCxnSpPr>
          <p:nvPr/>
        </p:nvCxnSpPr>
        <p:spPr>
          <a:xfrm xmlns:a="http://schemas.openxmlformats.org/drawingml/2006/main">
            <a:off x="7477125" y="2500313"/>
            <a:ext cx="71437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9" name="Straight Arrow Connector 8">
            <a:extLst xmlns:a="http://schemas.openxmlformats.org/drawingml/2006/main">
              <a:ext uri="{FF2B5EF4-FFF2-40B4-BE49-F238E27FC236}">
                <a16:creationId xmlns:a16="http://schemas.microsoft.com/office/drawing/2014/main" id="{26E3D1B0-F2BC-4499-92DB-0BEC0EF4B52E}"/>
              </a:ext>
            </a:extLst>
          </p:cNvPr>
          <p:cNvCxnSpPr>
            <a:stCxn xmlns:a="http://schemas.openxmlformats.org/drawingml/2006/main" id="4" idx="3"/>
            <a:endCxn xmlns:a="http://schemas.openxmlformats.org/drawingml/2006/main" id="5" idx="1"/>
          </p:cNvCxnSpPr>
          <p:nvPr/>
        </p:nvCxnSpPr>
        <p:spPr>
          <a:xfrm xmlns:a="http://schemas.openxmlformats.org/drawingml/2006/main">
            <a:off x="3714750" y="2500313"/>
            <a:ext cx="71437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sp>
        <p:nvSpPr>
          <p:cNvPr id="15" name="text-0">
            <a:extLst xmlns:a="http://schemas.openxmlformats.org/drawingml/2006/main">
              <a:ext uri="{FF2B5EF4-FFF2-40B4-BE49-F238E27FC236}">
                <a16:creationId xmlns:a16="http://schemas.microsoft.com/office/drawing/2014/main" id="{1923121D-7AAE-4E87-B076-6C35F1356E7D}"/>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Un pedido de principio a fin</a:t>
            </a:r>
          </a:p>
        </p:txBody>
      </p:sp>
      <p:sp>
        <p:nvSpPr>
          <p:cNvPr id="2" name="text-1">
            <a:extLst xmlns:a="http://schemas.openxmlformats.org/drawingml/2006/main">
              <a:ext uri="{FF2B5EF4-FFF2-40B4-BE49-F238E27FC236}">
                <a16:creationId xmlns:a16="http://schemas.microsoft.com/office/drawing/2014/main" id="{8CA3C73B-B6D5-4421-B61A-2DC916566D70}"/>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3FAC7B3B-FDBD-4FC5-B192-9AF283F72A8B}"/>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14</a:t>
            </a:r>
          </a:p>
        </p:txBody>
      </p:sp>
      <p:sp>
        <p:nvSpPr>
          <p:cNvPr id="4" name="Rectangle 3">
            <a:extLst xmlns:a="http://schemas.openxmlformats.org/drawingml/2006/main">
              <a:ext uri="{FF2B5EF4-FFF2-40B4-BE49-F238E27FC236}">
                <a16:creationId xmlns:a16="http://schemas.microsoft.com/office/drawing/2014/main" id="{F09F0390-3DD9-46C6-859E-A5AE1467ECCE}"/>
              </a:ext>
            </a:extLst>
          </p:cNvPr>
          <p:cNvSpPr>
            <a:spLocks xmlns:a="http://schemas.openxmlformats.org/drawingml/2006/main" noGrp="1"/>
          </p:cNvSpPr>
          <p:nvPr/>
        </p:nvSpPr>
        <p:spPr>
          <a:xfrm xmlns:a="http://schemas.openxmlformats.org/drawingml/2006/main">
            <a:off x="666750" y="1952625"/>
            <a:ext cx="3048000" cy="10953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Cliente</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Catálogo y pedido</a:t>
            </a:r>
          </a:p>
        </p:txBody>
      </p:sp>
      <p:sp>
        <p:nvSpPr>
          <p:cNvPr id="5" name="Rectangle 4">
            <a:extLst xmlns:a="http://schemas.openxmlformats.org/drawingml/2006/main">
              <a:ext uri="{FF2B5EF4-FFF2-40B4-BE49-F238E27FC236}">
                <a16:creationId xmlns:a16="http://schemas.microsoft.com/office/drawing/2014/main" id="{3A27D97A-F499-48C6-9C6E-92F2DA68F3DD}"/>
              </a:ext>
            </a:extLst>
          </p:cNvPr>
          <p:cNvSpPr>
            <a:spLocks xmlns:a="http://schemas.openxmlformats.org/drawingml/2006/main" noGrp="1"/>
          </p:cNvSpPr>
          <p:nvPr/>
        </p:nvSpPr>
        <p:spPr>
          <a:xfrm xmlns:a="http://schemas.openxmlformats.org/drawingml/2006/main">
            <a:off x="4429125" y="1952625"/>
            <a:ext cx="3048000" cy="10953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Operador</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Preparación</a:t>
            </a:r>
          </a:p>
        </p:txBody>
      </p:sp>
      <p:sp>
        <p:nvSpPr>
          <p:cNvPr id="6" name="Rectangle 5">
            <a:extLst xmlns:a="http://schemas.openxmlformats.org/drawingml/2006/main">
              <a:ext uri="{FF2B5EF4-FFF2-40B4-BE49-F238E27FC236}">
                <a16:creationId xmlns:a16="http://schemas.microsoft.com/office/drawing/2014/main" id="{CFDE6AA0-024F-476A-8BAD-A6174976CD77}"/>
              </a:ext>
            </a:extLst>
          </p:cNvPr>
          <p:cNvSpPr>
            <a:spLocks xmlns:a="http://schemas.openxmlformats.org/drawingml/2006/main" noGrp="1"/>
          </p:cNvSpPr>
          <p:nvPr/>
        </p:nvSpPr>
        <p:spPr>
          <a:xfrm xmlns:a="http://schemas.openxmlformats.org/drawingml/2006/main">
            <a:off x="8191500" y="1952625"/>
            <a:ext cx="3048000" cy="10953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Entregas
Cierre y evidencia</a:t>
            </a:r>
          </a:p>
        </p:txBody>
      </p:sp>
      <p:sp>
        <p:nvSpPr>
          <p:cNvPr id="7" name="Rectangle 6">
            <a:extLst xmlns:a="http://schemas.openxmlformats.org/drawingml/2006/main">
              <a:ext uri="{FF2B5EF4-FFF2-40B4-BE49-F238E27FC236}">
                <a16:creationId xmlns:a16="http://schemas.microsoft.com/office/drawing/2014/main" id="{DFA4EB19-1871-4B51-BCBB-8727F2357B91}"/>
              </a:ext>
            </a:extLst>
          </p:cNvPr>
          <p:cNvSpPr>
            <a:spLocks xmlns:a="http://schemas.openxmlformats.org/drawingml/2006/main" noGrp="1"/>
          </p:cNvSpPr>
          <p:nvPr/>
        </p:nvSpPr>
        <p:spPr>
          <a:xfrm xmlns:a="http://schemas.openxmlformats.org/drawingml/2006/main">
            <a:off x="8191500" y="4000500"/>
            <a:ext cx="3048000" cy="10953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PostgreSQL</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Estado y aviso</a:t>
            </a:r>
          </a:p>
        </p:txBody>
      </p:sp>
      <p:sp>
        <p:nvSpPr>
          <p:cNvPr id="8" name="Rectangle 7">
            <a:extLst xmlns:a="http://schemas.openxmlformats.org/drawingml/2006/main">
              <a:ext uri="{FF2B5EF4-FFF2-40B4-BE49-F238E27FC236}">
                <a16:creationId xmlns:a16="http://schemas.microsoft.com/office/drawing/2014/main" id="{B3F96903-AB72-4607-B33E-9713A5431705}"/>
              </a:ext>
            </a:extLst>
          </p:cNvPr>
          <p:cNvSpPr>
            <a:spLocks xmlns:a="http://schemas.openxmlformats.org/drawingml/2006/main" noGrp="1"/>
          </p:cNvSpPr>
          <p:nvPr/>
        </p:nvSpPr>
        <p:spPr>
          <a:xfrm xmlns:a="http://schemas.openxmlformats.org/drawingml/2006/main">
            <a:off x="4429125" y="4000500"/>
            <a:ext cx="3048000" cy="10953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Cliente en web</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Resultado e historial</a:t>
            </a:r>
          </a:p>
        </p:txBody>
      </p:sp>
      <p:sp>
        <p:nvSpPr>
          <p:cNvPr id="13" name="text-12">
            <a:extLst xmlns:a="http://schemas.openxmlformats.org/drawingml/2006/main">
              <a:ext uri="{FF2B5EF4-FFF2-40B4-BE49-F238E27FC236}">
                <a16:creationId xmlns:a16="http://schemas.microsoft.com/office/drawing/2014/main" id="{E2D36BD6-8320-4623-ABEA-F01E964BE3B2}"/>
              </a:ext>
            </a:extLst>
          </p:cNvPr>
          <p:cNvSpPr>
            <a:spLocks xmlns:a="http://schemas.openxmlformats.org/drawingml/2006/main" noGrp="1"/>
          </p:cNvSpPr>
          <p:nvPr/>
        </p:nvSpPr>
        <p:spPr>
          <a:xfrm xmlns:a="http://schemas.openxmlformats.org/drawingml/2006/main">
            <a:off x="666750" y="4000500"/>
            <a:ext cx="3095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80649B"/>
                </a:solidFill>
                <a:latin typeface="Playfair Display"/>
                <a:ea typeface="Playfair Display"/>
                <a:cs typeface="Playfair Display"/>
              </a:defRPr>
            </a:defPPr>
          </a:lstStyle>
          <a:p xmlns:a="http://schemas.openxmlformats.org/drawingml/2006/main">
            <a:pPr>
              <a:buNone/>
              <a:defRPr sz="1904" b="0">
                <a:solidFill>
                  <a:srgbClr val="80649B"/>
                </a:solidFill>
                <a:latin typeface="Playfair Display"/>
                <a:ea typeface="Playfair Display"/>
                <a:cs typeface="Playfair Display"/>
              </a:defRPr>
            </a:pPr>
            <a:r>
              <a:rPr sz="1904" b="0">
                <a:solidFill>
                  <a:srgbClr val="80649B"/>
                </a:solidFill>
                <a:latin typeface="Playfair Display"/>
                <a:ea typeface="Playfair Display"/>
                <a:cs typeface="Playfair Display"/>
              </a:rPr>
              <a:t>Cobertura, stock,</a:t>
            </a:r>
          </a:p>
          <a:p xmlns:a="http://schemas.openxmlformats.org/drawingml/2006/main">
            <a:pPr>
              <a:buNone/>
              <a:defRPr sz="1904" b="0">
                <a:solidFill>
                  <a:srgbClr val="80649B"/>
                </a:solidFill>
                <a:latin typeface="Playfair Display"/>
                <a:ea typeface="Playfair Display"/>
                <a:cs typeface="Playfair Display"/>
              </a:defRPr>
            </a:pPr>
            <a:r>
              <a:rPr sz="1904" b="0">
                <a:solidFill>
                  <a:srgbClr val="80649B"/>
                </a:solidFill>
                <a:latin typeface="Playfair Display"/>
                <a:ea typeface="Playfair Display"/>
                <a:cs typeface="Playfair Display"/>
              </a:rPr>
              <a:t>permisos y transiciones</a:t>
            </a:r>
          </a:p>
        </p:txBody>
      </p:sp>
      <p:sp>
        <p:nvSpPr>
          <p:cNvPr id="14" name="text-13">
            <a:extLst xmlns:a="http://schemas.openxmlformats.org/drawingml/2006/main">
              <a:ext uri="{FF2B5EF4-FFF2-40B4-BE49-F238E27FC236}">
                <a16:creationId xmlns:a16="http://schemas.microsoft.com/office/drawing/2014/main" id="{514372B6-1803-4B09-BF65-D29E8F1D445A}"/>
              </a:ext>
            </a:extLst>
          </p:cNvPr>
          <p:cNvSpPr>
            <a:spLocks xmlns:a="http://schemas.openxmlformats.org/drawingml/2006/main" noGrp="1"/>
          </p:cNvSpPr>
          <p:nvPr/>
        </p:nvSpPr>
        <p:spPr>
          <a:xfrm xmlns:a="http://schemas.openxmlformats.org/drawingml/2006/main">
            <a:off x="619125" y="56292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63" b="0">
                <a:solidFill>
                  <a:srgbClr val="514E58"/>
                </a:solidFill>
                <a:latin typeface="Comfortaa"/>
                <a:ea typeface="Comfortaa"/>
                <a:cs typeface="Comfortaa"/>
              </a:defRPr>
            </a:defPPr>
          </a:lstStyle>
          <a:p xmlns:a="http://schemas.openxmlformats.org/drawingml/2006/main">
            <a:pPr>
              <a:buNone/>
              <a:defRPr sz="1763" b="0">
                <a:solidFill>
                  <a:srgbClr val="514E58"/>
                </a:solidFill>
                <a:latin typeface="Comfortaa"/>
                <a:ea typeface="Comfortaa"/>
                <a:cs typeface="Comfortaa"/>
              </a:defRPr>
            </a:pPr>
            <a:r>
              <a:rPr sz="1763" b="0">
                <a:solidFill>
                  <a:srgbClr val="514E58"/>
                </a:solidFill>
                <a:latin typeface="Comfortaa"/>
                <a:ea typeface="Comfortaa"/>
                <a:cs typeface="Comfortaa"/>
              </a:rPr>
              <a:t>Seguimiento registra el GPS. Documentos guarda archivos. El folio conecta toda la operación.</a:t>
            </a:r>
          </a:p>
        </p:txBody>
      </p:sp>
    </p:spTree>
    <p:extLst>
      <p:ext uri="{BB962C8B-B14F-4D97-AF65-F5344CB8AC3E}">
        <p14:creationId xmlns:p14="http://schemas.microsoft.com/office/powerpoint/2010/main" val="1339283149"/>
      </p:ext>
    </p:extLst>
  </p:cSld>
</p:sld>
</file>

<file path=ppt/slides/slide15.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778EE4F-B71D-4AAA-AC3E-2B79281C401A}"/>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Secuencia del cierre y comunicación</a:t>
            </a:r>
          </a:p>
        </p:txBody>
      </p:sp>
      <p:sp>
        <p:nvSpPr>
          <p:cNvPr id="2" name="text-1">
            <a:extLst xmlns:a="http://schemas.openxmlformats.org/drawingml/2006/main">
              <a:ext uri="{FF2B5EF4-FFF2-40B4-BE49-F238E27FC236}">
                <a16:creationId xmlns:a16="http://schemas.microsoft.com/office/drawing/2014/main" id="{57E09425-2843-407F-A90C-0F6DA9B598BA}"/>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38785D1B-1431-4024-B94A-C77F0B1D1270}"/>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15</a:t>
            </a:r>
          </a:p>
        </p:txBody>
      </p:sp>
      <p:sp>
        <p:nvSpPr>
          <p:cNvPr id="4" name="Rectangle 3">
            <a:extLst xmlns:a="http://schemas.openxmlformats.org/drawingml/2006/main">
              <a:ext uri="{FF2B5EF4-FFF2-40B4-BE49-F238E27FC236}">
                <a16:creationId xmlns:a16="http://schemas.microsoft.com/office/drawing/2014/main" id="{62752722-A2CF-4BBA-A4B3-FBB7C676B4E7}"/>
              </a:ext>
            </a:extLst>
          </p:cNvPr>
          <p:cNvSpPr>
            <a:spLocks xmlns:a="http://schemas.openxmlformats.org/drawingml/2006/main" noGrp="1"/>
          </p:cNvSpPr>
          <p:nvPr/>
        </p:nvSpPr>
        <p:spPr>
          <a:xfrm xmlns:a="http://schemas.openxmlformats.org/drawingml/2006/main">
            <a:off x="619125" y="1571625"/>
            <a:ext cx="2190750" cy="5238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Cliente HTTP</a:t>
            </a:r>
          </a:p>
        </p:txBody>
      </p:sp>
      <p:sp>
        <p:nvSpPr>
          <p:cNvPr id="5" name="Rectangle 4">
            <a:extLst xmlns:a="http://schemas.openxmlformats.org/drawingml/2006/main">
              <a:ext uri="{FF2B5EF4-FFF2-40B4-BE49-F238E27FC236}">
                <a16:creationId xmlns:a16="http://schemas.microsoft.com/office/drawing/2014/main" id="{F2C4A334-7837-4B91-8141-2B9BA338F831}"/>
              </a:ext>
            </a:extLst>
          </p:cNvPr>
          <p:cNvSpPr>
            <a:spLocks xmlns:a="http://schemas.openxmlformats.org/drawingml/2006/main" noGrp="1"/>
          </p:cNvSpPr>
          <p:nvPr/>
        </p:nvSpPr>
        <p:spPr>
          <a:xfrm xmlns:a="http://schemas.openxmlformats.org/drawingml/2006/main">
            <a:off x="3524250" y="1571625"/>
            <a:ext cx="2190750" cy="5238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Entregas</a:t>
            </a:r>
          </a:p>
        </p:txBody>
      </p:sp>
      <p:sp>
        <p:nvSpPr>
          <p:cNvPr id="6" name="Rectangle 5">
            <a:extLst xmlns:a="http://schemas.openxmlformats.org/drawingml/2006/main">
              <a:ext uri="{FF2B5EF4-FFF2-40B4-BE49-F238E27FC236}">
                <a16:creationId xmlns:a16="http://schemas.microsoft.com/office/drawing/2014/main" id="{E6E9E5AF-7059-47BD-8F7F-6A9D6274389C}"/>
              </a:ext>
            </a:extLst>
          </p:cNvPr>
          <p:cNvSpPr>
            <a:spLocks xmlns:a="http://schemas.openxmlformats.org/drawingml/2006/main" noGrp="1"/>
          </p:cNvSpPr>
          <p:nvPr/>
        </p:nvSpPr>
        <p:spPr>
          <a:xfrm xmlns:a="http://schemas.openxmlformats.org/drawingml/2006/main">
            <a:off x="6429375" y="1571625"/>
            <a:ext cx="2190750" cy="5238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Redis</a:t>
            </a:r>
          </a:p>
        </p:txBody>
      </p:sp>
      <p:sp>
        <p:nvSpPr>
          <p:cNvPr id="7" name="Rectangle 6">
            <a:extLst xmlns:a="http://schemas.openxmlformats.org/drawingml/2006/main">
              <a:ext uri="{FF2B5EF4-FFF2-40B4-BE49-F238E27FC236}">
                <a16:creationId xmlns:a16="http://schemas.microsoft.com/office/drawing/2014/main" id="{11A6DCED-8042-4E60-A330-A0E7B49EC011}"/>
              </a:ext>
            </a:extLst>
          </p:cNvPr>
          <p:cNvSpPr>
            <a:spLocks xmlns:a="http://schemas.openxmlformats.org/drawingml/2006/main" noGrp="1"/>
          </p:cNvSpPr>
          <p:nvPr/>
        </p:nvSpPr>
        <p:spPr>
          <a:xfrm xmlns:a="http://schemas.openxmlformats.org/drawingml/2006/main">
            <a:off x="9334500" y="1571625"/>
            <a:ext cx="2190750" cy="523875"/>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PostgreSQL</a:t>
            </a:r>
          </a:p>
        </p:txBody>
      </p:sp>
      <p:cxnSp>
        <p:nvCxnSpPr>
          <p:cNvPr id="8" name="Straight Arrow Connector 7">
            <a:extLst xmlns:a="http://schemas.openxmlformats.org/drawingml/2006/main">
              <a:ext uri="{FF2B5EF4-FFF2-40B4-BE49-F238E27FC236}">
                <a16:creationId xmlns:a16="http://schemas.microsoft.com/office/drawing/2014/main" id="{46F3F7FF-C66A-45A3-97B0-E5A073CA2DC3}"/>
              </a:ext>
            </a:extLst>
          </p:cNvPr>
          <p:cNvCxnSpPr/>
          <p:nvPr/>
        </p:nvCxnSpPr>
        <p:spPr>
          <a:xfrm xmlns:a="http://schemas.openxmlformats.org/drawingml/2006/main">
            <a:off x="1714500" y="2686050"/>
            <a:ext cx="290512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sp>
        <p:nvSpPr>
          <p:cNvPr id="9" name="text-8">
            <a:extLst xmlns:a="http://schemas.openxmlformats.org/drawingml/2006/main">
              <a:ext uri="{FF2B5EF4-FFF2-40B4-BE49-F238E27FC236}">
                <a16:creationId xmlns:a16="http://schemas.microsoft.com/office/drawing/2014/main" id="{3717ADC7-7A9A-41AA-B893-F36973A589DB}"/>
              </a:ext>
            </a:extLst>
          </p:cNvPr>
          <p:cNvSpPr>
            <a:spLocks xmlns:a="http://schemas.openxmlformats.org/drawingml/2006/main" noGrp="1"/>
          </p:cNvSpPr>
          <p:nvPr/>
        </p:nvSpPr>
        <p:spPr>
          <a:xfrm xmlns:a="http://schemas.openxmlformats.org/drawingml/2006/main">
            <a:off x="1762125" y="2305050"/>
            <a:ext cx="3857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80649B"/>
                </a:solidFill>
                <a:latin typeface="Playfair Display"/>
                <a:ea typeface="Playfair Display"/>
                <a:cs typeface="Playfair Display"/>
              </a:defRPr>
            </a:defPPr>
          </a:lstStyle>
          <a:p xmlns:a="http://schemas.openxmlformats.org/drawingml/2006/main">
            <a:pPr>
              <a:buNone/>
              <a:defRPr sz="1410" b="0">
                <a:solidFill>
                  <a:srgbClr val="80649B"/>
                </a:solidFill>
                <a:latin typeface="Playfair Display"/>
                <a:ea typeface="Playfair Display"/>
                <a:cs typeface="Playfair Display"/>
              </a:defRPr>
            </a:pPr>
            <a:r>
              <a:rPr sz="1410" b="0">
                <a:solidFill>
                  <a:srgbClr val="80649B"/>
                </a:solidFill>
                <a:latin typeface="Playfair Display"/>
                <a:ea typeface="Playfair Display"/>
                <a:cs typeface="Playfair Display"/>
              </a:rPr>
              <a:t>1. POST resultado</a:t>
            </a:r>
          </a:p>
        </p:txBody>
      </p:sp>
      <p:cxnSp>
        <p:nvCxnSpPr>
          <p:cNvPr id="10" name="Straight Arrow Connector 9">
            <a:extLst xmlns:a="http://schemas.openxmlformats.org/drawingml/2006/main">
              <a:ext uri="{FF2B5EF4-FFF2-40B4-BE49-F238E27FC236}">
                <a16:creationId xmlns:a16="http://schemas.microsoft.com/office/drawing/2014/main" id="{24C9B487-402D-4AA3-B6DF-849320506C64}"/>
              </a:ext>
            </a:extLst>
          </p:cNvPr>
          <p:cNvCxnSpPr/>
          <p:nvPr/>
        </p:nvCxnSpPr>
        <p:spPr>
          <a:xfrm xmlns:a="http://schemas.openxmlformats.org/drawingml/2006/main">
            <a:off x="4619625" y="3333750"/>
            <a:ext cx="290512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sp>
        <p:nvSpPr>
          <p:cNvPr id="11" name="text-10">
            <a:extLst xmlns:a="http://schemas.openxmlformats.org/drawingml/2006/main">
              <a:ext uri="{FF2B5EF4-FFF2-40B4-BE49-F238E27FC236}">
                <a16:creationId xmlns:a16="http://schemas.microsoft.com/office/drawing/2014/main" id="{B5D9B7EC-4324-47CA-9DCB-F82458212194}"/>
              </a:ext>
            </a:extLst>
          </p:cNvPr>
          <p:cNvSpPr>
            <a:spLocks xmlns:a="http://schemas.openxmlformats.org/drawingml/2006/main" noGrp="1"/>
          </p:cNvSpPr>
          <p:nvPr/>
        </p:nvSpPr>
        <p:spPr>
          <a:xfrm xmlns:a="http://schemas.openxmlformats.org/drawingml/2006/main">
            <a:off x="4667250" y="2952750"/>
            <a:ext cx="3857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80649B"/>
                </a:solidFill>
                <a:latin typeface="Playfair Display"/>
                <a:ea typeface="Playfair Display"/>
                <a:cs typeface="Playfair Display"/>
              </a:defRPr>
            </a:defPPr>
          </a:lstStyle>
          <a:p xmlns:a="http://schemas.openxmlformats.org/drawingml/2006/main">
            <a:pPr>
              <a:buNone/>
              <a:defRPr sz="1410" b="0">
                <a:solidFill>
                  <a:srgbClr val="80649B"/>
                </a:solidFill>
                <a:latin typeface="Playfair Display"/>
                <a:ea typeface="Playfair Display"/>
                <a:cs typeface="Playfair Display"/>
              </a:defRPr>
            </a:pPr>
            <a:r>
              <a:rPr sz="1410" b="0">
                <a:solidFill>
                  <a:srgbClr val="80649B"/>
                </a:solidFill>
                <a:latin typeface="Playfair Display"/>
                <a:ea typeface="Playfair Display"/>
                <a:cs typeface="Playfair Display"/>
              </a:rPr>
              <a:t>2. Sesión y revocación</a:t>
            </a:r>
          </a:p>
        </p:txBody>
      </p:sp>
      <p:cxnSp>
        <p:nvCxnSpPr>
          <p:cNvPr id="12" name="Straight Arrow Connector 11">
            <a:extLst xmlns:a="http://schemas.openxmlformats.org/drawingml/2006/main">
              <a:ext uri="{FF2B5EF4-FFF2-40B4-BE49-F238E27FC236}">
                <a16:creationId xmlns:a16="http://schemas.microsoft.com/office/drawing/2014/main" id="{03F5F07F-3AC0-4787-A87F-66C304768499}"/>
              </a:ext>
            </a:extLst>
          </p:cNvPr>
          <p:cNvCxnSpPr/>
          <p:nvPr/>
        </p:nvCxnSpPr>
        <p:spPr>
          <a:xfrm xmlns:a="http://schemas.openxmlformats.org/drawingml/2006/main">
            <a:off x="4619625" y="4038600"/>
            <a:ext cx="5810250"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sp>
        <p:nvSpPr>
          <p:cNvPr id="13" name="text-12">
            <a:extLst xmlns:a="http://schemas.openxmlformats.org/drawingml/2006/main">
              <a:ext uri="{FF2B5EF4-FFF2-40B4-BE49-F238E27FC236}">
                <a16:creationId xmlns:a16="http://schemas.microsoft.com/office/drawing/2014/main" id="{DFFA0203-0301-45A6-9DA4-064DF538F241}"/>
              </a:ext>
            </a:extLst>
          </p:cNvPr>
          <p:cNvSpPr>
            <a:spLocks xmlns:a="http://schemas.openxmlformats.org/drawingml/2006/main" noGrp="1"/>
          </p:cNvSpPr>
          <p:nvPr/>
        </p:nvSpPr>
        <p:spPr>
          <a:xfrm xmlns:a="http://schemas.openxmlformats.org/drawingml/2006/main">
            <a:off x="4667250" y="3657600"/>
            <a:ext cx="6762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80649B"/>
                </a:solidFill>
                <a:latin typeface="Playfair Display"/>
                <a:ea typeface="Playfair Display"/>
                <a:cs typeface="Playfair Display"/>
              </a:defRPr>
            </a:defPPr>
          </a:lstStyle>
          <a:p xmlns:a="http://schemas.openxmlformats.org/drawingml/2006/main">
            <a:pPr>
              <a:buNone/>
              <a:defRPr sz="1410" b="0">
                <a:solidFill>
                  <a:srgbClr val="80649B"/>
                </a:solidFill>
                <a:latin typeface="Playfair Display"/>
                <a:ea typeface="Playfair Display"/>
                <a:cs typeface="Playfair Display"/>
              </a:defRPr>
            </a:pPr>
            <a:r>
              <a:rPr sz="1410" b="0">
                <a:solidFill>
                  <a:srgbClr val="80649B"/>
                </a:solidFill>
                <a:latin typeface="Playfair Display"/>
                <a:ea typeface="Playfair Display"/>
                <a:cs typeface="Playfair Display"/>
              </a:rPr>
              <a:t>3. Transacción, historial y aviso</a:t>
            </a:r>
          </a:p>
        </p:txBody>
      </p:sp>
      <p:cxnSp>
        <p:nvCxnSpPr>
          <p:cNvPr id="14" name="Straight Arrow Connector 13">
            <a:extLst xmlns:a="http://schemas.openxmlformats.org/drawingml/2006/main">
              <a:ext uri="{FF2B5EF4-FFF2-40B4-BE49-F238E27FC236}">
                <a16:creationId xmlns:a16="http://schemas.microsoft.com/office/drawing/2014/main" id="{3AD64DB7-8373-42A9-8AE7-59056BBF432D}"/>
              </a:ext>
            </a:extLst>
          </p:cNvPr>
          <p:cNvCxnSpPr/>
          <p:nvPr/>
        </p:nvCxnSpPr>
        <p:spPr>
          <a:xfrm xmlns:a="http://schemas.openxmlformats.org/drawingml/2006/main">
            <a:off x="4619625" y="4714875"/>
            <a:ext cx="5810250" cy="0"/>
          </a:xfrm>
          <a:prstGeom xmlns:a="http://schemas.openxmlformats.org/drawingml/2006/main" prst="straightConnector1">
            <a:avLst/>
          </a:prstGeom>
          <a:ln xmlns:a="http://schemas.openxmlformats.org/drawingml/2006/main" w="14288">
            <a:solidFill>
              <a:srgbClr val="9C89AE"/>
            </a:solidFill>
            <a:prstDash val="solid"/>
            <a:headEnd type="triangle" w="med" len="med"/>
          </a:ln>
        </p:spPr>
      </p:cxnSp>
      <p:sp>
        <p:nvSpPr>
          <p:cNvPr id="15" name="text-14">
            <a:extLst xmlns:a="http://schemas.openxmlformats.org/drawingml/2006/main">
              <a:ext uri="{FF2B5EF4-FFF2-40B4-BE49-F238E27FC236}">
                <a16:creationId xmlns:a16="http://schemas.microsoft.com/office/drawing/2014/main" id="{95C9B1EA-14A1-4247-B2E1-5E584CC47CA4}"/>
              </a:ext>
            </a:extLst>
          </p:cNvPr>
          <p:cNvSpPr>
            <a:spLocks xmlns:a="http://schemas.openxmlformats.org/drawingml/2006/main" noGrp="1"/>
          </p:cNvSpPr>
          <p:nvPr/>
        </p:nvSpPr>
        <p:spPr>
          <a:xfrm xmlns:a="http://schemas.openxmlformats.org/drawingml/2006/main">
            <a:off x="4667250" y="4333875"/>
            <a:ext cx="6762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80649B"/>
                </a:solidFill>
                <a:latin typeface="Playfair Display"/>
                <a:ea typeface="Playfair Display"/>
                <a:cs typeface="Playfair Display"/>
              </a:defRPr>
            </a:defPPr>
          </a:lstStyle>
          <a:p xmlns:a="http://schemas.openxmlformats.org/drawingml/2006/main">
            <a:pPr>
              <a:buNone/>
              <a:defRPr sz="1410" b="0">
                <a:solidFill>
                  <a:srgbClr val="80649B"/>
                </a:solidFill>
                <a:latin typeface="Playfair Display"/>
                <a:ea typeface="Playfair Display"/>
                <a:cs typeface="Playfair Display"/>
              </a:defRPr>
            </a:pPr>
            <a:r>
              <a:rPr sz="1410" b="0">
                <a:solidFill>
                  <a:srgbClr val="80649B"/>
                </a:solidFill>
                <a:latin typeface="Playfair Display"/>
                <a:ea typeface="Playfair Display"/>
                <a:cs typeface="Playfair Display"/>
              </a:rPr>
              <a:t>4. Estado confirmado</a:t>
            </a:r>
          </a:p>
        </p:txBody>
      </p:sp>
      <p:cxnSp>
        <p:nvCxnSpPr>
          <p:cNvPr id="16" name="Straight Arrow Connector 15">
            <a:extLst xmlns:a="http://schemas.openxmlformats.org/drawingml/2006/main">
              <a:ext uri="{FF2B5EF4-FFF2-40B4-BE49-F238E27FC236}">
                <a16:creationId xmlns:a16="http://schemas.microsoft.com/office/drawing/2014/main" id="{0CE24B07-B928-4DC8-8845-B42FDE2AA43E}"/>
              </a:ext>
            </a:extLst>
          </p:cNvPr>
          <p:cNvCxnSpPr/>
          <p:nvPr/>
        </p:nvCxnSpPr>
        <p:spPr>
          <a:xfrm xmlns:a="http://schemas.openxmlformats.org/drawingml/2006/main">
            <a:off x="1714500" y="5362575"/>
            <a:ext cx="2905125" cy="0"/>
          </a:xfrm>
          <a:prstGeom xmlns:a="http://schemas.openxmlformats.org/drawingml/2006/main" prst="straightConnector1">
            <a:avLst/>
          </a:prstGeom>
          <a:ln xmlns:a="http://schemas.openxmlformats.org/drawingml/2006/main" w="14288">
            <a:solidFill>
              <a:srgbClr val="9C89AE"/>
            </a:solidFill>
            <a:prstDash val="solid"/>
            <a:headEnd type="triangle" w="med" len="med"/>
          </a:ln>
        </p:spPr>
      </p:cxnSp>
      <p:sp>
        <p:nvSpPr>
          <p:cNvPr id="17" name="text-16">
            <a:extLst xmlns:a="http://schemas.openxmlformats.org/drawingml/2006/main">
              <a:ext uri="{FF2B5EF4-FFF2-40B4-BE49-F238E27FC236}">
                <a16:creationId xmlns:a16="http://schemas.microsoft.com/office/drawing/2014/main" id="{37CF218D-1AA9-4165-B148-0ACB03797A61}"/>
              </a:ext>
            </a:extLst>
          </p:cNvPr>
          <p:cNvSpPr>
            <a:spLocks xmlns:a="http://schemas.openxmlformats.org/drawingml/2006/main" noGrp="1"/>
          </p:cNvSpPr>
          <p:nvPr/>
        </p:nvSpPr>
        <p:spPr>
          <a:xfrm xmlns:a="http://schemas.openxmlformats.org/drawingml/2006/main">
            <a:off x="1762125" y="4981575"/>
            <a:ext cx="3857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80649B"/>
                </a:solidFill>
                <a:latin typeface="Playfair Display"/>
                <a:ea typeface="Playfair Display"/>
                <a:cs typeface="Playfair Display"/>
              </a:defRPr>
            </a:defPPr>
          </a:lstStyle>
          <a:p xmlns:a="http://schemas.openxmlformats.org/drawingml/2006/main">
            <a:pPr>
              <a:buNone/>
              <a:defRPr sz="1410" b="0">
                <a:solidFill>
                  <a:srgbClr val="80649B"/>
                </a:solidFill>
                <a:latin typeface="Playfair Display"/>
                <a:ea typeface="Playfair Display"/>
                <a:cs typeface="Playfair Display"/>
              </a:defRPr>
            </a:pPr>
            <a:r>
              <a:rPr sz="1410" b="0">
                <a:solidFill>
                  <a:srgbClr val="80649B"/>
                </a:solidFill>
                <a:latin typeface="Playfair Display"/>
                <a:ea typeface="Playfair Display"/>
                <a:cs typeface="Playfair Display"/>
              </a:rPr>
              <a:t>5. HTTP 201 / 200 al repetir</a:t>
            </a:r>
          </a:p>
        </p:txBody>
      </p:sp>
      <p:sp>
        <p:nvSpPr>
          <p:cNvPr id="18" name="text-17">
            <a:extLst xmlns:a="http://schemas.openxmlformats.org/drawingml/2006/main">
              <a:ext uri="{FF2B5EF4-FFF2-40B4-BE49-F238E27FC236}">
                <a16:creationId xmlns:a16="http://schemas.microsoft.com/office/drawing/2014/main" id="{5F55EF10-0DCF-41DB-9DC3-A56C99008606}"/>
              </a:ext>
            </a:extLst>
          </p:cNvPr>
          <p:cNvSpPr>
            <a:spLocks xmlns:a="http://schemas.openxmlformats.org/drawingml/2006/main" noGrp="1"/>
          </p:cNvSpPr>
          <p:nvPr/>
        </p:nvSpPr>
        <p:spPr>
          <a:xfrm xmlns:a="http://schemas.openxmlformats.org/drawingml/2006/main">
            <a:off x="619125" y="581025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10" b="0">
                <a:solidFill>
                  <a:srgbClr val="514E58"/>
                </a:solidFill>
                <a:latin typeface="Comfortaa"/>
                <a:ea typeface="Comfortaa"/>
                <a:cs typeface="Comfortaa"/>
              </a:defRPr>
            </a:defPPr>
          </a:lstStyle>
          <a:p xmlns:a="http://schemas.openxmlformats.org/drawingml/2006/main">
            <a:pPr>
              <a:buNone/>
              <a:defRPr sz="1410" b="0">
                <a:solidFill>
                  <a:srgbClr val="514E58"/>
                </a:solidFill>
                <a:latin typeface="Comfortaa"/>
                <a:ea typeface="Comfortaa"/>
                <a:cs typeface="Comfortaa"/>
              </a:defRPr>
            </a:pPr>
            <a:r>
              <a:rPr sz="1410" b="0">
                <a:solidFill>
                  <a:srgbClr val="514E58"/>
                </a:solidFill>
                <a:latin typeface="Comfortaa"/>
                <a:ea typeface="Comfortaa"/>
                <a:cs typeface="Comfortaa"/>
              </a:rPr>
              <a:t>El trigger crea el aviso en PostgreSQL. Seguimiento guarda GPS en MongoDB, sin transacción global.</a:t>
            </a:r>
          </a:p>
        </p:txBody>
      </p:sp>
    </p:spTree>
    <p:extLst>
      <p:ext uri="{BB962C8B-B14F-4D97-AF65-F5344CB8AC3E}">
        <p14:creationId xmlns:p14="http://schemas.microsoft.com/office/powerpoint/2010/main" val="1082610380"/>
      </p:ext>
    </p:extLst>
  </p:cSld>
</p:sld>
</file>

<file path=ppt/slides/slide16.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4F202E7-0A51-4C35-84DC-6FC376A16468}"/>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Cada almacén tiene una función</a:t>
            </a:r>
          </a:p>
        </p:txBody>
      </p:sp>
      <p:sp>
        <p:nvSpPr>
          <p:cNvPr id="2" name="text-1">
            <a:extLst xmlns:a="http://schemas.openxmlformats.org/drawingml/2006/main">
              <a:ext uri="{FF2B5EF4-FFF2-40B4-BE49-F238E27FC236}">
                <a16:creationId xmlns:a16="http://schemas.microsoft.com/office/drawing/2014/main" id="{96772899-C083-4295-9852-FF99A7F0413B}"/>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73BD8BBF-BF4B-4AA8-9755-DA156E82DA38}"/>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16</a:t>
            </a:r>
          </a:p>
        </p:txBody>
      </p:sp>
      <p:sp>
        <p:nvSpPr>
          <p:cNvPr id="4" name="text-3">
            <a:extLst xmlns:a="http://schemas.openxmlformats.org/drawingml/2006/main">
              <a:ext uri="{FF2B5EF4-FFF2-40B4-BE49-F238E27FC236}">
                <a16:creationId xmlns:a16="http://schemas.microsoft.com/office/drawing/2014/main" id="{F45F60B1-62E6-4972-9FA5-61AA4244E6E1}"/>
              </a:ext>
            </a:extLst>
          </p:cNvPr>
          <p:cNvSpPr>
            <a:spLocks xmlns:a="http://schemas.openxmlformats.org/drawingml/2006/main" noGrp="1"/>
          </p:cNvSpPr>
          <p:nvPr/>
        </p:nvSpPr>
        <p:spPr>
          <a:xfrm xmlns:a="http://schemas.openxmlformats.org/drawingml/2006/main">
            <a:off x="61912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01</a:t>
            </a:r>
          </a:p>
        </p:txBody>
      </p:sp>
      <p:sp>
        <p:nvSpPr>
          <p:cNvPr id="5" name="text-4">
            <a:extLst xmlns:a="http://schemas.openxmlformats.org/drawingml/2006/main">
              <a:ext uri="{FF2B5EF4-FFF2-40B4-BE49-F238E27FC236}">
                <a16:creationId xmlns:a16="http://schemas.microsoft.com/office/drawing/2014/main" id="{669BFED5-98C9-460E-A001-188269B967F7}"/>
              </a:ext>
            </a:extLst>
          </p:cNvPr>
          <p:cNvSpPr>
            <a:spLocks xmlns:a="http://schemas.openxmlformats.org/drawingml/2006/main" noGrp="1"/>
          </p:cNvSpPr>
          <p:nvPr/>
        </p:nvSpPr>
        <p:spPr>
          <a:xfrm xmlns:a="http://schemas.openxmlformats.org/drawingml/2006/main">
            <a:off x="61912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PostgreSQL</a:t>
            </a:r>
          </a:p>
        </p:txBody>
      </p:sp>
      <p:sp>
        <p:nvSpPr>
          <p:cNvPr id="6" name="text-5">
            <a:extLst xmlns:a="http://schemas.openxmlformats.org/drawingml/2006/main">
              <a:ext uri="{FF2B5EF4-FFF2-40B4-BE49-F238E27FC236}">
                <a16:creationId xmlns:a16="http://schemas.microsoft.com/office/drawing/2014/main" id="{4BFD092D-91C3-40F9-A586-18D86169FADF}"/>
              </a:ext>
            </a:extLst>
          </p:cNvPr>
          <p:cNvSpPr>
            <a:spLocks xmlns:a="http://schemas.openxmlformats.org/drawingml/2006/main" noGrp="1"/>
          </p:cNvSpPr>
          <p:nvPr/>
        </p:nvSpPr>
        <p:spPr>
          <a:xfrm xmlns:a="http://schemas.openxmlformats.org/drawingml/2006/main">
            <a:off x="61912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Usuarios, permisos, inventario y pedidos.</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Relaciones, transacciones y auditoría.</a:t>
            </a:r>
          </a:p>
        </p:txBody>
      </p:sp>
      <p:sp>
        <p:nvSpPr>
          <p:cNvPr id="7" name="text-6">
            <a:extLst xmlns:a="http://schemas.openxmlformats.org/drawingml/2006/main">
              <a:ext uri="{FF2B5EF4-FFF2-40B4-BE49-F238E27FC236}">
                <a16:creationId xmlns:a16="http://schemas.microsoft.com/office/drawing/2014/main" id="{5338C9A0-8DD8-4CD7-86B3-66636EF8B3ED}"/>
              </a:ext>
            </a:extLst>
          </p:cNvPr>
          <p:cNvSpPr>
            <a:spLocks xmlns:a="http://schemas.openxmlformats.org/drawingml/2006/main" noGrp="1"/>
          </p:cNvSpPr>
          <p:nvPr/>
        </p:nvSpPr>
        <p:spPr>
          <a:xfrm xmlns:a="http://schemas.openxmlformats.org/drawingml/2006/main">
            <a:off x="433387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02</a:t>
            </a:r>
          </a:p>
        </p:txBody>
      </p:sp>
      <p:sp>
        <p:nvSpPr>
          <p:cNvPr id="8" name="text-7">
            <a:extLst xmlns:a="http://schemas.openxmlformats.org/drawingml/2006/main">
              <a:ext uri="{FF2B5EF4-FFF2-40B4-BE49-F238E27FC236}">
                <a16:creationId xmlns:a16="http://schemas.microsoft.com/office/drawing/2014/main" id="{3414F022-EC0B-45CE-9761-04B023F47CA7}"/>
              </a:ext>
            </a:extLst>
          </p:cNvPr>
          <p:cNvSpPr>
            <a:spLocks xmlns:a="http://schemas.openxmlformats.org/drawingml/2006/main" noGrp="1"/>
          </p:cNvSpPr>
          <p:nvPr/>
        </p:nvSpPr>
        <p:spPr>
          <a:xfrm xmlns:a="http://schemas.openxmlformats.org/drawingml/2006/main">
            <a:off x="433387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MongoDB</a:t>
            </a:r>
          </a:p>
        </p:txBody>
      </p:sp>
      <p:sp>
        <p:nvSpPr>
          <p:cNvPr id="9" name="text-8">
            <a:extLst xmlns:a="http://schemas.openxmlformats.org/drawingml/2006/main">
              <a:ext uri="{FF2B5EF4-FFF2-40B4-BE49-F238E27FC236}">
                <a16:creationId xmlns:a16="http://schemas.microsoft.com/office/drawing/2014/main" id="{BA3589AA-0EDC-453F-90CE-F9BA8B858D91}"/>
              </a:ext>
            </a:extLst>
          </p:cNvPr>
          <p:cNvSpPr>
            <a:spLocks xmlns:a="http://schemas.openxmlformats.org/drawingml/2006/main" noGrp="1"/>
          </p:cNvSpPr>
          <p:nvPr/>
        </p:nvSpPr>
        <p:spPr>
          <a:xfrm xmlns:a="http://schemas.openxmlformats.org/drawingml/2006/main">
            <a:off x="433387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Evidencias, GPS y simulaciones.</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Consultas, índices y agregaciones.</a:t>
            </a:r>
          </a:p>
        </p:txBody>
      </p:sp>
      <p:sp>
        <p:nvSpPr>
          <p:cNvPr id="10" name="text-9">
            <a:extLst xmlns:a="http://schemas.openxmlformats.org/drawingml/2006/main">
              <a:ext uri="{FF2B5EF4-FFF2-40B4-BE49-F238E27FC236}">
                <a16:creationId xmlns:a16="http://schemas.microsoft.com/office/drawing/2014/main" id="{9B4A13A6-7A22-485C-B119-2F2283EDDFA1}"/>
              </a:ext>
            </a:extLst>
          </p:cNvPr>
          <p:cNvSpPr>
            <a:spLocks xmlns:a="http://schemas.openxmlformats.org/drawingml/2006/main" noGrp="1"/>
          </p:cNvSpPr>
          <p:nvPr/>
        </p:nvSpPr>
        <p:spPr>
          <a:xfrm xmlns:a="http://schemas.openxmlformats.org/drawingml/2006/main">
            <a:off x="8048625" y="17526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20" b="0">
                <a:solidFill>
                  <a:srgbClr val="80649B"/>
                </a:solidFill>
                <a:latin typeface="Playfair Display"/>
                <a:ea typeface="Playfair Display"/>
                <a:cs typeface="Playfair Display"/>
              </a:defRPr>
            </a:defPPr>
          </a:lstStyle>
          <a:p xmlns:a="http://schemas.openxmlformats.org/drawingml/2006/main">
            <a:pPr>
              <a:buNone/>
              <a:defRPr sz="2820" b="0">
                <a:solidFill>
                  <a:srgbClr val="80649B"/>
                </a:solidFill>
                <a:latin typeface="Playfair Display"/>
                <a:ea typeface="Playfair Display"/>
                <a:cs typeface="Playfair Display"/>
              </a:defRPr>
            </a:pPr>
            <a:r>
              <a:rPr sz="2820" b="0">
                <a:solidFill>
                  <a:srgbClr val="80649B"/>
                </a:solidFill>
                <a:latin typeface="Playfair Display"/>
                <a:ea typeface="Playfair Display"/>
                <a:cs typeface="Playfair Display"/>
              </a:rPr>
              <a:t>03</a:t>
            </a:r>
          </a:p>
        </p:txBody>
      </p:sp>
      <p:sp>
        <p:nvSpPr>
          <p:cNvPr id="11" name="text-10">
            <a:extLst xmlns:a="http://schemas.openxmlformats.org/drawingml/2006/main">
              <a:ext uri="{FF2B5EF4-FFF2-40B4-BE49-F238E27FC236}">
                <a16:creationId xmlns:a16="http://schemas.microsoft.com/office/drawing/2014/main" id="{D22A900C-AB96-4184-A83E-A87AE125FA7F}"/>
              </a:ext>
            </a:extLst>
          </p:cNvPr>
          <p:cNvSpPr>
            <a:spLocks xmlns:a="http://schemas.openxmlformats.org/drawingml/2006/main" noGrp="1"/>
          </p:cNvSpPr>
          <p:nvPr/>
        </p:nvSpPr>
        <p:spPr>
          <a:xfrm xmlns:a="http://schemas.openxmlformats.org/drawingml/2006/main">
            <a:off x="8048625" y="25717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80649B"/>
                </a:solidFill>
                <a:latin typeface="Playfair Display"/>
                <a:ea typeface="Playfair Display"/>
                <a:cs typeface="Playfair Display"/>
              </a:defRPr>
            </a:defPPr>
          </a:lstStyle>
          <a:p xmlns:a="http://schemas.openxmlformats.org/drawingml/2006/main">
            <a:pPr>
              <a:buNone/>
              <a:defRPr sz="2044" b="0">
                <a:solidFill>
                  <a:srgbClr val="80649B"/>
                </a:solidFill>
                <a:latin typeface="Playfair Display"/>
                <a:ea typeface="Playfair Display"/>
                <a:cs typeface="Playfair Display"/>
              </a:defRPr>
            </a:pPr>
            <a:r>
              <a:rPr sz="2044" b="0">
                <a:solidFill>
                  <a:srgbClr val="80649B"/>
                </a:solidFill>
                <a:latin typeface="Playfair Display"/>
                <a:ea typeface="Playfair Display"/>
                <a:cs typeface="Playfair Display"/>
              </a:rPr>
              <a:t>Redis</a:t>
            </a:r>
          </a:p>
        </p:txBody>
      </p:sp>
      <p:sp>
        <p:nvSpPr>
          <p:cNvPr id="12" name="text-11">
            <a:extLst xmlns:a="http://schemas.openxmlformats.org/drawingml/2006/main">
              <a:ext uri="{FF2B5EF4-FFF2-40B4-BE49-F238E27FC236}">
                <a16:creationId xmlns:a16="http://schemas.microsoft.com/office/drawing/2014/main" id="{9BB64382-985B-4693-904A-5E8ED5B3AFB0}"/>
              </a:ext>
            </a:extLst>
          </p:cNvPr>
          <p:cNvSpPr>
            <a:spLocks xmlns:a="http://schemas.openxmlformats.org/drawingml/2006/main" noGrp="1"/>
          </p:cNvSpPr>
          <p:nvPr/>
        </p:nvSpPr>
        <p:spPr>
          <a:xfrm xmlns:a="http://schemas.openxmlformats.org/drawingml/2006/main">
            <a:off x="8048625" y="3362325"/>
            <a:ext cx="319087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Sesiones, revocación y caché.</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Contadores, límites y expiración.</a:t>
            </a:r>
          </a:p>
        </p:txBody>
      </p:sp>
      <p:pic>
        <p:nvPicPr>
          <p:cNvPr id="14" name="">
            <a:extLst xmlns:a="http://schemas.openxmlformats.org/drawingml/2006/main">
              <a:ext uri="{FF2B5EF4-FFF2-40B4-BE49-F238E27FC236}">
                <a16:creationId xmlns:a16="http://schemas.microsoft.com/office/drawing/2014/main" id="{D27C7A04-D6BE-4830-B177-462C979E70F1}"/>
              </a:ext>
            </a:extLst>
          </p:cNvPr>
          <p:cNvPicPr>
            <a:picLocks xmlns:a="http://schemas.openxmlformats.org/drawingml/2006/main" noChangeAspect="1"/>
          </p:cNvPicPr>
          <p:nvPr/>
        </p:nvPicPr>
        <p:blipFill>
          <a:blip xmlns:r="http://schemas.openxmlformats.org/officeDocument/2006/relationships" xmlns:a="http://schemas.openxmlformats.org/drawingml/2006/main" r:embed="Rb1466ec57e674731"/>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369332937"/>
      </p:ext>
    </p:extLst>
  </p:cSld>
</p:sld>
</file>

<file path=ppt/slides/slide17.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cxnSp>
        <p:nvCxnSpPr>
          <p:cNvPr id="14" name="Connector: Elbow 13">
            <a:extLst xmlns:a="http://schemas.openxmlformats.org/drawingml/2006/main">
              <a:ext uri="{FF2B5EF4-FFF2-40B4-BE49-F238E27FC236}">
                <a16:creationId xmlns:a16="http://schemas.microsoft.com/office/drawing/2014/main" id="{7C8A8758-9825-43B9-8D8D-28AD11FA7E35}"/>
              </a:ext>
            </a:extLst>
          </p:cNvPr>
          <p:cNvCxnSpPr>
            <a:stCxn xmlns:a="http://schemas.openxmlformats.org/drawingml/2006/main" id="8" idx="2"/>
            <a:endCxn xmlns:a="http://schemas.openxmlformats.org/drawingml/2006/main" id="9" idx="2"/>
          </p:cNvCxnSpPr>
          <p:nvPr/>
        </p:nvCxnSpPr>
        <p:spPr>
          <a:xfrm xmlns:a="http://schemas.openxmlformats.org/drawingml/2006/main">
            <a:off x="1905000" y="4000500"/>
            <a:ext cx="8286750" cy="228600"/>
          </a:xfrm>
          <a:prstGeom xmlns:a="http://schemas.openxmlformats.org/drawingml/2006/main" prst="bentConnector4">
            <a:avLst/>
          </a:prstGeom>
          <a:ln xmlns:a="http://schemas.openxmlformats.org/drawingml/2006/main" w="14288">
            <a:solidFill>
              <a:srgbClr val="9C89AE"/>
            </a:solidFill>
            <a:prstDash val="solid"/>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F16FB51E-7AEF-42F4-BB9C-BA9388D50F0E}"/>
              </a:ext>
            </a:extLst>
          </p:cNvPr>
          <p:cNvCxnSpPr>
            <a:stCxn xmlns:a="http://schemas.openxmlformats.org/drawingml/2006/main" id="8" idx="3"/>
            <a:endCxn xmlns:a="http://schemas.openxmlformats.org/drawingml/2006/main" id="7" idx="1"/>
          </p:cNvCxnSpPr>
          <p:nvPr/>
        </p:nvCxnSpPr>
        <p:spPr>
          <a:xfrm xmlns:a="http://schemas.openxmlformats.org/drawingml/2006/main">
            <a:off x="3190875" y="3667125"/>
            <a:ext cx="157162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739A4554-1B37-4348-9E7A-DAF979F8FF01}"/>
              </a:ext>
            </a:extLst>
          </p:cNvPr>
          <p:cNvCxnSpPr>
            <a:stCxn xmlns:a="http://schemas.openxmlformats.org/drawingml/2006/main" id="5" idx="2"/>
            <a:endCxn xmlns:a="http://schemas.openxmlformats.org/drawingml/2006/main" id="7" idx="0"/>
          </p:cNvCxnSpPr>
          <p:nvPr/>
        </p:nvCxnSpPr>
        <p:spPr>
          <a:xfrm xmlns:a="http://schemas.openxmlformats.org/drawingml/2006/main">
            <a:off x="6048375" y="2286000"/>
            <a:ext cx="0" cy="104775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8009EDB9-3685-47D8-84B7-EACAD20E48E3}"/>
              </a:ext>
            </a:extLst>
          </p:cNvPr>
          <p:cNvCxnSpPr>
            <a:stCxn xmlns:a="http://schemas.openxmlformats.org/drawingml/2006/main" id="5" idx="3"/>
            <a:endCxn xmlns:a="http://schemas.openxmlformats.org/drawingml/2006/main" id="6" idx="1"/>
          </p:cNvCxnSpPr>
          <p:nvPr/>
        </p:nvCxnSpPr>
        <p:spPr>
          <a:xfrm xmlns:a="http://schemas.openxmlformats.org/drawingml/2006/main">
            <a:off x="7334250" y="1952625"/>
            <a:ext cx="157162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cxnSp>
        <p:nvCxnSpPr>
          <p:cNvPr id="10" name="Straight Arrow Connector 9">
            <a:extLst xmlns:a="http://schemas.openxmlformats.org/drawingml/2006/main">
              <a:ext uri="{FF2B5EF4-FFF2-40B4-BE49-F238E27FC236}">
                <a16:creationId xmlns:a16="http://schemas.microsoft.com/office/drawing/2014/main" id="{F7235A04-167E-4CC5-9283-7A922BD85BD6}"/>
              </a:ext>
            </a:extLst>
          </p:cNvPr>
          <p:cNvCxnSpPr>
            <a:stCxn xmlns:a="http://schemas.openxmlformats.org/drawingml/2006/main" id="4" idx="3"/>
            <a:endCxn xmlns:a="http://schemas.openxmlformats.org/drawingml/2006/main" id="5" idx="1"/>
          </p:cNvCxnSpPr>
          <p:nvPr/>
        </p:nvCxnSpPr>
        <p:spPr>
          <a:xfrm xmlns:a="http://schemas.openxmlformats.org/drawingml/2006/main">
            <a:off x="3190875" y="1952625"/>
            <a:ext cx="1571625" cy="0"/>
          </a:xfrm>
          <a:prstGeom xmlns:a="http://schemas.openxmlformats.org/drawingml/2006/main" prst="straightConnector1">
            <a:avLst/>
          </a:prstGeom>
          <a:ln xmlns:a="http://schemas.openxmlformats.org/drawingml/2006/main" w="14288">
            <a:solidFill>
              <a:srgbClr val="9C89AE"/>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44D29248-8DF6-4FCB-BD04-1EBA85F6CBB6}"/>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Modelo lógico y físico de PostgreSQL</a:t>
            </a:r>
          </a:p>
        </p:txBody>
      </p:sp>
      <p:sp>
        <p:nvSpPr>
          <p:cNvPr id="2" name="text-1">
            <a:extLst xmlns:a="http://schemas.openxmlformats.org/drawingml/2006/main">
              <a:ext uri="{FF2B5EF4-FFF2-40B4-BE49-F238E27FC236}">
                <a16:creationId xmlns:a16="http://schemas.microsoft.com/office/drawing/2014/main" id="{5FF9ACC1-A26E-4C68-96E6-ADC2AA5580F2}"/>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FA3F2995-B755-4D91-ACD6-CAFD4C27D49A}"/>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17</a:t>
            </a:r>
          </a:p>
        </p:txBody>
      </p:sp>
      <p:sp>
        <p:nvSpPr>
          <p:cNvPr id="4" name="Rectangle 3">
            <a:extLst xmlns:a="http://schemas.openxmlformats.org/drawingml/2006/main">
              <a:ext uri="{FF2B5EF4-FFF2-40B4-BE49-F238E27FC236}">
                <a16:creationId xmlns:a16="http://schemas.microsoft.com/office/drawing/2014/main" id="{D9502B7B-9268-42AF-99C1-CA3E2467135C}"/>
              </a:ext>
            </a:extLst>
          </p:cNvPr>
          <p:cNvSpPr>
            <a:spLocks xmlns:a="http://schemas.openxmlformats.org/drawingml/2006/main" noGrp="1"/>
          </p:cNvSpPr>
          <p:nvPr/>
        </p:nvSpPr>
        <p:spPr>
          <a:xfrm xmlns:a="http://schemas.openxmlformats.org/drawingml/2006/main">
            <a:off x="619125" y="1619250"/>
            <a:ext cx="2571750" cy="6667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Cliente / usuario</a:t>
            </a:r>
          </a:p>
        </p:txBody>
      </p:sp>
      <p:sp>
        <p:nvSpPr>
          <p:cNvPr id="5" name="Rectangle 4">
            <a:extLst xmlns:a="http://schemas.openxmlformats.org/drawingml/2006/main">
              <a:ext uri="{FF2B5EF4-FFF2-40B4-BE49-F238E27FC236}">
                <a16:creationId xmlns:a16="http://schemas.microsoft.com/office/drawing/2014/main" id="{6F9E3487-CF6A-4C23-810A-8D36844E7D4E}"/>
              </a:ext>
            </a:extLst>
          </p:cNvPr>
          <p:cNvSpPr>
            <a:spLocks xmlns:a="http://schemas.openxmlformats.org/drawingml/2006/main" noGrp="1"/>
          </p:cNvSpPr>
          <p:nvPr/>
        </p:nvSpPr>
        <p:spPr>
          <a:xfrm xmlns:a="http://schemas.openxmlformats.org/drawingml/2006/main">
            <a:off x="4762500" y="1619250"/>
            <a:ext cx="2571750" cy="6667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Pedido</a:t>
            </a:r>
          </a:p>
        </p:txBody>
      </p:sp>
      <p:sp>
        <p:nvSpPr>
          <p:cNvPr id="6" name="Rectangle 5">
            <a:extLst xmlns:a="http://schemas.openxmlformats.org/drawingml/2006/main">
              <a:ext uri="{FF2B5EF4-FFF2-40B4-BE49-F238E27FC236}">
                <a16:creationId xmlns:a16="http://schemas.microsoft.com/office/drawing/2014/main" id="{F58A186F-7686-45C3-918E-F9BBD7D611BA}"/>
              </a:ext>
            </a:extLst>
          </p:cNvPr>
          <p:cNvSpPr>
            <a:spLocks xmlns:a="http://schemas.openxmlformats.org/drawingml/2006/main" noGrp="1"/>
          </p:cNvSpPr>
          <p:nvPr/>
        </p:nvSpPr>
        <p:spPr>
          <a:xfrm xmlns:a="http://schemas.openxmlformats.org/drawingml/2006/main">
            <a:off x="8905875" y="1619250"/>
            <a:ext cx="2571750" cy="6667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Entrega</a:t>
            </a:r>
          </a:p>
        </p:txBody>
      </p:sp>
      <p:sp>
        <p:nvSpPr>
          <p:cNvPr id="7" name="Rectangle 6">
            <a:extLst xmlns:a="http://schemas.openxmlformats.org/drawingml/2006/main">
              <a:ext uri="{FF2B5EF4-FFF2-40B4-BE49-F238E27FC236}">
                <a16:creationId xmlns:a16="http://schemas.microsoft.com/office/drawing/2014/main" id="{C8B1C249-BFF8-48B8-941D-985F269FF050}"/>
              </a:ext>
            </a:extLst>
          </p:cNvPr>
          <p:cNvSpPr>
            <a:spLocks xmlns:a="http://schemas.openxmlformats.org/drawingml/2006/main" noGrp="1"/>
          </p:cNvSpPr>
          <p:nvPr/>
        </p:nvSpPr>
        <p:spPr>
          <a:xfrm xmlns:a="http://schemas.openxmlformats.org/drawingml/2006/main">
            <a:off x="4762500" y="3333750"/>
            <a:ext cx="2571750" cy="6667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Pedido_detalle</a:t>
            </a:r>
          </a:p>
        </p:txBody>
      </p:sp>
      <p:sp>
        <p:nvSpPr>
          <p:cNvPr id="8" name="Rectangle 7">
            <a:extLst xmlns:a="http://schemas.openxmlformats.org/drawingml/2006/main">
              <a:ext uri="{FF2B5EF4-FFF2-40B4-BE49-F238E27FC236}">
                <a16:creationId xmlns:a16="http://schemas.microsoft.com/office/drawing/2014/main" id="{90028031-763E-400A-9373-CF8E7C44BD4A}"/>
              </a:ext>
            </a:extLst>
          </p:cNvPr>
          <p:cNvSpPr>
            <a:spLocks xmlns:a="http://schemas.openxmlformats.org/drawingml/2006/main" noGrp="1"/>
          </p:cNvSpPr>
          <p:nvPr/>
        </p:nvSpPr>
        <p:spPr>
          <a:xfrm xmlns:a="http://schemas.openxmlformats.org/drawingml/2006/main">
            <a:off x="619125" y="3333750"/>
            <a:ext cx="2571750" cy="6667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Producto</a:t>
            </a:r>
          </a:p>
        </p:txBody>
      </p:sp>
      <p:sp>
        <p:nvSpPr>
          <p:cNvPr id="9" name="Rectangle 8">
            <a:extLst xmlns:a="http://schemas.openxmlformats.org/drawingml/2006/main">
              <a:ext uri="{FF2B5EF4-FFF2-40B4-BE49-F238E27FC236}">
                <a16:creationId xmlns:a16="http://schemas.microsoft.com/office/drawing/2014/main" id="{BD2D2896-7E9D-47A9-8D55-A73C6DAC2698}"/>
              </a:ext>
            </a:extLst>
          </p:cNvPr>
          <p:cNvSpPr>
            <a:spLocks xmlns:a="http://schemas.openxmlformats.org/drawingml/2006/main" noGrp="1"/>
          </p:cNvSpPr>
          <p:nvPr/>
        </p:nvSpPr>
        <p:spPr>
          <a:xfrm xmlns:a="http://schemas.openxmlformats.org/drawingml/2006/main">
            <a:off x="8905875" y="3333750"/>
            <a:ext cx="2571750" cy="666750"/>
          </a:xfrm>
          <a:prstGeom xmlns:a="http://schemas.openxmlformats.org/drawingml/2006/main" prst="rect">
            <a:avLst/>
          </a:prstGeom>
          <a:solidFill xmlns:a="http://schemas.openxmlformats.org/drawingml/2006/main">
            <a:srgbClr val="E7DDED"/>
          </a:solidFill>
          <a:ln xmlns:a="http://schemas.openxmlformats.org/drawingml/2006/main" w="9525">
            <a:solidFill>
              <a:srgbClr val="BBA8C8"/>
            </a:solidFill>
            <a:prstDash val="solid"/>
          </a:ln>
        </p:spPr>
        <p:txBody>
          <a:bodyPr xmlns:a="http://schemas.openxmlformats.org/drawingml/2006/main" anchor="ctr"/>
          <a:lstStyle xmlns:a="http://schemas.openxmlformats.org/drawingml/2006/main">
            <a:defPPr algn="ctr">
              <a:defRPr sz="1622" b="0">
                <a:solidFill>
                  <a:srgbClr val="514E58"/>
                </a:solidFill>
                <a:latin typeface="Comfortaa"/>
                <a:ea typeface="Comfortaa"/>
                <a:cs typeface="Comfortaa"/>
              </a:defRPr>
            </a:defPPr>
          </a:lstStyle>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Inventario</a:t>
            </a:r>
          </a:p>
          <a:p xmlns:a="http://schemas.openxmlformats.org/drawingml/2006/main">
            <a:pPr algn="ct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microhub + producto</a:t>
            </a:r>
          </a:p>
        </p:txBody>
      </p:sp>
      <p:sp>
        <p:nvSpPr>
          <p:cNvPr id="15" name="text-14">
            <a:extLst xmlns:a="http://schemas.openxmlformats.org/drawingml/2006/main">
              <a:ext uri="{FF2B5EF4-FFF2-40B4-BE49-F238E27FC236}">
                <a16:creationId xmlns:a16="http://schemas.microsoft.com/office/drawing/2014/main" id="{59FE9279-4518-4306-AA61-3C7C1EBEB925}"/>
              </a:ext>
            </a:extLst>
          </p:cNvPr>
          <p:cNvSpPr>
            <a:spLocks xmlns:a="http://schemas.openxmlformats.org/drawingml/2006/main" noGrp="1"/>
          </p:cNvSpPr>
          <p:nvPr/>
        </p:nvSpPr>
        <p:spPr>
          <a:xfrm xmlns:a="http://schemas.openxmlformats.org/drawingml/2006/main">
            <a:off x="619125" y="46672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33" b="0">
                <a:solidFill>
                  <a:srgbClr val="80649B"/>
                </a:solidFill>
                <a:latin typeface="Playfair Display"/>
                <a:ea typeface="Playfair Display"/>
                <a:cs typeface="Playfair Display"/>
              </a:defRPr>
            </a:defPPr>
          </a:lstStyle>
          <a:p xmlns:a="http://schemas.openxmlformats.org/drawingml/2006/main">
            <a:pPr>
              <a:buNone/>
              <a:defRPr sz="1833" b="0">
                <a:solidFill>
                  <a:srgbClr val="80649B"/>
                </a:solidFill>
                <a:latin typeface="Playfair Display"/>
                <a:ea typeface="Playfair Display"/>
                <a:cs typeface="Playfair Display"/>
              </a:defRPr>
            </a:pPr>
            <a:r>
              <a:rPr sz="1833" b="0">
                <a:solidFill>
                  <a:srgbClr val="80649B"/>
                </a:solidFill>
                <a:latin typeface="Playfair Display"/>
                <a:ea typeface="Playfair Display"/>
                <a:cs typeface="Playfair Display"/>
              </a:rPr>
              <a:t>Lógico: relaciones por claves primarias y foráneas.</a:t>
            </a:r>
          </a:p>
        </p:txBody>
      </p:sp>
      <p:sp>
        <p:nvSpPr>
          <p:cNvPr id="16" name="text-15">
            <a:extLst xmlns:a="http://schemas.openxmlformats.org/drawingml/2006/main">
              <a:ext uri="{FF2B5EF4-FFF2-40B4-BE49-F238E27FC236}">
                <a16:creationId xmlns:a16="http://schemas.microsoft.com/office/drawing/2014/main" id="{DA6C7ECA-B764-42D3-AA10-D1DEECD792B1}"/>
              </a:ext>
            </a:extLst>
          </p:cNvPr>
          <p:cNvSpPr>
            <a:spLocks xmlns:a="http://schemas.openxmlformats.org/drawingml/2006/main" noGrp="1"/>
          </p:cNvSpPr>
          <p:nvPr/>
        </p:nvSpPr>
        <p:spPr>
          <a:xfrm xmlns:a="http://schemas.openxmlformats.org/drawingml/2006/main">
            <a:off x="619125" y="5257800"/>
            <a:ext cx="1085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63" b="0">
                <a:solidFill>
                  <a:srgbClr val="514E58"/>
                </a:solidFill>
                <a:latin typeface="Comfortaa"/>
                <a:ea typeface="Comfortaa"/>
                <a:cs typeface="Comfortaa"/>
              </a:defRPr>
            </a:defPPr>
          </a:lstStyle>
          <a:p xmlns:a="http://schemas.openxmlformats.org/drawingml/2006/main">
            <a:pPr>
              <a:buNone/>
              <a:defRPr sz="1763" b="0">
                <a:solidFill>
                  <a:srgbClr val="514E58"/>
                </a:solidFill>
                <a:latin typeface="Comfortaa"/>
                <a:ea typeface="Comfortaa"/>
                <a:cs typeface="Comfortaa"/>
              </a:defRPr>
            </a:pPr>
            <a:r>
              <a:rPr sz="1763" b="0">
                <a:solidFill>
                  <a:srgbClr val="514E58"/>
                </a:solidFill>
                <a:latin typeface="Comfortaa"/>
                <a:ea typeface="Comfortaa"/>
                <a:cs typeface="Comfortaa"/>
              </a:rPr>
              <a:t>Físico: índices, CHECK, triggers, funciones y migraciones SQL 01–08.</a:t>
            </a:r>
          </a:p>
          <a:p xmlns:a="http://schemas.openxmlformats.org/drawingml/2006/main">
            <a:pPr>
              <a:buNone/>
              <a:defRPr sz="1763" b="0">
                <a:solidFill>
                  <a:srgbClr val="514E58"/>
                </a:solidFill>
                <a:latin typeface="Comfortaa"/>
                <a:ea typeface="Comfortaa"/>
                <a:cs typeface="Comfortaa"/>
              </a:defRPr>
            </a:pPr>
            <a:r>
              <a:rPr sz="1763" b="0">
                <a:solidFill>
                  <a:srgbClr val="514E58"/>
                </a:solidFill>
                <a:latin typeface="Comfortaa"/>
                <a:ea typeface="Comfortaa"/>
                <a:cs typeface="Comfortaa"/>
              </a:rPr>
              <a:t>FOR UPDATE protege existencias. UUID único evita repetir el cierre.</a:t>
            </a:r>
          </a:p>
        </p:txBody>
      </p:sp>
    </p:spTree>
    <p:extLst>
      <p:ext uri="{BB962C8B-B14F-4D97-AF65-F5344CB8AC3E}">
        <p14:creationId xmlns:p14="http://schemas.microsoft.com/office/powerpoint/2010/main" val="1056186362"/>
      </p:ext>
    </p:extLst>
  </p:cSld>
</p:sld>
</file>

<file path=ppt/slides/slide18.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1964F47B-DAB3-4744-B1AD-0BB0836EF0A9}"/>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MongoDB: operaciones del proyecto</a:t>
            </a:r>
          </a:p>
        </p:txBody>
      </p:sp>
      <p:sp>
        <p:nvSpPr>
          <p:cNvPr id="2" name="text-1">
            <a:extLst xmlns:a="http://schemas.openxmlformats.org/drawingml/2006/main">
              <a:ext uri="{FF2B5EF4-FFF2-40B4-BE49-F238E27FC236}">
                <a16:creationId xmlns:a16="http://schemas.microsoft.com/office/drawing/2014/main" id="{68ECD1BF-6267-41D4-B7B2-285D27E472EE}"/>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5F6FD301-B08B-4FC3-A02D-BD98A5CB9CDA}"/>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18</a:t>
            </a:r>
          </a:p>
        </p:txBody>
      </p:sp>
      <p:sp>
        <p:nvSpPr>
          <p:cNvPr id="4" name="text-3">
            <a:extLst xmlns:a="http://schemas.openxmlformats.org/drawingml/2006/main">
              <a:ext uri="{FF2B5EF4-FFF2-40B4-BE49-F238E27FC236}">
                <a16:creationId xmlns:a16="http://schemas.microsoft.com/office/drawing/2014/main" id="{CDAA3EC9-EB7D-4B1B-B55E-0D56DC8527F9}"/>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Insertar y recuperar</a:t>
            </a:r>
          </a:p>
        </p:txBody>
      </p:sp>
      <p:sp>
        <p:nvSpPr>
          <p:cNvPr id="5" name="text-4">
            <a:extLst xmlns:a="http://schemas.openxmlformats.org/drawingml/2006/main">
              <a:ext uri="{FF2B5EF4-FFF2-40B4-BE49-F238E27FC236}">
                <a16:creationId xmlns:a16="http://schemas.microsoft.com/office/drawing/2014/main" id="{D1A3775D-3323-4659-9236-F8A027D8A294}"/>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Documentos guarda archivos. Seguimiento inserta puntos GPS por entrega.</a:t>
            </a:r>
          </a:p>
        </p:txBody>
      </p:sp>
      <p:sp>
        <p:nvSpPr>
          <p:cNvPr id="6" name="text-5">
            <a:extLst xmlns:a="http://schemas.openxmlformats.org/drawingml/2006/main">
              <a:ext uri="{FF2B5EF4-FFF2-40B4-BE49-F238E27FC236}">
                <a16:creationId xmlns:a16="http://schemas.microsoft.com/office/drawing/2014/main" id="{5746F13F-6497-4C0F-8F20-84E5A201E1BA}"/>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Actualizar y filtrar</a:t>
            </a:r>
          </a:p>
        </p:txBody>
      </p:sp>
      <p:sp>
        <p:nvSpPr>
          <p:cNvPr id="7" name="text-6">
            <a:extLst xmlns:a="http://schemas.openxmlformats.org/drawingml/2006/main">
              <a:ext uri="{FF2B5EF4-FFF2-40B4-BE49-F238E27FC236}">
                <a16:creationId xmlns:a16="http://schemas.microsoft.com/office/drawing/2014/main" id="{A157FBA1-9E42-4207-877B-85AEEB4A55DA}"/>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Upsert de sincronizaciones por operacion_uuid y filtros por identificador.</a:t>
            </a:r>
          </a:p>
        </p:txBody>
      </p:sp>
      <p:sp>
        <p:nvSpPr>
          <p:cNvPr id="8" name="text-7">
            <a:extLst xmlns:a="http://schemas.openxmlformats.org/drawingml/2006/main">
              <a:ext uri="{FF2B5EF4-FFF2-40B4-BE49-F238E27FC236}">
                <a16:creationId xmlns:a16="http://schemas.microsoft.com/office/drawing/2014/main" id="{7E471AFA-7868-4C8E-83B0-F1B50D183B7D}"/>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Agregaciones</a:t>
            </a:r>
          </a:p>
        </p:txBody>
      </p:sp>
      <p:sp>
        <p:nvSpPr>
          <p:cNvPr id="9" name="text-8">
            <a:extLst xmlns:a="http://schemas.openxmlformats.org/drawingml/2006/main">
              <a:ext uri="{FF2B5EF4-FFF2-40B4-BE49-F238E27FC236}">
                <a16:creationId xmlns:a16="http://schemas.microsoft.com/office/drawing/2014/main" id="{380DB946-1C25-4DB5-AB0E-CBF1BC46DB0E}"/>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Seguimiento resume el recorrido. Documentos y Planeación generan resúmenes.</a:t>
            </a:r>
          </a:p>
        </p:txBody>
      </p:sp>
      <p:sp>
        <p:nvSpPr>
          <p:cNvPr id="10" name="text-9">
            <a:extLst xmlns:a="http://schemas.openxmlformats.org/drawingml/2006/main">
              <a:ext uri="{FF2B5EF4-FFF2-40B4-BE49-F238E27FC236}">
                <a16:creationId xmlns:a16="http://schemas.microsoft.com/office/drawing/2014/main" id="{9103DD17-BEF6-40DF-A878-4ABFED1DB782}"/>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Índices y validadores</a:t>
            </a:r>
          </a:p>
        </p:txBody>
      </p:sp>
      <p:sp>
        <p:nvSpPr>
          <p:cNvPr id="11" name="text-10">
            <a:extLst xmlns:a="http://schemas.openxmlformats.org/drawingml/2006/main">
              <a:ext uri="{FF2B5EF4-FFF2-40B4-BE49-F238E27FC236}">
                <a16:creationId xmlns:a16="http://schemas.microsoft.com/office/drawing/2014/main" id="{4A699922-979F-4367-B40E-F50E494A7A2A}"/>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referencia.tipo + referencia.id, 2dsphere, TTL y $jsonSchema.</a:t>
            </a:r>
          </a:p>
        </p:txBody>
      </p:sp>
    </p:spTree>
    <p:extLst>
      <p:ext uri="{BB962C8B-B14F-4D97-AF65-F5344CB8AC3E}">
        <p14:creationId xmlns:p14="http://schemas.microsoft.com/office/powerpoint/2010/main" val="1466125822"/>
      </p:ext>
    </p:extLst>
  </p:cSld>
</p:sld>
</file>

<file path=ppt/slides/slide19.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5F14D9B4-B208-4EA1-A6ED-4ADE27BA4511}"/>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Redis: claves, TTL y efecto</a:t>
            </a:r>
          </a:p>
        </p:txBody>
      </p:sp>
      <p:sp>
        <p:nvSpPr>
          <p:cNvPr id="2" name="text-1">
            <a:extLst xmlns:a="http://schemas.openxmlformats.org/drawingml/2006/main">
              <a:ext uri="{FF2B5EF4-FFF2-40B4-BE49-F238E27FC236}">
                <a16:creationId xmlns:a16="http://schemas.microsoft.com/office/drawing/2014/main" id="{09341072-4155-4FB6-9D7C-FBB4FA8EAFF0}"/>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348D0094-0AFB-46D6-ACA4-B9A877409C8A}"/>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19</a:t>
            </a:r>
          </a:p>
        </p:txBody>
      </p:sp>
      <p:sp>
        <p:nvSpPr>
          <p:cNvPr id="4" name="text-3">
            <a:extLst xmlns:a="http://schemas.openxmlformats.org/drawingml/2006/main">
              <a:ext uri="{FF2B5EF4-FFF2-40B4-BE49-F238E27FC236}">
                <a16:creationId xmlns:a16="http://schemas.microsoft.com/office/drawing/2014/main" id="{E3E0C284-0951-410B-A68C-B75ED4B4BD17}"/>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auth:sesion:{usuario}</a:t>
            </a:r>
          </a:p>
        </p:txBody>
      </p:sp>
      <p:sp>
        <p:nvSpPr>
          <p:cNvPr id="5" name="text-4">
            <a:extLst xmlns:a="http://schemas.openxmlformats.org/drawingml/2006/main">
              <a:ext uri="{FF2B5EF4-FFF2-40B4-BE49-F238E27FC236}">
                <a16:creationId xmlns:a16="http://schemas.microsoft.com/office/drawing/2014/main" id="{F6BCAFB2-BDF2-47B5-AE11-D43744B5527F}"/>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Sesión activa. Evidencia: TTL inicial de 900 s.</a:t>
            </a:r>
          </a:p>
        </p:txBody>
      </p:sp>
      <p:sp>
        <p:nvSpPr>
          <p:cNvPr id="6" name="text-5">
            <a:extLst xmlns:a="http://schemas.openxmlformats.org/drawingml/2006/main">
              <a:ext uri="{FF2B5EF4-FFF2-40B4-BE49-F238E27FC236}">
                <a16:creationId xmlns:a16="http://schemas.microsoft.com/office/drawing/2014/main" id="{7263FAA2-0133-4789-AD95-27C8C084EE42}"/>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auth:jti:revocado:{jti}</a:t>
            </a:r>
          </a:p>
        </p:txBody>
      </p:sp>
      <p:sp>
        <p:nvSpPr>
          <p:cNvPr id="7" name="text-6">
            <a:extLst xmlns:a="http://schemas.openxmlformats.org/drawingml/2006/main">
              <a:ext uri="{FF2B5EF4-FFF2-40B4-BE49-F238E27FC236}">
                <a16:creationId xmlns:a16="http://schemas.microsoft.com/office/drawing/2014/main" id="{EEE12B51-7FB6-4218-ABD1-9777F62876E7}"/>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Bloquea el JWT durante su vigencia restante.</a:t>
            </a:r>
          </a:p>
        </p:txBody>
      </p:sp>
      <p:sp>
        <p:nvSpPr>
          <p:cNvPr id="8" name="text-7">
            <a:extLst xmlns:a="http://schemas.openxmlformats.org/drawingml/2006/main">
              <a:ext uri="{FF2B5EF4-FFF2-40B4-BE49-F238E27FC236}">
                <a16:creationId xmlns:a16="http://schemas.microsoft.com/office/drawing/2014/main" id="{84375A7C-4642-4048-8E87-820B655E3E26}"/>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auth:refresh:{hash}</a:t>
            </a:r>
          </a:p>
        </p:txBody>
      </p:sp>
      <p:sp>
        <p:nvSpPr>
          <p:cNvPr id="9" name="text-8">
            <a:extLst xmlns:a="http://schemas.openxmlformats.org/drawingml/2006/main">
              <a:ext uri="{FF2B5EF4-FFF2-40B4-BE49-F238E27FC236}">
                <a16:creationId xmlns:a16="http://schemas.microsoft.com/office/drawing/2014/main" id="{7A88A934-9333-439B-9620-CF0970DAA9AF}"/>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Renovación de un solo uso. Evidencia: 604800 s.</a:t>
            </a:r>
          </a:p>
        </p:txBody>
      </p:sp>
      <p:sp>
        <p:nvSpPr>
          <p:cNvPr id="10" name="text-9">
            <a:extLst xmlns:a="http://schemas.openxmlformats.org/drawingml/2006/main">
              <a:ext uri="{FF2B5EF4-FFF2-40B4-BE49-F238E27FC236}">
                <a16:creationId xmlns:a16="http://schemas.microsoft.com/office/drawing/2014/main" id="{C7B3ABDD-044E-4380-9760-61368FA58302}"/>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cache:catalogo:*</a:t>
            </a:r>
          </a:p>
        </p:txBody>
      </p:sp>
      <p:sp>
        <p:nvSpPr>
          <p:cNvPr id="11" name="text-10">
            <a:extLst xmlns:a="http://schemas.openxmlformats.org/drawingml/2006/main">
              <a:ext uri="{FF2B5EF4-FFF2-40B4-BE49-F238E27FC236}">
                <a16:creationId xmlns:a16="http://schemas.microsoft.com/office/drawing/2014/main" id="{9127EDCB-9267-4711-AC1E-F21ADC0FD860}"/>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Evita consultas repetidas. TTL por omisión: 300 s.</a:t>
            </a:r>
          </a:p>
        </p:txBody>
      </p:sp>
      <p:sp>
        <p:nvSpPr>
          <p:cNvPr id="12" name="text-11">
            <a:extLst xmlns:a="http://schemas.openxmlformats.org/drawingml/2006/main">
              <a:ext uri="{FF2B5EF4-FFF2-40B4-BE49-F238E27FC236}">
                <a16:creationId xmlns:a16="http://schemas.microsoft.com/office/drawing/2014/main" id="{B5B5C1BE-34B6-411C-B042-B8A5229B350B}"/>
              </a:ext>
            </a:extLst>
          </p:cNvPr>
          <p:cNvSpPr>
            <a:spLocks xmlns:a="http://schemas.openxmlformats.org/drawingml/2006/main" noGrp="1"/>
          </p:cNvSpPr>
          <p:nvPr/>
        </p:nvSpPr>
        <p:spPr>
          <a:xfrm xmlns:a="http://schemas.openxmlformats.org/drawingml/2006/main">
            <a:off x="619125" y="48577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rate:{servicio}:</a:t>
            </a:r>
          </a:p>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{ip}:{minuto}</a:t>
            </a:r>
          </a:p>
        </p:txBody>
      </p:sp>
      <p:sp>
        <p:nvSpPr>
          <p:cNvPr id="13" name="text-12">
            <a:extLst xmlns:a="http://schemas.openxmlformats.org/drawingml/2006/main">
              <a:ext uri="{FF2B5EF4-FFF2-40B4-BE49-F238E27FC236}">
                <a16:creationId xmlns:a16="http://schemas.microsoft.com/office/drawing/2014/main" id="{4E206FB2-C54E-4919-981D-FBC0736F09D7}"/>
              </a:ext>
            </a:extLst>
          </p:cNvPr>
          <p:cNvSpPr>
            <a:spLocks xmlns:a="http://schemas.openxmlformats.org/drawingml/2006/main" noGrp="1"/>
          </p:cNvSpPr>
          <p:nvPr/>
        </p:nvSpPr>
        <p:spPr>
          <a:xfrm xmlns:a="http://schemas.openxmlformats.org/drawingml/2006/main">
            <a:off x="3857625" y="48577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Contador por ventana. TTL 120 s y respuesta 429.</a:t>
            </a:r>
          </a:p>
        </p:txBody>
      </p:sp>
    </p:spTree>
    <p:extLst>
      <p:ext uri="{BB962C8B-B14F-4D97-AF65-F5344CB8AC3E}">
        <p14:creationId xmlns:p14="http://schemas.microsoft.com/office/powerpoint/2010/main" val="1558309226"/>
      </p:ext>
    </p:extLst>
  </p:cSld>
</p:sld>
</file>

<file path=ppt/slides/slide20.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222FA69-AC6E-4692-8D69-D04367182730}"/>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JWT, permisos y sesión común</a:t>
            </a:r>
          </a:p>
        </p:txBody>
      </p:sp>
      <p:sp>
        <p:nvSpPr>
          <p:cNvPr id="2" name="text-1">
            <a:extLst xmlns:a="http://schemas.openxmlformats.org/drawingml/2006/main">
              <a:ext uri="{FF2B5EF4-FFF2-40B4-BE49-F238E27FC236}">
                <a16:creationId xmlns:a16="http://schemas.microsoft.com/office/drawing/2014/main" id="{4016C641-B7A5-4152-B45A-FAC8A2A7A24B}"/>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0961A790-7A5F-4D6B-818F-42C10B3129D2}"/>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20</a:t>
            </a:r>
          </a:p>
        </p:txBody>
      </p:sp>
      <p:graphicFrame>
        <p:nvGraphicFramePr>
          <p:cNvPr id="4" name="Table 3">
            <a:extLst xmlns:a="http://schemas.openxmlformats.org/drawingml/2006/main">
              <a:ext uri="{FF2B5EF4-FFF2-40B4-BE49-F238E27FC236}">
                <a16:creationId xmlns:a16="http://schemas.microsoft.com/office/drawing/2014/main" id="{8673340D-9C00-4C69-AD3F-A2B3D1A83565}"/>
              </a:ext>
            </a:extLst>
          </p:cNvPr>
          <p:cNvGraphicFramePr/>
          <p:nvPr/>
        </p:nvGraphicFramePr>
        <p:xfrm>
          <a:off xmlns:a="http://schemas.openxmlformats.org/drawingml/2006/main" x="619125" y="1714500"/>
          <a:ext xmlns:a="http://schemas.openxmlformats.org/drawingml/2006/main" cx="10953750" cy="3048000"/>
        </p:xfrm>
        <a:graphic xmlns:a="http://schemas.openxmlformats.org/drawingml/2006/main">
          <a:graphicData uri="http://schemas.openxmlformats.org/drawingml/2006/table">
            <a:tbl>
              <a:tblPr/>
              <a:tblGrid>
                <a:gridCol w="2809875"/>
                <a:gridCol w="8143875"/>
              </a:tblGrid>
              <a:tr h="609600">
                <a:tc>
                  <a:txBody>
                    <a:bodyPr/>
                    <a:lstStyle/>
                    <a:p>
                      <a:r>
                        <a:rPr sz="2184" b="0">
                          <a:solidFill>
                            <a:srgbClr val="44364F"/>
                          </a:solidFill>
                          <a:latin typeface="Playfair Display"/>
                          <a:ea typeface="Playfair Display"/>
                          <a:cs typeface="Playfair Display"/>
                        </a:rPr>
                        <a:t>Validación</a:t>
                      </a:r>
                    </a:p>
                  </a:txBody>
                  <a:tcPr marL="91440" marR="91440" marT="45720" marB="45720">
                    <a:lnL w="5715">
                      <a:solidFill>
                        <a:srgbClr val="D5CCD9"/>
                      </a:solidFill>
                      <a:prstDash val="solid"/>
                    </a:lnL>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2184" b="0">
                          <a:solidFill>
                            <a:srgbClr val="44364F"/>
                          </a:solidFill>
                          <a:latin typeface="Playfair Display"/>
                          <a:ea typeface="Playfair Display"/>
                          <a:cs typeface="Playfair Display"/>
                        </a:rPr>
                        <a:t>Qué comprueba</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r>
              <a:tr h="609600">
                <a:tc>
                  <a:txBody>
                    <a:bodyPr/>
                    <a:lstStyle/>
                    <a:p>
                      <a:r>
                        <a:rPr sz="1911" b="0">
                          <a:solidFill>
                            <a:srgbClr val="514E58"/>
                          </a:solidFill>
                          <a:latin typeface="Comfortaa"/>
                          <a:ea typeface="Comfortaa"/>
                          <a:cs typeface="Comfortaa"/>
                        </a:rPr>
                        <a:t>JWT</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911" b="0">
                          <a:solidFill>
                            <a:srgbClr val="514E58"/>
                          </a:solidFill>
                          <a:latin typeface="Comfortaa"/>
                          <a:ea typeface="Comfortaa"/>
                          <a:cs typeface="Comfortaa"/>
                        </a:rPr>
                        <a:t>Firma, vigencia e identidad</a:t>
                      </a:r>
                    </a:p>
                  </a:txBody>
                  <a:tcPr marL="91440" marR="91440" marT="45720" marB="45720">
                    <a:lnR w="5715">
                      <a:solidFill>
                        <a:srgbClr val="D5CCD9"/>
                      </a:solidFill>
                      <a:prstDash val="solid"/>
                    </a:lnR>
                    <a:lnB w="5715">
                      <a:solidFill>
                        <a:srgbClr val="D5CCD9"/>
                      </a:solidFill>
                      <a:prstDash val="solid"/>
                    </a:lnB>
                    <a:solidFill>
                      <a:srgbClr val="FAF8F4"/>
                    </a:solidFill>
                  </a:tcPr>
                </a:tc>
              </a:tr>
              <a:tr h="609600">
                <a:tc>
                  <a:txBody>
                    <a:bodyPr/>
                    <a:lstStyle/>
                    <a:p>
                      <a:r>
                        <a:rPr sz="1911" b="0">
                          <a:solidFill>
                            <a:srgbClr val="514E58"/>
                          </a:solidFill>
                          <a:latin typeface="Comfortaa"/>
                          <a:ea typeface="Comfortaa"/>
                          <a:cs typeface="Comfortaa"/>
                        </a:rPr>
                        <a:t>Redis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911" b="0">
                          <a:solidFill>
                            <a:srgbClr val="514E58"/>
                          </a:solidFill>
                          <a:latin typeface="Comfortaa"/>
                          <a:ea typeface="Comfortaa"/>
                          <a:cs typeface="Comfortaa"/>
                        </a:rPr>
                        <a:t>Sesión activa y token no revocado</a:t>
                      </a:r>
                    </a:p>
                  </a:txBody>
                  <a:tcPr marL="91440" marR="91440" marT="45720" marB="45720">
                    <a:lnR w="5715">
                      <a:solidFill>
                        <a:srgbClr val="D5CCD9"/>
                      </a:solidFill>
                      <a:prstDash val="solid"/>
                    </a:lnR>
                    <a:lnB w="5715">
                      <a:solidFill>
                        <a:srgbClr val="D5CCD9"/>
                      </a:solidFill>
                      <a:prstDash val="solid"/>
                    </a:lnB>
                    <a:solidFill>
                      <a:srgbClr val="EAF0E5"/>
                    </a:solidFill>
                  </a:tcPr>
                </a:tc>
              </a:tr>
              <a:tr h="609600">
                <a:tc>
                  <a:txBody>
                    <a:bodyPr/>
                    <a:lstStyle/>
                    <a:p>
                      <a:r>
                        <a:rPr sz="1911" b="0">
                          <a:solidFill>
                            <a:srgbClr val="514E58"/>
                          </a:solidFill>
                          <a:latin typeface="Comfortaa"/>
                          <a:ea typeface="Comfortaa"/>
                          <a:cs typeface="Comfortaa"/>
                        </a:rPr>
                        <a:t>Permisos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911" b="0">
                          <a:solidFill>
                            <a:srgbClr val="514E58"/>
                          </a:solidFill>
                          <a:latin typeface="Comfortaa"/>
                          <a:ea typeface="Comfortaa"/>
                          <a:cs typeface="Comfortaa"/>
                        </a:rPr>
                        <a:t>Operación permitida para el rol</a:t>
                      </a:r>
                    </a:p>
                  </a:txBody>
                  <a:tcPr marL="91440" marR="91440" marT="45720" marB="45720">
                    <a:lnR w="5715">
                      <a:solidFill>
                        <a:srgbClr val="D5CCD9"/>
                      </a:solidFill>
                      <a:prstDash val="solid"/>
                    </a:lnR>
                    <a:lnB w="5715">
                      <a:solidFill>
                        <a:srgbClr val="D5CCD9"/>
                      </a:solidFill>
                      <a:prstDash val="solid"/>
                    </a:lnB>
                    <a:solidFill>
                      <a:srgbClr val="FAF8F4"/>
                    </a:solidFill>
                  </a:tcPr>
                </a:tc>
              </a:tr>
              <a:tr h="609600">
                <a:tc>
                  <a:txBody>
                    <a:bodyPr/>
                    <a:lstStyle/>
                    <a:p>
                      <a:r>
                        <a:rPr sz="1911" b="0">
                          <a:solidFill>
                            <a:srgbClr val="514E58"/>
                          </a:solidFill>
                          <a:latin typeface="Comfortaa"/>
                          <a:ea typeface="Comfortaa"/>
                          <a:cs typeface="Comfortaa"/>
                        </a:rPr>
                        <a:t>Ámbito</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911" b="0">
                          <a:solidFill>
                            <a:srgbClr val="514E58"/>
                          </a:solidFill>
                          <a:latin typeface="Comfortaa"/>
                          <a:ea typeface="Comfortaa"/>
                          <a:cs typeface="Comfortaa"/>
                        </a:rPr>
                        <a:t>Pedidos propios, microhub o entregas asignadas</a:t>
                      </a:r>
                    </a:p>
                  </a:txBody>
                  <a:tcPr marL="91440" marR="91440" marT="45720" marB="45720">
                    <a:lnR w="5715">
                      <a:solidFill>
                        <a:srgbClr val="D5CCD9"/>
                      </a:solidFill>
                      <a:prstDash val="solid"/>
                    </a:lnR>
                    <a:lnB w="5715">
                      <a:solidFill>
                        <a:srgbClr val="D5CCD9"/>
                      </a:solidFill>
                      <a:prstDash val="solid"/>
                    </a:lnB>
                    <a:solidFill>
                      <a:srgbClr val="EAF0E5"/>
                    </a:solidFill>
                  </a:tcPr>
                </a:tc>
              </a:tr>
            </a:tbl>
          </a:graphicData>
        </a:graphic>
      </p:graphicFrame>
      <p:sp>
        <p:nvSpPr>
          <p:cNvPr id="5" name="text-3">
            <a:extLst xmlns:a="http://schemas.openxmlformats.org/drawingml/2006/main">
              <a:ext uri="{FF2B5EF4-FFF2-40B4-BE49-F238E27FC236}">
                <a16:creationId xmlns:a16="http://schemas.microsoft.com/office/drawing/2014/main" id="{060DDE86-B21A-4032-ACD6-D75355005E58}"/>
              </a:ext>
            </a:extLst>
          </p:cNvPr>
          <p:cNvSpPr>
            <a:spLocks xmlns:a="http://schemas.openxmlformats.org/drawingml/2006/main" noGrp="1"/>
          </p:cNvSpPr>
          <p:nvPr/>
        </p:nvSpPr>
        <p:spPr>
          <a:xfrm xmlns:a="http://schemas.openxmlformats.org/drawingml/2006/main">
            <a:off x="619125" y="528637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80649B"/>
                </a:solidFill>
                <a:latin typeface="Playfair Display"/>
                <a:ea typeface="Playfair Display"/>
                <a:cs typeface="Playfair Display"/>
              </a:defRPr>
            </a:defPPr>
          </a:lstStyle>
          <a:p xmlns:a="http://schemas.openxmlformats.org/drawingml/2006/main">
            <a:pPr>
              <a:buNone/>
              <a:defRPr sz="1904" b="0">
                <a:solidFill>
                  <a:srgbClr val="80649B"/>
                </a:solidFill>
                <a:latin typeface="Playfair Display"/>
                <a:ea typeface="Playfair Display"/>
                <a:cs typeface="Playfair Display"/>
              </a:defRPr>
            </a:pPr>
            <a:r>
              <a:rPr sz="1904" b="0">
                <a:solidFill>
                  <a:srgbClr val="80649B"/>
                </a:solidFill>
                <a:latin typeface="Playfair Display"/>
                <a:ea typeface="Playfair Display"/>
                <a:cs typeface="Playfair Display"/>
              </a:rPr>
              <a:t>200  Acceso válido        403  Sin permiso        401  Sesión inválida</a:t>
            </a:r>
          </a:p>
        </p:txBody>
      </p:sp>
      <p:pic>
        <p:nvPicPr>
          <p:cNvPr id="7" name="">
            <a:extLst xmlns:a="http://schemas.openxmlformats.org/drawingml/2006/main">
              <a:ext uri="{FF2B5EF4-FFF2-40B4-BE49-F238E27FC236}">
                <a16:creationId xmlns:a16="http://schemas.microsoft.com/office/drawing/2014/main" id="{55B0DF40-7229-4BFB-8BD7-2DF962C33DD2}"/>
              </a:ext>
            </a:extLst>
          </p:cNvPr>
          <p:cNvPicPr>
            <a:picLocks xmlns:a="http://schemas.openxmlformats.org/drawingml/2006/main" noChangeAspect="1"/>
          </p:cNvPicPr>
          <p:nvPr/>
        </p:nvPicPr>
        <p:blipFill>
          <a:blip xmlns:r="http://schemas.openxmlformats.org/officeDocument/2006/relationships" xmlns:a="http://schemas.openxmlformats.org/drawingml/2006/main" r:embed="R7cc28b39a8934cbd"/>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1301469067"/>
      </p:ext>
    </p:extLst>
  </p:cSld>
</p:sld>
</file>

<file path=ppt/slides/slide21.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87E8BCF-31B1-4CF8-9F62-E206657E6719}"/>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Contratos JSON y XML</a:t>
            </a:r>
          </a:p>
        </p:txBody>
      </p:sp>
      <p:sp>
        <p:nvSpPr>
          <p:cNvPr id="2" name="text-1">
            <a:extLst xmlns:a="http://schemas.openxmlformats.org/drawingml/2006/main">
              <a:ext uri="{FF2B5EF4-FFF2-40B4-BE49-F238E27FC236}">
                <a16:creationId xmlns:a16="http://schemas.microsoft.com/office/drawing/2014/main" id="{A910BE39-6903-4FF4-8660-E0E3C2C2B7A7}"/>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C2654E22-42D9-451D-9E94-0D50AAF51C22}"/>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21</a:t>
            </a:r>
          </a:p>
        </p:txBody>
      </p:sp>
      <p:sp>
        <p:nvSpPr>
          <p:cNvPr id="4" name="text-3">
            <a:extLst xmlns:a="http://schemas.openxmlformats.org/drawingml/2006/main">
              <a:ext uri="{FF2B5EF4-FFF2-40B4-BE49-F238E27FC236}">
                <a16:creationId xmlns:a16="http://schemas.microsoft.com/office/drawing/2014/main" id="{51DAA083-D84B-447C-AAF1-5B939AD672EC}"/>
              </a:ext>
            </a:extLst>
          </p:cNvPr>
          <p:cNvSpPr>
            <a:spLocks xmlns:a="http://schemas.openxmlformats.org/drawingml/2006/main" noGrp="1"/>
          </p:cNvSpPr>
          <p:nvPr/>
        </p:nvSpPr>
        <p:spPr>
          <a:xfrm xmlns:a="http://schemas.openxmlformats.org/drawingml/2006/main">
            <a:off x="619125" y="161925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97" b="0">
                <a:solidFill>
                  <a:srgbClr val="80649B"/>
                </a:solidFill>
                <a:latin typeface="Playfair Display"/>
                <a:ea typeface="Playfair Display"/>
                <a:cs typeface="Playfair Display"/>
              </a:defRPr>
            </a:defPPr>
          </a:lstStyle>
          <a:p xmlns:a="http://schemas.openxmlformats.org/drawingml/2006/main">
            <a:pPr>
              <a:buNone/>
              <a:defRPr sz="2397" b="0">
                <a:solidFill>
                  <a:srgbClr val="80649B"/>
                </a:solidFill>
                <a:latin typeface="Playfair Display"/>
                <a:ea typeface="Playfair Display"/>
                <a:cs typeface="Playfair Display"/>
              </a:defRPr>
            </a:pPr>
            <a:r>
              <a:rPr sz="2397" b="0">
                <a:solidFill>
                  <a:srgbClr val="80649B"/>
                </a:solidFill>
                <a:latin typeface="Playfair Display"/>
                <a:ea typeface="Playfair Display"/>
                <a:cs typeface="Playfair Display"/>
              </a:rPr>
              <a:t>GET /api/v1/productos</a:t>
            </a:r>
          </a:p>
        </p:txBody>
      </p:sp>
      <p:sp>
        <p:nvSpPr>
          <p:cNvPr id="5" name="text-4">
            <a:extLst xmlns:a="http://schemas.openxmlformats.org/drawingml/2006/main">
              <a:ext uri="{FF2B5EF4-FFF2-40B4-BE49-F238E27FC236}">
                <a16:creationId xmlns:a16="http://schemas.microsoft.com/office/drawing/2014/main" id="{42A20C19-D593-4BB1-AA07-B972E43E5CE4}"/>
              </a:ext>
            </a:extLst>
          </p:cNvPr>
          <p:cNvSpPr>
            <a:spLocks xmlns:a="http://schemas.openxmlformats.org/drawingml/2006/main" noGrp="1"/>
          </p:cNvSpPr>
          <p:nvPr/>
        </p:nvSpPr>
        <p:spPr>
          <a:xfrm xmlns:a="http://schemas.openxmlformats.org/drawingml/2006/main">
            <a:off x="619125" y="25717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6" b="0">
                <a:solidFill>
                  <a:srgbClr val="80649B"/>
                </a:solidFill>
                <a:latin typeface="Playfair Display"/>
                <a:ea typeface="Playfair Display"/>
                <a:cs typeface="Playfair Display"/>
              </a:defRPr>
            </a:defPPr>
          </a:lstStyle>
          <a:p xmlns:a="http://schemas.openxmlformats.org/drawingml/2006/main">
            <a:pPr>
              <a:buNone/>
              <a:defRPr sz="2256" b="0">
                <a:solidFill>
                  <a:srgbClr val="80649B"/>
                </a:solidFill>
                <a:latin typeface="Playfair Display"/>
                <a:ea typeface="Playfair Display"/>
                <a:cs typeface="Playfair Display"/>
              </a:defRPr>
            </a:pPr>
            <a:r>
              <a:rPr sz="2256" b="0">
                <a:solidFill>
                  <a:srgbClr val="80649B"/>
                </a:solidFill>
                <a:latin typeface="Playfair Display"/>
                <a:ea typeface="Playfair Display"/>
                <a:cs typeface="Playfair Display"/>
              </a:rPr>
              <a:t>JSON</a:t>
            </a:r>
          </a:p>
        </p:txBody>
      </p:sp>
      <p:sp>
        <p:nvSpPr>
          <p:cNvPr id="6" name="text-5">
            <a:extLst xmlns:a="http://schemas.openxmlformats.org/drawingml/2006/main">
              <a:ext uri="{FF2B5EF4-FFF2-40B4-BE49-F238E27FC236}">
                <a16:creationId xmlns:a16="http://schemas.microsoft.com/office/drawing/2014/main" id="{F6F25392-9A4C-41E6-A06E-E22FB4C6C679}"/>
              </a:ext>
            </a:extLst>
          </p:cNvPr>
          <p:cNvSpPr>
            <a:spLocks xmlns:a="http://schemas.openxmlformats.org/drawingml/2006/main" noGrp="1"/>
          </p:cNvSpPr>
          <p:nvPr/>
        </p:nvSpPr>
        <p:spPr>
          <a:xfrm xmlns:a="http://schemas.openxmlformats.org/drawingml/2006/main">
            <a:off x="619125" y="3181350"/>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74" b="0">
                <a:solidFill>
                  <a:srgbClr val="514E58"/>
                </a:solidFill>
                <a:latin typeface="Comfortaa"/>
                <a:ea typeface="Comfortaa"/>
                <a:cs typeface="Comfortaa"/>
              </a:defRPr>
            </a:defPPr>
          </a:lstStyle>
          <a:p xmlns:a="http://schemas.openxmlformats.org/drawingml/2006/main">
            <a:pPr>
              <a:buNone/>
              <a:defRPr sz="1974" b="0">
                <a:solidFill>
                  <a:srgbClr val="514E58"/>
                </a:solidFill>
                <a:latin typeface="Comfortaa"/>
                <a:ea typeface="Comfortaa"/>
                <a:cs typeface="Comfortaa"/>
              </a:defRPr>
            </a:pPr>
            <a:r>
              <a:rPr sz="1974" b="0">
                <a:solidFill>
                  <a:srgbClr val="514E58"/>
                </a:solidFill>
                <a:latin typeface="Comfortaa"/>
                <a:ea typeface="Comfortaa"/>
                <a:cs typeface="Comfortaa"/>
              </a:rPr>
              <a:t>Accept: application/json</a:t>
            </a:r>
          </a:p>
          <a:p xmlns:a="http://schemas.openxmlformats.org/drawingml/2006/main">
            <a:endParaRPr sz="2100" b="0">
              <a:solidFill>
                <a:srgbClr val="354740"/>
              </a:solidFill>
              <a:latin typeface="DejaVu Sans"/>
              <a:ea typeface="DejaVu Sans"/>
              <a:cs typeface="DejaVu Sans"/>
            </a:endParaRPr>
          </a:p>
          <a:p xmlns:a="http://schemas.openxmlformats.org/drawingml/2006/main">
            <a:pPr>
              <a:buNone/>
              <a:defRPr sz="1974" b="0">
                <a:solidFill>
                  <a:srgbClr val="514E58"/>
                </a:solidFill>
                <a:latin typeface="Comfortaa"/>
                <a:ea typeface="Comfortaa"/>
                <a:cs typeface="Comfortaa"/>
              </a:defRPr>
            </a:pPr>
            <a:r>
              <a:rPr sz="1974" b="0">
                <a:solidFill>
                  <a:srgbClr val="514E58"/>
                </a:solidFill>
                <a:latin typeface="Comfortaa"/>
                <a:ea typeface="Comfortaa"/>
                <a:cs typeface="Comfortaa"/>
              </a:rPr>
              <a:t>Datos tipados, filtros</a:t>
            </a:r>
          </a:p>
          <a:p xmlns:a="http://schemas.openxmlformats.org/drawingml/2006/main">
            <a:pPr>
              <a:buNone/>
              <a:defRPr sz="1974" b="0">
                <a:solidFill>
                  <a:srgbClr val="514E58"/>
                </a:solidFill>
                <a:latin typeface="Comfortaa"/>
                <a:ea typeface="Comfortaa"/>
                <a:cs typeface="Comfortaa"/>
              </a:defRPr>
            </a:pPr>
            <a:r>
              <a:rPr sz="1974" b="0">
                <a:solidFill>
                  <a:srgbClr val="514E58"/>
                </a:solidFill>
                <a:latin typeface="Comfortaa"/>
                <a:ea typeface="Comfortaa"/>
                <a:cs typeface="Comfortaa"/>
              </a:rPr>
              <a:t>y paginación.</a:t>
            </a:r>
          </a:p>
        </p:txBody>
      </p:sp>
      <p:sp>
        <p:nvSpPr>
          <p:cNvPr id="7" name="text-6">
            <a:extLst xmlns:a="http://schemas.openxmlformats.org/drawingml/2006/main">
              <a:ext uri="{FF2B5EF4-FFF2-40B4-BE49-F238E27FC236}">
                <a16:creationId xmlns:a16="http://schemas.microsoft.com/office/drawing/2014/main" id="{B71FBB47-00C1-491C-AFFD-CBAA510ABACF}"/>
              </a:ext>
            </a:extLst>
          </p:cNvPr>
          <p:cNvSpPr>
            <a:spLocks xmlns:a="http://schemas.openxmlformats.org/drawingml/2006/main" noGrp="1"/>
          </p:cNvSpPr>
          <p:nvPr/>
        </p:nvSpPr>
        <p:spPr>
          <a:xfrm xmlns:a="http://schemas.openxmlformats.org/drawingml/2006/main">
            <a:off x="6619875" y="25717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6" b="0">
                <a:solidFill>
                  <a:srgbClr val="80649B"/>
                </a:solidFill>
                <a:latin typeface="Playfair Display"/>
                <a:ea typeface="Playfair Display"/>
                <a:cs typeface="Playfair Display"/>
              </a:defRPr>
            </a:defPPr>
          </a:lstStyle>
          <a:p xmlns:a="http://schemas.openxmlformats.org/drawingml/2006/main">
            <a:pPr>
              <a:buNone/>
              <a:defRPr sz="2256" b="0">
                <a:solidFill>
                  <a:srgbClr val="80649B"/>
                </a:solidFill>
                <a:latin typeface="Playfair Display"/>
                <a:ea typeface="Playfair Display"/>
                <a:cs typeface="Playfair Display"/>
              </a:defRPr>
            </a:pPr>
            <a:r>
              <a:rPr sz="2256" b="0">
                <a:solidFill>
                  <a:srgbClr val="80649B"/>
                </a:solidFill>
                <a:latin typeface="Playfair Display"/>
                <a:ea typeface="Playfair Display"/>
                <a:cs typeface="Playfair Display"/>
              </a:rPr>
              <a:t>XML</a:t>
            </a:r>
          </a:p>
        </p:txBody>
      </p:sp>
      <p:sp>
        <p:nvSpPr>
          <p:cNvPr id="8" name="text-7">
            <a:extLst xmlns:a="http://schemas.openxmlformats.org/drawingml/2006/main">
              <a:ext uri="{FF2B5EF4-FFF2-40B4-BE49-F238E27FC236}">
                <a16:creationId xmlns:a16="http://schemas.microsoft.com/office/drawing/2014/main" id="{4F19C321-696C-4469-BE5E-6F1C31989CA6}"/>
              </a:ext>
            </a:extLst>
          </p:cNvPr>
          <p:cNvSpPr>
            <a:spLocks xmlns:a="http://schemas.openxmlformats.org/drawingml/2006/main" noGrp="1"/>
          </p:cNvSpPr>
          <p:nvPr/>
        </p:nvSpPr>
        <p:spPr>
          <a:xfrm xmlns:a="http://schemas.openxmlformats.org/drawingml/2006/main">
            <a:off x="6619875" y="3181350"/>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74" b="0">
                <a:solidFill>
                  <a:srgbClr val="514E58"/>
                </a:solidFill>
                <a:latin typeface="Comfortaa"/>
                <a:ea typeface="Comfortaa"/>
                <a:cs typeface="Comfortaa"/>
              </a:defRPr>
            </a:defPPr>
          </a:lstStyle>
          <a:p xmlns:a="http://schemas.openxmlformats.org/drawingml/2006/main">
            <a:pPr>
              <a:buNone/>
              <a:defRPr sz="1974" b="0">
                <a:solidFill>
                  <a:srgbClr val="514E58"/>
                </a:solidFill>
                <a:latin typeface="Comfortaa"/>
                <a:ea typeface="Comfortaa"/>
                <a:cs typeface="Comfortaa"/>
              </a:defRPr>
            </a:pPr>
            <a:r>
              <a:rPr sz="1974" b="0">
                <a:solidFill>
                  <a:srgbClr val="514E58"/>
                </a:solidFill>
                <a:latin typeface="Comfortaa"/>
                <a:ea typeface="Comfortaa"/>
                <a:cs typeface="Comfortaa"/>
              </a:rPr>
              <a:t>Accept: application/xml</a:t>
            </a:r>
          </a:p>
          <a:p xmlns:a="http://schemas.openxmlformats.org/drawingml/2006/main">
            <a:endParaRPr sz="2100" b="0">
              <a:solidFill>
                <a:srgbClr val="354740"/>
              </a:solidFill>
              <a:latin typeface="DejaVu Sans"/>
              <a:ea typeface="DejaVu Sans"/>
              <a:cs typeface="DejaVu Sans"/>
            </a:endParaRPr>
          </a:p>
          <a:p xmlns:a="http://schemas.openxmlformats.org/drawingml/2006/main">
            <a:pPr>
              <a:buNone/>
              <a:defRPr sz="1974" b="0">
                <a:solidFill>
                  <a:srgbClr val="514E58"/>
                </a:solidFill>
                <a:latin typeface="Comfortaa"/>
                <a:ea typeface="Comfortaa"/>
                <a:cs typeface="Comfortaa"/>
              </a:defRPr>
            </a:pPr>
            <a:r>
              <a:rPr sz="1974" b="0">
                <a:solidFill>
                  <a:srgbClr val="514E58"/>
                </a:solidFill>
                <a:latin typeface="Comfortaa"/>
                <a:ea typeface="Comfortaa"/>
                <a:cs typeface="Comfortaa"/>
              </a:rPr>
              <a:t>Namespace urn:microhubs:v1</a:t>
            </a:r>
          </a:p>
          <a:p xmlns:a="http://schemas.openxmlformats.org/drawingml/2006/main">
            <a:pPr>
              <a:buNone/>
              <a:defRPr sz="1974" b="0">
                <a:solidFill>
                  <a:srgbClr val="514E58"/>
                </a:solidFill>
                <a:latin typeface="Comfortaa"/>
                <a:ea typeface="Comfortaa"/>
                <a:cs typeface="Comfortaa"/>
              </a:defRPr>
            </a:pPr>
            <a:r>
              <a:rPr sz="1974" b="0">
                <a:solidFill>
                  <a:srgbClr val="514E58"/>
                </a:solidFill>
                <a:latin typeface="Comfortaa"/>
                <a:ea typeface="Comfortaa"/>
                <a:cs typeface="Comfortaa"/>
              </a:rPr>
              <a:t>Validación de entrada con XSD.</a:t>
            </a:r>
          </a:p>
        </p:txBody>
      </p:sp>
      <p:sp>
        <p:nvSpPr>
          <p:cNvPr id="9" name="text-8">
            <a:extLst xmlns:a="http://schemas.openxmlformats.org/drawingml/2006/main">
              <a:ext uri="{FF2B5EF4-FFF2-40B4-BE49-F238E27FC236}">
                <a16:creationId xmlns:a16="http://schemas.microsoft.com/office/drawing/2014/main" id="{388F36BD-3832-4ED8-A28C-0421DD2E9985}"/>
              </a:ext>
            </a:extLst>
          </p:cNvPr>
          <p:cNvSpPr>
            <a:spLocks xmlns:a="http://schemas.openxmlformats.org/drawingml/2006/main" noGrp="1"/>
          </p:cNvSpPr>
          <p:nvPr/>
        </p:nvSpPr>
        <p:spPr>
          <a:xfrm xmlns:a="http://schemas.openxmlformats.org/drawingml/2006/main">
            <a:off x="619125" y="54959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Accept negocia la respuesta. Content-Type define la entrada. Los lotes GPS solo admiten JSON.</a:t>
            </a:r>
          </a:p>
        </p:txBody>
      </p:sp>
      <p:pic>
        <p:nvPicPr>
          <p:cNvPr id="11" name="">
            <a:extLst xmlns:a="http://schemas.openxmlformats.org/drawingml/2006/main">
              <a:ext uri="{FF2B5EF4-FFF2-40B4-BE49-F238E27FC236}">
                <a16:creationId xmlns:a16="http://schemas.microsoft.com/office/drawing/2014/main" id="{0674D403-08FE-4D1B-82D2-CB5A345BC2E1}"/>
              </a:ext>
            </a:extLst>
          </p:cNvPr>
          <p:cNvPicPr>
            <a:picLocks xmlns:a="http://schemas.openxmlformats.org/drawingml/2006/main" noChangeAspect="1"/>
          </p:cNvPicPr>
          <p:nvPr/>
        </p:nvPicPr>
        <p:blipFill>
          <a:blip xmlns:r="http://schemas.openxmlformats.org/officeDocument/2006/relationships" xmlns:a="http://schemas.openxmlformats.org/drawingml/2006/main" r:embed="Rc7687fab662d451b"/>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1991067342"/>
      </p:ext>
    </p:extLst>
  </p:cSld>
</p:sld>
</file>

<file path=ppt/slides/slide22.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6DC5A290-5C52-47BB-AE50-05CECC6A3DFD}"/>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Detalle de los contratos de integración</a:t>
            </a:r>
          </a:p>
        </p:txBody>
      </p:sp>
      <p:sp>
        <p:nvSpPr>
          <p:cNvPr id="2" name="text-1">
            <a:extLst xmlns:a="http://schemas.openxmlformats.org/drawingml/2006/main">
              <a:ext uri="{FF2B5EF4-FFF2-40B4-BE49-F238E27FC236}">
                <a16:creationId xmlns:a16="http://schemas.microsoft.com/office/drawing/2014/main" id="{5BBAAD9D-4103-45D5-B8D8-C6A65AFE4F8A}"/>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A1CC7C4B-F436-4FF2-B1E7-C74F71FB0512}"/>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22</a:t>
            </a:r>
          </a:p>
        </p:txBody>
      </p:sp>
      <p:sp>
        <p:nvSpPr>
          <p:cNvPr id="4" name="text-3">
            <a:extLst xmlns:a="http://schemas.openxmlformats.org/drawingml/2006/main">
              <a:ext uri="{FF2B5EF4-FFF2-40B4-BE49-F238E27FC236}">
                <a16:creationId xmlns:a16="http://schemas.microsoft.com/office/drawing/2014/main" id="{3167D0F8-0A08-4073-A290-98E315170D61}"/>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JSON</a:t>
            </a:r>
          </a:p>
        </p:txBody>
      </p:sp>
      <p:sp>
        <p:nvSpPr>
          <p:cNvPr id="5" name="text-4">
            <a:extLst xmlns:a="http://schemas.openxmlformats.org/drawingml/2006/main">
              <a:ext uri="{FF2B5EF4-FFF2-40B4-BE49-F238E27FC236}">
                <a16:creationId xmlns:a16="http://schemas.microsoft.com/office/drawing/2014/main" id="{0C1848A9-DC38-4A49-BF88-A6AE12C9786E}"/>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Campos requeridos/opcionales, tipos, validaciones y errores.</a:t>
            </a:r>
          </a:p>
        </p:txBody>
      </p:sp>
      <p:sp>
        <p:nvSpPr>
          <p:cNvPr id="6" name="text-5">
            <a:extLst xmlns:a="http://schemas.openxmlformats.org/drawingml/2006/main">
              <a:ext uri="{FF2B5EF4-FFF2-40B4-BE49-F238E27FC236}">
                <a16:creationId xmlns:a16="http://schemas.microsoft.com/office/drawing/2014/main" id="{25255D16-92A3-4F80-AA99-7F9B981DF3C9}"/>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Paginación</a:t>
            </a:r>
          </a:p>
        </p:txBody>
      </p:sp>
      <p:sp>
        <p:nvSpPr>
          <p:cNvPr id="7" name="text-6">
            <a:extLst xmlns:a="http://schemas.openxmlformats.org/drawingml/2006/main">
              <a:ext uri="{FF2B5EF4-FFF2-40B4-BE49-F238E27FC236}">
                <a16:creationId xmlns:a16="http://schemas.microsoft.com/office/drawing/2014/main" id="{006DBBAF-6C1F-42B7-9FEB-B0E503188B25}"/>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datos + paginacion: pagina, por_pagina, total y paginas.</a:t>
            </a:r>
          </a:p>
        </p:txBody>
      </p:sp>
      <p:sp>
        <p:nvSpPr>
          <p:cNvPr id="8" name="text-7">
            <a:extLst xmlns:a="http://schemas.openxmlformats.org/drawingml/2006/main">
              <a:ext uri="{FF2B5EF4-FFF2-40B4-BE49-F238E27FC236}">
                <a16:creationId xmlns:a16="http://schemas.microsoft.com/office/drawing/2014/main" id="{B8E4E155-B3EF-45A9-A5A8-B32808B401BE}"/>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XML</a:t>
            </a:r>
          </a:p>
        </p:txBody>
      </p:sp>
      <p:sp>
        <p:nvSpPr>
          <p:cNvPr id="9" name="text-8">
            <a:extLst xmlns:a="http://schemas.openxmlformats.org/drawingml/2006/main">
              <a:ext uri="{FF2B5EF4-FFF2-40B4-BE49-F238E27FC236}">
                <a16:creationId xmlns:a16="http://schemas.microsoft.com/office/drawing/2014/main" id="{F871CE8E-427E-4DCF-8EC1-905E5EF7E656}"/>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UTF-8, raíz por recurso, versión, namespace y jerarquías.</a:t>
            </a:r>
          </a:p>
        </p:txBody>
      </p:sp>
      <p:sp>
        <p:nvSpPr>
          <p:cNvPr id="10" name="text-9">
            <a:extLst xmlns:a="http://schemas.openxmlformats.org/drawingml/2006/main">
              <a:ext uri="{FF2B5EF4-FFF2-40B4-BE49-F238E27FC236}">
                <a16:creationId xmlns:a16="http://schemas.microsoft.com/office/drawing/2014/main" id="{09AE8886-F362-45AA-BDB7-ADC63018946A}"/>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XSD</a:t>
            </a:r>
          </a:p>
        </p:txBody>
      </p:sp>
      <p:sp>
        <p:nvSpPr>
          <p:cNvPr id="11" name="text-10">
            <a:extLst xmlns:a="http://schemas.openxmlformats.org/drawingml/2006/main">
              <a:ext uri="{FF2B5EF4-FFF2-40B4-BE49-F238E27FC236}">
                <a16:creationId xmlns:a16="http://schemas.microsoft.com/office/drawing/2014/main" id="{018084D4-8543-4F1D-AED2-81BF3782D75E}"/>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Nueve esquemas. Validación de entrada y rechazo de DTD/entidades.</a:t>
            </a:r>
          </a:p>
        </p:txBody>
      </p:sp>
    </p:spTree>
    <p:extLst>
      <p:ext uri="{BB962C8B-B14F-4D97-AF65-F5344CB8AC3E}">
        <p14:creationId xmlns:p14="http://schemas.microsoft.com/office/powerpoint/2010/main" val="790262311"/>
      </p:ext>
    </p:extLst>
  </p:cSld>
</p:sld>
</file>

<file path=ppt/slides/slide23.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29A696A-55B1-4EFE-A12D-33AD32CA2693}"/>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Swagger y salud de los diez servicios</a:t>
            </a:r>
          </a:p>
        </p:txBody>
      </p:sp>
      <p:sp>
        <p:nvSpPr>
          <p:cNvPr id="2" name="text-1">
            <a:extLst xmlns:a="http://schemas.openxmlformats.org/drawingml/2006/main">
              <a:ext uri="{FF2B5EF4-FFF2-40B4-BE49-F238E27FC236}">
                <a16:creationId xmlns:a16="http://schemas.microsoft.com/office/drawing/2014/main" id="{19544EA5-A594-43F7-B585-0BBE528F5012}"/>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12735BE1-956C-4838-94E2-4F435C20910D}"/>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23</a:t>
            </a:r>
          </a:p>
        </p:txBody>
      </p:sp>
      <p:sp>
        <p:nvSpPr>
          <p:cNvPr id="4" name="text-3">
            <a:extLst xmlns:a="http://schemas.openxmlformats.org/drawingml/2006/main">
              <a:ext uri="{FF2B5EF4-FFF2-40B4-BE49-F238E27FC236}">
                <a16:creationId xmlns:a16="http://schemas.microsoft.com/office/drawing/2014/main" id="{D108571C-951E-4893-8B23-E2953FD84BEE}"/>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Documentación</a:t>
            </a:r>
          </a:p>
        </p:txBody>
      </p:sp>
      <p:sp>
        <p:nvSpPr>
          <p:cNvPr id="5" name="text-4">
            <a:extLst xmlns:a="http://schemas.openxmlformats.org/drawingml/2006/main">
              <a:ext uri="{FF2B5EF4-FFF2-40B4-BE49-F238E27FC236}">
                <a16:creationId xmlns:a16="http://schemas.microsoft.com/office/drawing/2014/main" id="{A454703A-A310-4BD4-BFDD-1107C615961A}"/>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Ejemplo: http://localhost:5110/api/v1/docs</a:t>
            </a:r>
          </a:p>
        </p:txBody>
      </p:sp>
      <p:sp>
        <p:nvSpPr>
          <p:cNvPr id="6" name="text-5">
            <a:extLst xmlns:a="http://schemas.openxmlformats.org/drawingml/2006/main">
              <a:ext uri="{FF2B5EF4-FFF2-40B4-BE49-F238E27FC236}">
                <a16:creationId xmlns:a16="http://schemas.microsoft.com/office/drawing/2014/main" id="{FA8378E8-758E-4B6D-930B-1BB102C11629}"/>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Especificación</a:t>
            </a:r>
          </a:p>
        </p:txBody>
      </p:sp>
      <p:sp>
        <p:nvSpPr>
          <p:cNvPr id="7" name="text-6">
            <a:extLst xmlns:a="http://schemas.openxmlformats.org/drawingml/2006/main">
              <a:ext uri="{FF2B5EF4-FFF2-40B4-BE49-F238E27FC236}">
                <a16:creationId xmlns:a16="http://schemas.microsoft.com/office/drawing/2014/main" id="{AAA7A248-5B78-4038-97BD-6D9514334B9C}"/>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/api/v1/openapi.json: rutas, métodos y parámetros.</a:t>
            </a:r>
          </a:p>
        </p:txBody>
      </p:sp>
      <p:sp>
        <p:nvSpPr>
          <p:cNvPr id="8" name="text-7">
            <a:extLst xmlns:a="http://schemas.openxmlformats.org/drawingml/2006/main">
              <a:ext uri="{FF2B5EF4-FFF2-40B4-BE49-F238E27FC236}">
                <a16:creationId xmlns:a16="http://schemas.microsoft.com/office/drawing/2014/main" id="{4998C25A-8BCA-4180-A5D2-FB67A5789D02}"/>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Ejecución</a:t>
            </a:r>
          </a:p>
        </p:txBody>
      </p:sp>
      <p:sp>
        <p:nvSpPr>
          <p:cNvPr id="9" name="text-8">
            <a:extLst xmlns:a="http://schemas.openxmlformats.org/drawingml/2006/main">
              <a:ext uri="{FF2B5EF4-FFF2-40B4-BE49-F238E27FC236}">
                <a16:creationId xmlns:a16="http://schemas.microsoft.com/office/drawing/2014/main" id="{1FC6741B-3E3D-4205-A4C6-2E325B6BD61F}"/>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Authorize con JWT y Try it out contra el servicio activo.</a:t>
            </a:r>
          </a:p>
        </p:txBody>
      </p:sp>
      <p:sp>
        <p:nvSpPr>
          <p:cNvPr id="10" name="text-9">
            <a:extLst xmlns:a="http://schemas.openxmlformats.org/drawingml/2006/main">
              <a:ext uri="{FF2B5EF4-FFF2-40B4-BE49-F238E27FC236}">
                <a16:creationId xmlns:a16="http://schemas.microsoft.com/office/drawing/2014/main" id="{DE6B74B9-D0D1-4CCB-9055-7DBD3BCEC8CC}"/>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Respuestas</a:t>
            </a:r>
          </a:p>
        </p:txBody>
      </p:sp>
      <p:sp>
        <p:nvSpPr>
          <p:cNvPr id="11" name="text-10">
            <a:extLst xmlns:a="http://schemas.openxmlformats.org/drawingml/2006/main">
              <a:ext uri="{FF2B5EF4-FFF2-40B4-BE49-F238E27FC236}">
                <a16:creationId xmlns:a16="http://schemas.microsoft.com/office/drawing/2014/main" id="{CAC143F7-39D4-4DC8-ABDA-57D0DFBA0EF7}"/>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Ejemplos JSON/XML, códigos de éxito y error.</a:t>
            </a:r>
          </a:p>
        </p:txBody>
      </p:sp>
      <p:sp>
        <p:nvSpPr>
          <p:cNvPr id="12" name="text-11">
            <a:extLst xmlns:a="http://schemas.openxmlformats.org/drawingml/2006/main">
              <a:ext uri="{FF2B5EF4-FFF2-40B4-BE49-F238E27FC236}">
                <a16:creationId xmlns:a16="http://schemas.microsoft.com/office/drawing/2014/main" id="{CC843D7C-A858-45D6-AF6F-33D1535D78E9}"/>
              </a:ext>
            </a:extLst>
          </p:cNvPr>
          <p:cNvSpPr>
            <a:spLocks xmlns:a="http://schemas.openxmlformats.org/drawingml/2006/main" noGrp="1"/>
          </p:cNvSpPr>
          <p:nvPr/>
        </p:nvSpPr>
        <p:spPr>
          <a:xfrm xmlns:a="http://schemas.openxmlformats.org/drawingml/2006/main">
            <a:off x="619125" y="48577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Salud</a:t>
            </a:r>
          </a:p>
        </p:txBody>
      </p:sp>
      <p:sp>
        <p:nvSpPr>
          <p:cNvPr id="13" name="text-12">
            <a:extLst xmlns:a="http://schemas.openxmlformats.org/drawingml/2006/main">
              <a:ext uri="{FF2B5EF4-FFF2-40B4-BE49-F238E27FC236}">
                <a16:creationId xmlns:a16="http://schemas.microsoft.com/office/drawing/2014/main" id="{C948B2FD-8914-4CEB-A8B1-872A6C056740}"/>
              </a:ext>
            </a:extLst>
          </p:cNvPr>
          <p:cNvSpPr>
            <a:spLocks xmlns:a="http://schemas.openxmlformats.org/drawingml/2006/main" noGrp="1"/>
          </p:cNvSpPr>
          <p:nvPr/>
        </p:nvSpPr>
        <p:spPr>
          <a:xfrm xmlns:a="http://schemas.openxmlformats.org/drawingml/2006/main">
            <a:off x="3857625" y="48577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GET /health o /api/v1/salud: estado y dependencias.</a:t>
            </a:r>
          </a:p>
        </p:txBody>
      </p:sp>
    </p:spTree>
    <p:extLst>
      <p:ext uri="{BB962C8B-B14F-4D97-AF65-F5344CB8AC3E}">
        <p14:creationId xmlns:p14="http://schemas.microsoft.com/office/powerpoint/2010/main" val="574895607"/>
      </p:ext>
    </p:extLst>
  </p:cSld>
</p:sld>
</file>

<file path=ppt/slides/slide24.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4C10F401-C357-4614-A3B1-940DDA12F0E7}"/>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Evidencia completa por endpoint</a:t>
            </a:r>
          </a:p>
        </p:txBody>
      </p:sp>
      <p:sp>
        <p:nvSpPr>
          <p:cNvPr id="2" name="text-1">
            <a:extLst xmlns:a="http://schemas.openxmlformats.org/drawingml/2006/main">
              <a:ext uri="{FF2B5EF4-FFF2-40B4-BE49-F238E27FC236}">
                <a16:creationId xmlns:a16="http://schemas.microsoft.com/office/drawing/2014/main" id="{EA95B9EF-E0E0-412E-A9D2-7041135AE632}"/>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3BF338C7-19A2-4698-BD73-CAD424B754D7}"/>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24</a:t>
            </a:r>
          </a:p>
        </p:txBody>
      </p:sp>
      <p:sp>
        <p:nvSpPr>
          <p:cNvPr id="4" name="text-3">
            <a:extLst xmlns:a="http://schemas.openxmlformats.org/drawingml/2006/main">
              <a:ext uri="{FF2B5EF4-FFF2-40B4-BE49-F238E27FC236}">
                <a16:creationId xmlns:a16="http://schemas.microsoft.com/office/drawing/2014/main" id="{444930D2-3A95-4D10-ACF6-EE78F0208218}"/>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Solicitud</a:t>
            </a:r>
          </a:p>
        </p:txBody>
      </p:sp>
      <p:sp>
        <p:nvSpPr>
          <p:cNvPr id="5" name="text-4">
            <a:extLst xmlns:a="http://schemas.openxmlformats.org/drawingml/2006/main">
              <a:ext uri="{FF2B5EF4-FFF2-40B4-BE49-F238E27FC236}">
                <a16:creationId xmlns:a16="http://schemas.microsoft.com/office/drawing/2014/main" id="{4D08357E-BCCD-42DA-AC3F-DF51D0076CE8}"/>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URL completa, método, propósito, parámetros, headers y body.</a:t>
            </a:r>
          </a:p>
        </p:txBody>
      </p:sp>
      <p:sp>
        <p:nvSpPr>
          <p:cNvPr id="6" name="text-5">
            <a:extLst xmlns:a="http://schemas.openxmlformats.org/drawingml/2006/main">
              <a:ext uri="{FF2B5EF4-FFF2-40B4-BE49-F238E27FC236}">
                <a16:creationId xmlns:a16="http://schemas.microsoft.com/office/drawing/2014/main" id="{7EF28510-FF23-4F75-864C-46165A6A237B}"/>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Respuesta</a:t>
            </a:r>
          </a:p>
        </p:txBody>
      </p:sp>
      <p:sp>
        <p:nvSpPr>
          <p:cNvPr id="7" name="text-6">
            <a:extLst xmlns:a="http://schemas.openxmlformats.org/drawingml/2006/main">
              <a:ext uri="{FF2B5EF4-FFF2-40B4-BE49-F238E27FC236}">
                <a16:creationId xmlns:a16="http://schemas.microsoft.com/office/drawing/2014/main" id="{717E248F-11C7-40B4-9659-C7CED95B484F}"/>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Body completo, código HTTP, tiempo y X-Traza-Id.</a:t>
            </a:r>
          </a:p>
        </p:txBody>
      </p:sp>
      <p:sp>
        <p:nvSpPr>
          <p:cNvPr id="8" name="text-7">
            <a:extLst xmlns:a="http://schemas.openxmlformats.org/drawingml/2006/main">
              <a:ext uri="{FF2B5EF4-FFF2-40B4-BE49-F238E27FC236}">
                <a16:creationId xmlns:a16="http://schemas.microsoft.com/office/drawing/2014/main" id="{ED1B0244-3191-4E56-9D03-F1D2222D47A7}"/>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Persistencia</a:t>
            </a:r>
          </a:p>
        </p:txBody>
      </p:sp>
      <p:sp>
        <p:nvSpPr>
          <p:cNvPr id="9" name="text-8">
            <a:extLst xmlns:a="http://schemas.openxmlformats.org/drawingml/2006/main">
              <a:ext uri="{FF2B5EF4-FFF2-40B4-BE49-F238E27FC236}">
                <a16:creationId xmlns:a16="http://schemas.microsoft.com/office/drawing/2014/main" id="{F7817BC1-E10F-45F3-8953-28736CD529F1}"/>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Consulta del resultado en PostgreSQL, MongoDB o Redis.</a:t>
            </a:r>
          </a:p>
        </p:txBody>
      </p:sp>
      <p:sp>
        <p:nvSpPr>
          <p:cNvPr id="10" name="text-9">
            <a:extLst xmlns:a="http://schemas.openxmlformats.org/drawingml/2006/main">
              <a:ext uri="{FF2B5EF4-FFF2-40B4-BE49-F238E27FC236}">
                <a16:creationId xmlns:a16="http://schemas.microsoft.com/office/drawing/2014/main" id="{897A8890-72D0-483B-A8C1-B833DBBF2D8B}"/>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Casos</a:t>
            </a:r>
          </a:p>
        </p:txBody>
      </p:sp>
      <p:sp>
        <p:nvSpPr>
          <p:cNvPr id="11" name="text-10">
            <a:extLst xmlns:a="http://schemas.openxmlformats.org/drawingml/2006/main">
              <a:ext uri="{FF2B5EF4-FFF2-40B4-BE49-F238E27FC236}">
                <a16:creationId xmlns:a16="http://schemas.microsoft.com/office/drawing/2014/main" id="{811D8C9A-EDBC-49C7-B6EC-6336D1A44375}"/>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Éxito, entrada inválida, inexistente, no autorizado y error de negocio.</a:t>
            </a:r>
          </a:p>
        </p:txBody>
      </p:sp>
      <p:sp>
        <p:nvSpPr>
          <p:cNvPr id="12" name="text-11">
            <a:extLst xmlns:a="http://schemas.openxmlformats.org/drawingml/2006/main">
              <a:ext uri="{FF2B5EF4-FFF2-40B4-BE49-F238E27FC236}">
                <a16:creationId xmlns:a16="http://schemas.microsoft.com/office/drawing/2014/main" id="{41812DE4-B73B-4C5E-A07F-045EEC440702}"/>
              </a:ext>
            </a:extLst>
          </p:cNvPr>
          <p:cNvSpPr>
            <a:spLocks xmlns:a="http://schemas.openxmlformats.org/drawingml/2006/main" noGrp="1"/>
          </p:cNvSpPr>
          <p:nvPr/>
        </p:nvSpPr>
        <p:spPr>
          <a:xfrm xmlns:a="http://schemas.openxmlformats.org/drawingml/2006/main">
            <a:off x="619125" y="48577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Soporte</a:t>
            </a:r>
          </a:p>
        </p:txBody>
      </p:sp>
      <p:sp>
        <p:nvSpPr>
          <p:cNvPr id="13" name="text-12">
            <a:extLst xmlns:a="http://schemas.openxmlformats.org/drawingml/2006/main">
              <a:ext uri="{FF2B5EF4-FFF2-40B4-BE49-F238E27FC236}">
                <a16:creationId xmlns:a16="http://schemas.microsoft.com/office/drawing/2014/main" id="{51C67A05-7FC9-488B-8F10-9A8C386E217F}"/>
              </a:ext>
            </a:extLst>
          </p:cNvPr>
          <p:cNvSpPr>
            <a:spLocks xmlns:a="http://schemas.openxmlformats.org/drawingml/2006/main" noGrp="1"/>
          </p:cNvSpPr>
          <p:nvPr/>
        </p:nvSpPr>
        <p:spPr>
          <a:xfrm xmlns:a="http://schemas.openxmlformats.org/drawingml/2006/main">
            <a:off x="3857625" y="48577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evidencias.html, evidencias.md, evidencias.json y capturas.</a:t>
            </a:r>
          </a:p>
        </p:txBody>
      </p:sp>
      <p:pic>
        <p:nvPicPr>
          <p:cNvPr id="15" name="">
            <a:extLst xmlns:a="http://schemas.openxmlformats.org/drawingml/2006/main">
              <a:ext uri="{FF2B5EF4-FFF2-40B4-BE49-F238E27FC236}">
                <a16:creationId xmlns:a16="http://schemas.microsoft.com/office/drawing/2014/main" id="{29F58DA3-14AA-444B-9181-995852FA837E}"/>
              </a:ext>
            </a:extLst>
          </p:cNvPr>
          <p:cNvPicPr>
            <a:picLocks xmlns:a="http://schemas.openxmlformats.org/drawingml/2006/main" noChangeAspect="1"/>
          </p:cNvPicPr>
          <p:nvPr/>
        </p:nvPicPr>
        <p:blipFill>
          <a:blip xmlns:r="http://schemas.openxmlformats.org/officeDocument/2006/relationships" xmlns:a="http://schemas.openxmlformats.org/drawingml/2006/main" r:embed="R2eceb10be44844ed"/>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2036091623"/>
      </p:ext>
    </p:extLst>
  </p:cSld>
</p:sld>
</file>

<file path=ppt/slides/slide2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79B5AFFA-DF88-4111-8BB8-207E680EDE5A}"/>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Evidencia real: cierre de una entrega</a:t>
            </a:r>
          </a:p>
        </p:txBody>
      </p:sp>
      <p:sp>
        <p:nvSpPr>
          <p:cNvPr id="2" name="text-1">
            <a:extLst xmlns:a="http://schemas.openxmlformats.org/drawingml/2006/main">
              <a:ext uri="{FF2B5EF4-FFF2-40B4-BE49-F238E27FC236}">
                <a16:creationId xmlns:a16="http://schemas.microsoft.com/office/drawing/2014/main" id="{F12F9679-79D7-4A68-9F56-46E718E61723}"/>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5D7CC630-2CF4-43CD-997F-7F46D41BC36A}"/>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25</a:t>
            </a:r>
          </a:p>
        </p:txBody>
      </p:sp>
      <p:sp>
        <p:nvSpPr>
          <p:cNvPr id="4" name="text-3">
            <a:extLst xmlns:a="http://schemas.openxmlformats.org/drawingml/2006/main">
              <a:ext uri="{FF2B5EF4-FFF2-40B4-BE49-F238E27FC236}">
                <a16:creationId xmlns:a16="http://schemas.microsoft.com/office/drawing/2014/main" id="{AC98E42D-D696-4940-8044-67CE771FF2FA}"/>
              </a:ext>
            </a:extLst>
          </p:cNvPr>
          <p:cNvSpPr>
            <a:spLocks xmlns:a="http://schemas.openxmlformats.org/drawingml/2006/main" noGrp="1"/>
          </p:cNvSpPr>
          <p:nvPr/>
        </p:nvSpPr>
        <p:spPr>
          <a:xfrm xmlns:a="http://schemas.openxmlformats.org/drawingml/2006/main">
            <a:off x="619125" y="1552575"/>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86" b="0">
                <a:solidFill>
                  <a:srgbClr val="80649B"/>
                </a:solidFill>
                <a:latin typeface="Playfair Display"/>
                <a:ea typeface="Playfair Display"/>
                <a:cs typeface="Playfair Display"/>
              </a:defRPr>
            </a:defPPr>
          </a:lstStyle>
          <a:p xmlns:a="http://schemas.openxmlformats.org/drawingml/2006/main">
            <a:pPr>
              <a:buNone/>
              <a:defRPr sz="2186" b="0">
                <a:solidFill>
                  <a:srgbClr val="80649B"/>
                </a:solidFill>
                <a:latin typeface="Playfair Display"/>
                <a:ea typeface="Playfair Display"/>
                <a:cs typeface="Playfair Display"/>
              </a:defRPr>
            </a:pPr>
            <a:r>
              <a:rPr sz="2186" b="0">
                <a:solidFill>
                  <a:srgbClr val="80649B"/>
                </a:solidFill>
                <a:latin typeface="Playfair Display"/>
                <a:ea typeface="Playfair Display"/>
                <a:cs typeface="Playfair Display"/>
              </a:rPr>
              <a:t>POST  /api/v1/entregas/129/resultado</a:t>
            </a:r>
          </a:p>
        </p:txBody>
      </p:sp>
      <p:sp>
        <p:nvSpPr>
          <p:cNvPr id="5" name="text-4">
            <a:extLst xmlns:a="http://schemas.openxmlformats.org/drawingml/2006/main">
              <a:ext uri="{FF2B5EF4-FFF2-40B4-BE49-F238E27FC236}">
                <a16:creationId xmlns:a16="http://schemas.microsoft.com/office/drawing/2014/main" id="{5E2901A2-6BF6-4A11-9D66-B83519629947}"/>
              </a:ext>
            </a:extLst>
          </p:cNvPr>
          <p:cNvSpPr>
            <a:spLocks xmlns:a="http://schemas.openxmlformats.org/drawingml/2006/main" noGrp="1"/>
          </p:cNvSpPr>
          <p:nvPr/>
        </p:nvSpPr>
        <p:spPr>
          <a:xfrm xmlns:a="http://schemas.openxmlformats.org/drawingml/2006/main">
            <a:off x="619125" y="2286000"/>
            <a:ext cx="509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80649B"/>
                </a:solidFill>
                <a:latin typeface="Playfair Display"/>
                <a:ea typeface="Playfair Display"/>
                <a:cs typeface="Playfair Display"/>
              </a:defRPr>
            </a:defPPr>
          </a:lstStyle>
          <a:p xmlns:a="http://schemas.openxmlformats.org/drawingml/2006/main">
            <a:pPr>
              <a:buNone/>
              <a:defRPr sz="1904" b="0">
                <a:solidFill>
                  <a:srgbClr val="80649B"/>
                </a:solidFill>
                <a:latin typeface="Playfair Display"/>
                <a:ea typeface="Playfair Display"/>
                <a:cs typeface="Playfair Display"/>
              </a:defRPr>
            </a:pPr>
            <a:r>
              <a:rPr sz="1904" b="0">
                <a:solidFill>
                  <a:srgbClr val="80649B"/>
                </a:solidFill>
                <a:latin typeface="Playfair Display"/>
                <a:ea typeface="Playfair Display"/>
                <a:cs typeface="Playfair Display"/>
              </a:rPr>
              <a:t>Solicitud (extracto)</a:t>
            </a:r>
          </a:p>
        </p:txBody>
      </p:sp>
      <p:sp>
        <p:nvSpPr>
          <p:cNvPr id="6" name="text-5">
            <a:extLst xmlns:a="http://schemas.openxmlformats.org/drawingml/2006/main">
              <a:ext uri="{FF2B5EF4-FFF2-40B4-BE49-F238E27FC236}">
                <a16:creationId xmlns:a16="http://schemas.microsoft.com/office/drawing/2014/main" id="{A680FB4F-4385-4646-8FC7-EA78F339C218}"/>
              </a:ext>
            </a:extLst>
          </p:cNvPr>
          <p:cNvSpPr>
            <a:spLocks xmlns:a="http://schemas.openxmlformats.org/drawingml/2006/main" noGrp="1"/>
          </p:cNvSpPr>
          <p:nvPr/>
        </p:nvSpPr>
        <p:spPr>
          <a:xfrm xmlns:a="http://schemas.openxmlformats.org/drawingml/2006/main">
            <a:off x="619125" y="2886075"/>
            <a:ext cx="54768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63" b="0">
                <a:solidFill>
                  <a:srgbClr val="514E58"/>
                </a:solidFill>
                <a:latin typeface="Comfortaa"/>
                <a:ea typeface="Comfortaa"/>
                <a:cs typeface="Comfortaa"/>
              </a:defRPr>
            </a:defPPr>
          </a:lstStyle>
          <a:p xmlns:a="http://schemas.openxmlformats.org/drawingml/2006/main">
            <a:pPr>
              <a:buNone/>
              <a:defRPr sz="1763" b="0">
                <a:solidFill>
                  <a:srgbClr val="514E58"/>
                </a:solidFill>
                <a:latin typeface="Comfortaa"/>
                <a:ea typeface="Comfortaa"/>
                <a:cs typeface="Comfortaa"/>
              </a:defRPr>
            </a:pPr>
            <a:r>
              <a:rPr sz="1763" b="0">
                <a:solidFill>
                  <a:srgbClr val="514E58"/>
                </a:solidFill>
                <a:latin typeface="Comfortaa"/>
                <a:ea typeface="Comfortaa"/>
                <a:cs typeface="Comfortaa"/>
              </a:rPr>
              <a:t>Authorization: Bearer &lt;JWT&gt;
Content-Type: application/json
resultado: "entregado"
monto_cobrado: 146.80
id_cliente_local: UUID de operación</a:t>
            </a:r>
          </a:p>
        </p:txBody>
      </p:sp>
      <p:sp>
        <p:nvSpPr>
          <p:cNvPr id="7" name="text-6">
            <a:extLst xmlns:a="http://schemas.openxmlformats.org/drawingml/2006/main">
              <a:ext uri="{FF2B5EF4-FFF2-40B4-BE49-F238E27FC236}">
                <a16:creationId xmlns:a16="http://schemas.microsoft.com/office/drawing/2014/main" id="{8F6F8E32-9DA5-495D-843D-7179C1FBCD64}"/>
              </a:ext>
            </a:extLst>
          </p:cNvPr>
          <p:cNvSpPr>
            <a:spLocks xmlns:a="http://schemas.openxmlformats.org/drawingml/2006/main" noGrp="1"/>
          </p:cNvSpPr>
          <p:nvPr/>
        </p:nvSpPr>
        <p:spPr>
          <a:xfrm xmlns:a="http://schemas.openxmlformats.org/drawingml/2006/main">
            <a:off x="6810375" y="22860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80649B"/>
                </a:solidFill>
                <a:latin typeface="Playfair Display"/>
                <a:ea typeface="Playfair Display"/>
                <a:cs typeface="Playfair Display"/>
              </a:defRPr>
            </a:defPPr>
          </a:lstStyle>
          <a:p xmlns:a="http://schemas.openxmlformats.org/drawingml/2006/main">
            <a:pPr>
              <a:buNone/>
              <a:defRPr sz="1904" b="0">
                <a:solidFill>
                  <a:srgbClr val="80649B"/>
                </a:solidFill>
                <a:latin typeface="Playfair Display"/>
                <a:ea typeface="Playfair Display"/>
                <a:cs typeface="Playfair Display"/>
              </a:defRPr>
            </a:pPr>
            <a:r>
              <a:rPr sz="1904" b="0">
                <a:solidFill>
                  <a:srgbClr val="80649B"/>
                </a:solidFill>
                <a:latin typeface="Playfair Display"/>
                <a:ea typeface="Playfair Display"/>
                <a:cs typeface="Playfair Display"/>
              </a:rPr>
              <a:t>Respuesta 201 (extracto)</a:t>
            </a:r>
          </a:p>
        </p:txBody>
      </p:sp>
      <p:sp>
        <p:nvSpPr>
          <p:cNvPr id="8" name="text-7">
            <a:extLst xmlns:a="http://schemas.openxmlformats.org/drawingml/2006/main">
              <a:ext uri="{FF2B5EF4-FFF2-40B4-BE49-F238E27FC236}">
                <a16:creationId xmlns:a16="http://schemas.microsoft.com/office/drawing/2014/main" id="{9E039BDB-0EE3-42C5-B9AD-BF92D2DE6AE0}"/>
              </a:ext>
            </a:extLst>
          </p:cNvPr>
          <p:cNvSpPr>
            <a:spLocks xmlns:a="http://schemas.openxmlformats.org/drawingml/2006/main" noGrp="1"/>
          </p:cNvSpPr>
          <p:nvPr/>
        </p:nvSpPr>
        <p:spPr>
          <a:xfrm xmlns:a="http://schemas.openxmlformats.org/drawingml/2006/main">
            <a:off x="6810375" y="2886075"/>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04" b="0">
                <a:solidFill>
                  <a:srgbClr val="514E58"/>
                </a:solidFill>
                <a:latin typeface="Comfortaa"/>
                <a:ea typeface="Comfortaa"/>
                <a:cs typeface="Comfortaa"/>
              </a:defRPr>
            </a:defPPr>
          </a:lstStyle>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entrega_id: 129</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pedido_id: 153</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estado_pedido: "entregado"</a:t>
            </a:r>
          </a:p>
          <a:p xmlns:a="http://schemas.openxmlformats.org/drawingml/2006/main">
            <a:pPr>
              <a:buNone/>
              <a:defRPr sz="1904" b="0">
                <a:solidFill>
                  <a:srgbClr val="514E58"/>
                </a:solidFill>
                <a:latin typeface="Comfortaa"/>
                <a:ea typeface="Comfortaa"/>
                <a:cs typeface="Comfortaa"/>
              </a:defRPr>
            </a:pPr>
            <a:r>
              <a:rPr sz="1904" b="0">
                <a:solidFill>
                  <a:srgbClr val="514E58"/>
                </a:solidFill>
                <a:latin typeface="Comfortaa"/>
                <a:ea typeface="Comfortaa"/>
                <a:cs typeface="Comfortaa"/>
              </a:rPr>
              <a:t>duplicado: false</a:t>
            </a:r>
          </a:p>
        </p:txBody>
      </p:sp>
      <p:sp>
        <p:nvSpPr>
          <p:cNvPr id="9" name="text-8">
            <a:extLst xmlns:a="http://schemas.openxmlformats.org/drawingml/2006/main">
              <a:ext uri="{FF2B5EF4-FFF2-40B4-BE49-F238E27FC236}">
                <a16:creationId xmlns:a16="http://schemas.microsoft.com/office/drawing/2014/main" id="{C1140EE4-3EF7-4891-A096-9E17E2117603}"/>
              </a:ext>
            </a:extLst>
          </p:cNvPr>
          <p:cNvSpPr>
            <a:spLocks xmlns:a="http://schemas.openxmlformats.org/drawingml/2006/main" noGrp="1"/>
          </p:cNvSpPr>
          <p:nvPr/>
        </p:nvSpPr>
        <p:spPr>
          <a:xfrm xmlns:a="http://schemas.openxmlformats.org/drawingml/2006/main">
            <a:off x="619125" y="54292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63" b="0">
                <a:solidFill>
                  <a:srgbClr val="80649B"/>
                </a:solidFill>
                <a:latin typeface="Playfair Display"/>
                <a:ea typeface="Playfair Display"/>
                <a:cs typeface="Playfair Display"/>
              </a:defRPr>
            </a:defPPr>
          </a:lstStyle>
          <a:p xmlns:a="http://schemas.openxmlformats.org/drawingml/2006/main">
            <a:pPr>
              <a:buNone/>
              <a:defRPr sz="1763" b="0">
                <a:solidFill>
                  <a:srgbClr val="80649B"/>
                </a:solidFill>
                <a:latin typeface="Playfair Display"/>
                <a:ea typeface="Playfair Display"/>
                <a:cs typeface="Playfair Display"/>
              </a:defRPr>
            </a:pPr>
            <a:r>
              <a:rPr sz="1763" b="0">
                <a:solidFill>
                  <a:srgbClr val="80649B"/>
                </a:solidFill>
                <a:latin typeface="Playfair Display"/>
                <a:ea typeface="Playfair Display"/>
                <a:cs typeface="Playfair Display"/>
              </a:rPr>
              <a:t>Mismo UUID: HTTP 200 y duplicado = true. Monto incorrecto: 422.</a:t>
            </a:r>
          </a:p>
        </p:txBody>
      </p:sp>
      <p:sp>
        <p:nvSpPr>
          <p:cNvPr id="10" name="text-9">
            <a:extLst xmlns:a="http://schemas.openxmlformats.org/drawingml/2006/main">
              <a:ext uri="{FF2B5EF4-FFF2-40B4-BE49-F238E27FC236}">
                <a16:creationId xmlns:a16="http://schemas.microsoft.com/office/drawing/2014/main" id="{F90B7ECF-E989-4F6D-BE92-0FCDF1A90AEE}"/>
              </a:ext>
            </a:extLst>
          </p:cNvPr>
          <p:cNvSpPr>
            <a:spLocks xmlns:a="http://schemas.openxmlformats.org/drawingml/2006/main" noGrp="1"/>
          </p:cNvSpPr>
          <p:nvPr/>
        </p:nvSpPr>
        <p:spPr>
          <a:xfrm xmlns:a="http://schemas.openxmlformats.org/drawingml/2006/main">
            <a:off x="619125" y="590550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99" b="0">
                <a:solidFill>
                  <a:srgbClr val="514E58"/>
                </a:solidFill>
                <a:latin typeface="Comfortaa"/>
                <a:ea typeface="Comfortaa"/>
                <a:cs typeface="Comfortaa"/>
              </a:defRPr>
            </a:defPPr>
          </a:lstStyle>
          <a:p xmlns:a="http://schemas.openxmlformats.org/drawingml/2006/main">
            <a:pPr>
              <a:buNone/>
              <a:defRPr sz="1199" b="0">
                <a:solidFill>
                  <a:srgbClr val="514E58"/>
                </a:solidFill>
                <a:latin typeface="Comfortaa"/>
                <a:ea typeface="Comfortaa"/>
                <a:cs typeface="Comfortaa"/>
              </a:defRPr>
            </a:pPr>
            <a:r>
              <a:rPr sz="1199" b="0">
                <a:solidFill>
                  <a:srgbClr val="514E58"/>
                </a:solidFill>
                <a:latin typeface="Comfortaa"/>
                <a:ea typeface="Comfortaa"/>
                <a:cs typeface="Comfortaa"/>
              </a:rPr>
              <a:t>Evidencia guardada: ENT-05 / ENT-06 / ENT-04 · 13 octubre 2026</a:t>
            </a:r>
          </a:p>
        </p:txBody>
      </p:sp>
    </p:spTree>
    <p:extLst>
      <p:ext uri="{BB962C8B-B14F-4D97-AF65-F5344CB8AC3E}">
        <p14:creationId xmlns:p14="http://schemas.microsoft.com/office/powerpoint/2010/main" val="687144679"/>
      </p:ext>
    </p:extLst>
  </p:cSld>
</p:sld>
</file>

<file path=ppt/slides/slide26.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A255F43-11C3-40B1-B77D-32E1A74FAB03}"/>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Errores, validaciones y observabilidad</a:t>
            </a:r>
          </a:p>
        </p:txBody>
      </p:sp>
      <p:sp>
        <p:nvSpPr>
          <p:cNvPr id="2" name="text-1">
            <a:extLst xmlns:a="http://schemas.openxmlformats.org/drawingml/2006/main">
              <a:ext uri="{FF2B5EF4-FFF2-40B4-BE49-F238E27FC236}">
                <a16:creationId xmlns:a16="http://schemas.microsoft.com/office/drawing/2014/main" id="{5273DA96-4B9A-4C8B-8C2D-61F9922878F8}"/>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83BC62F1-DC77-4801-A36A-943BD2203431}"/>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26</a:t>
            </a:r>
          </a:p>
        </p:txBody>
      </p:sp>
      <p:sp>
        <p:nvSpPr>
          <p:cNvPr id="4" name="text-3">
            <a:extLst xmlns:a="http://schemas.openxmlformats.org/drawingml/2006/main">
              <a:ext uri="{FF2B5EF4-FFF2-40B4-BE49-F238E27FC236}">
                <a16:creationId xmlns:a16="http://schemas.microsoft.com/office/drawing/2014/main" id="{89D0B30B-ABFC-4343-99D7-A7108F777CF2}"/>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400 / 422</a:t>
            </a:r>
          </a:p>
        </p:txBody>
      </p:sp>
      <p:sp>
        <p:nvSpPr>
          <p:cNvPr id="5" name="text-4">
            <a:extLst xmlns:a="http://schemas.openxmlformats.org/drawingml/2006/main">
              <a:ext uri="{FF2B5EF4-FFF2-40B4-BE49-F238E27FC236}">
                <a16:creationId xmlns:a16="http://schemas.microsoft.com/office/drawing/2014/main" id="{42A2CFFB-3845-4825-B8CE-6544EED35469}"/>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Formato, parámetros o reglas de negocio inválidos.</a:t>
            </a:r>
          </a:p>
        </p:txBody>
      </p:sp>
      <p:sp>
        <p:nvSpPr>
          <p:cNvPr id="6" name="text-5">
            <a:extLst xmlns:a="http://schemas.openxmlformats.org/drawingml/2006/main">
              <a:ext uri="{FF2B5EF4-FFF2-40B4-BE49-F238E27FC236}">
                <a16:creationId xmlns:a16="http://schemas.microsoft.com/office/drawing/2014/main" id="{739893B3-99A3-40C9-9B6C-6AB2AFF6D009}"/>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401 / 403 / 404</a:t>
            </a:r>
          </a:p>
        </p:txBody>
      </p:sp>
      <p:sp>
        <p:nvSpPr>
          <p:cNvPr id="7" name="text-6">
            <a:extLst xmlns:a="http://schemas.openxmlformats.org/drawingml/2006/main">
              <a:ext uri="{FF2B5EF4-FFF2-40B4-BE49-F238E27FC236}">
                <a16:creationId xmlns:a16="http://schemas.microsoft.com/office/drawing/2014/main" id="{D5150365-BC37-40A7-897C-6E274293473A}"/>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Token o sesión inválida, permiso insuficiente o recurso no visible.</a:t>
            </a:r>
          </a:p>
        </p:txBody>
      </p:sp>
      <p:sp>
        <p:nvSpPr>
          <p:cNvPr id="8" name="text-7">
            <a:extLst xmlns:a="http://schemas.openxmlformats.org/drawingml/2006/main">
              <a:ext uri="{FF2B5EF4-FFF2-40B4-BE49-F238E27FC236}">
                <a16:creationId xmlns:a16="http://schemas.microsoft.com/office/drawing/2014/main" id="{CD42376C-8601-4560-97D5-1F19D713E9A9}"/>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409 / 429 / 503</a:t>
            </a:r>
          </a:p>
        </p:txBody>
      </p:sp>
      <p:sp>
        <p:nvSpPr>
          <p:cNvPr id="9" name="text-8">
            <a:extLst xmlns:a="http://schemas.openxmlformats.org/drawingml/2006/main">
              <a:ext uri="{FF2B5EF4-FFF2-40B4-BE49-F238E27FC236}">
                <a16:creationId xmlns:a16="http://schemas.microsoft.com/office/drawing/2014/main" id="{EE6B000D-3A9E-42FD-9C77-A373A7BF0C69}"/>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Conflicto, límite de consumo o dependencia no disponible.</a:t>
            </a:r>
          </a:p>
        </p:txBody>
      </p:sp>
      <p:sp>
        <p:nvSpPr>
          <p:cNvPr id="10" name="text-9">
            <a:extLst xmlns:a="http://schemas.openxmlformats.org/drawingml/2006/main">
              <a:ext uri="{FF2B5EF4-FFF2-40B4-BE49-F238E27FC236}">
                <a16:creationId xmlns:a16="http://schemas.microsoft.com/office/drawing/2014/main" id="{ECC52045-71EC-4130-B6EE-BA049AB143D7}"/>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Error común</a:t>
            </a:r>
          </a:p>
        </p:txBody>
      </p:sp>
      <p:sp>
        <p:nvSpPr>
          <p:cNvPr id="11" name="text-10">
            <a:extLst xmlns:a="http://schemas.openxmlformats.org/drawingml/2006/main">
              <a:ext uri="{FF2B5EF4-FFF2-40B4-BE49-F238E27FC236}">
                <a16:creationId xmlns:a16="http://schemas.microsoft.com/office/drawing/2014/main" id="{C5A05DC8-6780-4431-8A96-30F1BB182537}"/>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error: {codigo, mensaje, detalles, traza_id}.</a:t>
            </a:r>
          </a:p>
        </p:txBody>
      </p:sp>
      <p:sp>
        <p:nvSpPr>
          <p:cNvPr id="12" name="text-11">
            <a:extLst xmlns:a="http://schemas.openxmlformats.org/drawingml/2006/main">
              <a:ext uri="{FF2B5EF4-FFF2-40B4-BE49-F238E27FC236}">
                <a16:creationId xmlns:a16="http://schemas.microsoft.com/office/drawing/2014/main" id="{B4C71A27-39D2-4B57-85B9-1C2469987337}"/>
              </a:ext>
            </a:extLst>
          </p:cNvPr>
          <p:cNvSpPr>
            <a:spLocks xmlns:a="http://schemas.openxmlformats.org/drawingml/2006/main" noGrp="1"/>
          </p:cNvSpPr>
          <p:nvPr/>
        </p:nvSpPr>
        <p:spPr>
          <a:xfrm xmlns:a="http://schemas.openxmlformats.org/drawingml/2006/main">
            <a:off x="619125" y="48577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Registro</a:t>
            </a:r>
          </a:p>
        </p:txBody>
      </p:sp>
      <p:sp>
        <p:nvSpPr>
          <p:cNvPr id="13" name="text-12">
            <a:extLst xmlns:a="http://schemas.openxmlformats.org/drawingml/2006/main">
              <a:ext uri="{FF2B5EF4-FFF2-40B4-BE49-F238E27FC236}">
                <a16:creationId xmlns:a16="http://schemas.microsoft.com/office/drawing/2014/main" id="{11DD24D5-5CC8-4A5F-AC09-D0DB044C93D8}"/>
              </a:ext>
            </a:extLst>
          </p:cNvPr>
          <p:cNvSpPr>
            <a:spLocks xmlns:a="http://schemas.openxmlformats.org/drawingml/2006/main" noGrp="1"/>
          </p:cNvSpPr>
          <p:nvPr/>
        </p:nvSpPr>
        <p:spPr>
          <a:xfrm xmlns:a="http://schemas.openxmlformats.org/drawingml/2006/main">
            <a:off x="3857625" y="48577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X-Traza-Id correlaciona HTTP con logs y métricas en MongoDB.</a:t>
            </a:r>
          </a:p>
        </p:txBody>
      </p:sp>
    </p:spTree>
    <p:extLst>
      <p:ext uri="{BB962C8B-B14F-4D97-AF65-F5344CB8AC3E}">
        <p14:creationId xmlns:p14="http://schemas.microsoft.com/office/powerpoint/2010/main" val="535802012"/>
      </p:ext>
    </p:extLst>
  </p:cSld>
</p:sld>
</file>

<file path=ppt/slides/slide27.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169809A-52D5-4293-8506-C4FD4637BB38}"/>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Integración desde el portal web</a:t>
            </a:r>
          </a:p>
        </p:txBody>
      </p:sp>
      <p:sp>
        <p:nvSpPr>
          <p:cNvPr id="2" name="text-1">
            <a:extLst xmlns:a="http://schemas.openxmlformats.org/drawingml/2006/main">
              <a:ext uri="{FF2B5EF4-FFF2-40B4-BE49-F238E27FC236}">
                <a16:creationId xmlns:a16="http://schemas.microsoft.com/office/drawing/2014/main" id="{552FF0EF-A13C-4659-BB08-21997903E5A1}"/>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BAA06FE9-23CB-4FF3-A5B6-A1D87221BED8}"/>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27</a:t>
            </a:r>
          </a:p>
        </p:txBody>
      </p:sp>
      <p:sp>
        <p:nvSpPr>
          <p:cNvPr id="5" name="text-3">
            <a:extLst xmlns:a="http://schemas.openxmlformats.org/drawingml/2006/main">
              <a:ext uri="{FF2B5EF4-FFF2-40B4-BE49-F238E27FC236}">
                <a16:creationId xmlns:a16="http://schemas.microsoft.com/office/drawing/2014/main" id="{0836E838-DF84-4DF5-B5F3-993D7ECEECC5}"/>
              </a:ext>
            </a:extLst>
          </p:cNvPr>
          <p:cNvSpPr>
            <a:spLocks xmlns:a="http://schemas.openxmlformats.org/drawingml/2006/main" noGrp="1"/>
          </p:cNvSpPr>
          <p:nvPr/>
        </p:nvSpPr>
        <p:spPr>
          <a:xfrm xmlns:a="http://schemas.openxmlformats.org/drawingml/2006/main">
            <a:off x="619125" y="5724525"/>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Cada llamada lleva el JWT del usuario y registra el tiempo y el X-Traza-Id.</a:t>
            </a:r>
          </a:p>
        </p:txBody>
      </p:sp>
      <p:graphicFrame>
        <p:nvGraphicFramePr>
          <p:cNvPr id="4" name="Table 3">
            <a:extLst xmlns:a="http://schemas.openxmlformats.org/drawingml/2006/main">
              <a:ext uri="{FF2B5EF4-FFF2-40B4-BE49-F238E27FC236}">
                <a16:creationId xmlns:a16="http://schemas.microsoft.com/office/drawing/2014/main" id="{3DA2A5B0-FBA5-42CB-BDB0-A6F8644190AF}"/>
              </a:ext>
            </a:extLst>
          </p:cNvPr>
          <p:cNvGraphicFramePr/>
          <p:nvPr/>
        </p:nvGraphicFramePr>
        <p:xfrm>
          <a:off xmlns:a="http://schemas.openxmlformats.org/drawingml/2006/main" x="619125" y="1554480"/>
          <a:ext xmlns:a="http://schemas.openxmlformats.org/drawingml/2006/main" cx="10954512" cy="3840480"/>
        </p:xfrm>
        <a:graphic xmlns:a="http://schemas.openxmlformats.org/drawingml/2006/main">
          <a:graphicData uri="http://schemas.openxmlformats.org/drawingml/2006/table">
            <a:tbl>
              <a:tblPr/>
              <a:tblGrid>
                <a:gridCol w="2743200"/>
                <a:gridCol w="2743200"/>
                <a:gridCol w="5468112"/>
              </a:tblGrid>
              <a:tr h="548640">
                <a:tc>
                  <a:txBody>
                    <a:bodyPr/>
                    <a:lstStyle/>
                    <a:p>
                      <a:r>
                        <a:rPr sz="1600" b="0">
                          <a:solidFill>
                            <a:srgbClr val="44364F"/>
                          </a:solidFill>
                          <a:latin typeface="Playfair Display"/>
                          <a:ea typeface="Playfair Display"/>
                          <a:cs typeface="Playfair Display"/>
                        </a:rPr>
                        <a:t>Pantalla / función</a:t>
                      </a:r>
                    </a:p>
                  </a:txBody>
                  <a:tcPr marL="91440" marR="91440" marT="45720" marB="45720">
                    <a:lnL w="5715">
                      <a:solidFill>
                        <a:srgbClr val="D5CCD9"/>
                      </a:solidFill>
                      <a:prstDash val="solid"/>
                    </a:lnL>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600" b="0">
                          <a:solidFill>
                            <a:srgbClr val="44364F"/>
                          </a:solidFill>
                          <a:latin typeface="Playfair Display"/>
                          <a:ea typeface="Playfair Display"/>
                          <a:cs typeface="Playfair Display"/>
                        </a:rPr>
                        <a:t>Servicio</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600" b="0">
                          <a:solidFill>
                            <a:srgbClr val="44364F"/>
                          </a:solidFill>
                          <a:latin typeface="Playfair Display"/>
                          <a:ea typeface="Playfair Display"/>
                          <a:cs typeface="Playfair Display"/>
                        </a:rPr>
                        <a:t>Qué consulta o registra</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r>
              <a:tr h="548640">
                <a:tc>
                  <a:txBody>
                    <a:bodyPr/>
                    <a:lstStyle/>
                    <a:p>
                      <a:r>
                        <a:rPr sz="1600" b="0">
                          <a:solidFill>
                            <a:srgbClr val="514E58"/>
                          </a:solidFill>
                          <a:latin typeface="Comfortaa"/>
                          <a:ea typeface="Comfortaa"/>
                          <a:cs typeface="Comfortaa"/>
                        </a:rPr>
                        <a:t>Estado de servicios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Los 10</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Salud, dependencias y Swagger</a:t>
                      </a:r>
                    </a:p>
                  </a:txBody>
                  <a:tcPr marL="91440" marR="91440" marT="45720" marB="45720">
                    <a:lnR w="5715">
                      <a:solidFill>
                        <a:srgbClr val="D5CCD9"/>
                      </a:solidFill>
                      <a:prstDash val="solid"/>
                    </a:lnR>
                    <a:lnB w="5715">
                      <a:solidFill>
                        <a:srgbClr val="D5CCD9"/>
                      </a:solidFill>
                      <a:prstDash val="solid"/>
                    </a:lnB>
                    <a:solidFill>
                      <a:srgbClr val="FAF8F4"/>
                    </a:solidFill>
                  </a:tcPr>
                </a:tc>
              </a:tr>
              <a:tr h="548640">
                <a:tc>
                  <a:txBody>
                    <a:bodyPr/>
                    <a:lstStyle/>
                    <a:p>
                      <a:r>
                        <a:rPr sz="1600" b="0">
                          <a:solidFill>
                            <a:srgbClr val="514E58"/>
                          </a:solidFill>
                          <a:latin typeface="Comfortaa"/>
                          <a:ea typeface="Comfortaa"/>
                          <a:cs typeface="Comfortaa"/>
                        </a:rPr>
                        <a:t>Resúmenes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Documentos :5107 y Planeación :5106</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Agregaciones de MongoDB</a:t>
                      </a:r>
                    </a:p>
                  </a:txBody>
                  <a:tcPr marL="91440" marR="91440" marT="45720" marB="45720">
                    <a:lnR w="5715">
                      <a:solidFill>
                        <a:srgbClr val="D5CCD9"/>
                      </a:solidFill>
                      <a:prstDash val="solid"/>
                    </a:lnR>
                    <a:lnB w="5715">
                      <a:solidFill>
                        <a:srgbClr val="D5CCD9"/>
                      </a:solidFill>
                      <a:prstDash val="solid"/>
                    </a:lnB>
                    <a:solidFill>
                      <a:srgbClr val="EAF0E5"/>
                    </a:solidFill>
                  </a:tcPr>
                </a:tc>
              </a:tr>
              <a:tr h="548640">
                <a:tc>
                  <a:txBody>
                    <a:bodyPr/>
                    <a:lstStyle/>
                    <a:p>
                      <a:r>
                        <a:rPr sz="1600" b="0">
                          <a:solidFill>
                            <a:srgbClr val="514E58"/>
                          </a:solidFill>
                          <a:latin typeface="Comfortaa"/>
                          <a:ea typeface="Comfortaa"/>
                          <a:cs typeface="Comfortaa"/>
                        </a:rPr>
                        <a:t>Ejemplo XML</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Zonas :5108</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Cobertura en formato XML</a:t>
                      </a:r>
                    </a:p>
                  </a:txBody>
                  <a:tcPr marL="91440" marR="91440" marT="45720" marB="45720">
                    <a:lnR w="5715">
                      <a:solidFill>
                        <a:srgbClr val="D5CCD9"/>
                      </a:solidFill>
                      <a:prstDash val="solid"/>
                    </a:lnR>
                    <a:lnB w="5715">
                      <a:solidFill>
                        <a:srgbClr val="D5CCD9"/>
                      </a:solidFill>
                      <a:prstDash val="solid"/>
                    </a:lnB>
                    <a:solidFill>
                      <a:srgbClr val="FAF8F4"/>
                    </a:solidFill>
                  </a:tcPr>
                </a:tc>
              </a:tr>
              <a:tr h="548640">
                <a:tc>
                  <a:txBody>
                    <a:bodyPr/>
                    <a:lstStyle/>
                    <a:p>
                      <a:r>
                        <a:rPr sz="1600" b="0">
                          <a:solidFill>
                            <a:srgbClr val="514E58"/>
                          </a:solidFill>
                          <a:latin typeface="Comfortaa"/>
                          <a:ea typeface="Comfortaa"/>
                          <a:cs typeface="Comfortaa"/>
                        </a:rPr>
                        <a:t>Detalle del pedido</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Pedidos :5104 y Entregas :5105</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Historial y datos de la entrega</a:t>
                      </a:r>
                    </a:p>
                  </a:txBody>
                  <a:tcPr marL="91440" marR="91440" marT="45720" marB="45720">
                    <a:lnR w="5715">
                      <a:solidFill>
                        <a:srgbClr val="D5CCD9"/>
                      </a:solidFill>
                      <a:prstDash val="solid"/>
                    </a:lnR>
                    <a:lnB w="5715">
                      <a:solidFill>
                        <a:srgbClr val="D5CCD9"/>
                      </a:solidFill>
                      <a:prstDash val="solid"/>
                    </a:lnB>
                    <a:solidFill>
                      <a:srgbClr val="EAF0E5"/>
                    </a:solidFill>
                  </a:tcPr>
                </a:tc>
              </a:tr>
              <a:tr h="548640">
                <a:tc>
                  <a:txBody>
                    <a:bodyPr/>
                    <a:lstStyle/>
                    <a:p>
                      <a:r>
                        <a:rPr sz="1600" b="0">
                          <a:solidFill>
                            <a:srgbClr val="514E58"/>
                          </a:solidFill>
                          <a:latin typeface="Comfortaa"/>
                          <a:ea typeface="Comfortaa"/>
                          <a:cs typeface="Comfortaa"/>
                        </a:rPr>
                        <a:t>Recorrido GPS</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Seguimiento :5110</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600" b="0">
                          <a:solidFill>
                            <a:srgbClr val="514E58"/>
                          </a:solidFill>
                          <a:latin typeface="Comfortaa"/>
                          <a:ea typeface="Comfortaa"/>
                          <a:cs typeface="Comfortaa"/>
                        </a:rPr>
                        <a:t>Puntos, distancia y última ubicación</a:t>
                      </a:r>
                    </a:p>
                  </a:txBody>
                  <a:tcPr marL="91440" marR="91440" marT="45720" marB="45720">
                    <a:lnR w="5715">
                      <a:solidFill>
                        <a:srgbClr val="D5CCD9"/>
                      </a:solidFill>
                      <a:prstDash val="solid"/>
                    </a:lnR>
                    <a:lnB w="5715">
                      <a:solidFill>
                        <a:srgbClr val="D5CCD9"/>
                      </a:solidFill>
                      <a:prstDash val="solid"/>
                    </a:lnB>
                    <a:solidFill>
                      <a:srgbClr val="FAF8F4"/>
                    </a:solidFill>
                  </a:tcPr>
                </a:tc>
              </a:tr>
              <a:tr h="548640">
                <a:tc>
                  <a:txBody>
                    <a:bodyPr/>
                    <a:lstStyle/>
                    <a:p>
                      <a:r>
                        <a:rPr sz="1600" b="0">
                          <a:solidFill>
                            <a:srgbClr val="514E58"/>
                          </a:solidFill>
                          <a:latin typeface="Comfortaa"/>
                          <a:ea typeface="Comfortaa"/>
                          <a:cs typeface="Comfortaa"/>
                        </a:rPr>
                        <a:t>Adjuntar evidencia</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Documentos :5107</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600" b="0">
                          <a:solidFill>
                            <a:srgbClr val="514E58"/>
                          </a:solidFill>
                          <a:latin typeface="Comfortaa"/>
                          <a:ea typeface="Comfortaa"/>
                          <a:cs typeface="Comfortaa"/>
                        </a:rPr>
                        <a:t>Archivo asociado al pedido o entrega</a:t>
                      </a:r>
                    </a:p>
                  </a:txBody>
                  <a:tcPr marL="91440" marR="91440" marT="45720" marB="45720">
                    <a:lnR w="5715">
                      <a:solidFill>
                        <a:srgbClr val="D5CCD9"/>
                      </a:solidFill>
                      <a:prstDash val="solid"/>
                    </a:lnR>
                    <a:lnB w="5715">
                      <a:solidFill>
                        <a:srgbClr val="D5CCD9"/>
                      </a:solidFill>
                      <a:prstDash val="solid"/>
                    </a:lnB>
                    <a:solidFill>
                      <a:srgbClr val="EAF0E5"/>
                    </a:solidFill>
                  </a:tcPr>
                </a:tc>
              </a:tr>
            </a:tbl>
          </a:graphicData>
        </a:graphic>
      </p:graphicFrame>
    </p:spTree>
    <p:extLst>
      <p:ext uri="{BB962C8B-B14F-4D97-AF65-F5344CB8AC3E}">
        <p14:creationId xmlns:p14="http://schemas.microsoft.com/office/powerpoint/2010/main" val="1965080451"/>
      </p:ext>
    </p:extLst>
  </p:cSld>
</p:sld>
</file>

<file path=ppt/slides/slide28.xml><?xml version="1.0" encoding="utf-8"?>
<p:sld xmlns:p="http://schemas.openxmlformats.org/presentationml/2006/main">
  <p:cSld>
    <p:bg>
      <p:bgPr>
        <a:solidFill xmlns:a="http://schemas.openxmlformats.org/drawingml/2006/main">
          <a:srgbClr val="EDF2E8"/>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4293900-9922-4239-B7C6-049670251147}"/>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Pruebas unitarias y de integración</a:t>
            </a:r>
          </a:p>
        </p:txBody>
      </p:sp>
      <p:sp>
        <p:nvSpPr>
          <p:cNvPr id="2" name="text-1">
            <a:extLst xmlns:a="http://schemas.openxmlformats.org/drawingml/2006/main">
              <a:ext uri="{FF2B5EF4-FFF2-40B4-BE49-F238E27FC236}">
                <a16:creationId xmlns:a16="http://schemas.microsoft.com/office/drawing/2014/main" id="{2D9A0D62-3401-4856-BD0D-A993E7B4CC0B}"/>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161B196C-9946-46C1-910F-910F32AE7B4A}"/>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28</a:t>
            </a:r>
          </a:p>
        </p:txBody>
      </p:sp>
      <p:sp>
        <p:nvSpPr>
          <p:cNvPr id="4" name="text-3">
            <a:extLst xmlns:a="http://schemas.openxmlformats.org/drawingml/2006/main">
              <a:ext uri="{FF2B5EF4-FFF2-40B4-BE49-F238E27FC236}">
                <a16:creationId xmlns:a16="http://schemas.microsoft.com/office/drawing/2014/main" id="{AD82475C-A024-4A94-B35C-B12BCD78E883}"/>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14 pruebas unitarias</a:t>
            </a:r>
          </a:p>
        </p:txBody>
      </p:sp>
      <p:sp>
        <p:nvSpPr>
          <p:cNvPr id="5" name="text-4">
            <a:extLst xmlns:a="http://schemas.openxmlformats.org/drawingml/2006/main">
              <a:ext uri="{FF2B5EF4-FFF2-40B4-BE49-F238E27FC236}">
                <a16:creationId xmlns:a16="http://schemas.microsoft.com/office/drawing/2014/main" id="{074B1DA4-3B8E-42EA-946D-3F9970C67E43}"/>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Formatos, XSD, validaciones, OpenAPI y cálculos.</a:t>
            </a:r>
          </a:p>
        </p:txBody>
      </p:sp>
      <p:sp>
        <p:nvSpPr>
          <p:cNvPr id="6" name="text-5">
            <a:extLst xmlns:a="http://schemas.openxmlformats.org/drawingml/2006/main">
              <a:ext uri="{FF2B5EF4-FFF2-40B4-BE49-F238E27FC236}">
                <a16:creationId xmlns:a16="http://schemas.microsoft.com/office/drawing/2014/main" id="{3570F278-7AF3-4C13-AAD4-EE69087D6192}"/>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7 pruebas de contrato</a:t>
            </a:r>
          </a:p>
        </p:txBody>
      </p:sp>
      <p:sp>
        <p:nvSpPr>
          <p:cNvPr id="7" name="text-6">
            <a:extLst xmlns:a="http://schemas.openxmlformats.org/drawingml/2006/main">
              <a:ext uri="{FF2B5EF4-FFF2-40B4-BE49-F238E27FC236}">
                <a16:creationId xmlns:a16="http://schemas.microsoft.com/office/drawing/2014/main" id="{2866648A-FBC1-4C32-BA9E-DF71434DBDF3}"/>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Los 10 servicios: perfiles, JSON/XML, seguridad y errores.</a:t>
            </a:r>
          </a:p>
        </p:txBody>
      </p:sp>
      <p:sp>
        <p:nvSpPr>
          <p:cNvPr id="8" name="text-7">
            <a:extLst xmlns:a="http://schemas.openxmlformats.org/drawingml/2006/main">
              <a:ext uri="{FF2B5EF4-FFF2-40B4-BE49-F238E27FC236}">
                <a16:creationId xmlns:a16="http://schemas.microsoft.com/office/drawing/2014/main" id="{E290740B-EB90-433E-B8D0-DA8D4ECAC90F}"/>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5 de integración web</a:t>
            </a:r>
          </a:p>
        </p:txBody>
      </p:sp>
      <p:sp>
        <p:nvSpPr>
          <p:cNvPr id="9" name="text-8">
            <a:extLst xmlns:a="http://schemas.openxmlformats.org/drawingml/2006/main">
              <a:ext uri="{FF2B5EF4-FFF2-40B4-BE49-F238E27FC236}">
                <a16:creationId xmlns:a16="http://schemas.microsoft.com/office/drawing/2014/main" id="{0DF0E75B-2C9A-4760-B197-F594E5E38A0F}"/>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Llamadas HTTP, pedido, adjuntos, CSRF y degradación.</a:t>
            </a:r>
          </a:p>
        </p:txBody>
      </p:sp>
      <p:sp>
        <p:nvSpPr>
          <p:cNvPr id="10" name="text-9">
            <a:extLst xmlns:a="http://schemas.openxmlformats.org/drawingml/2006/main">
              <a:ext uri="{FF2B5EF4-FFF2-40B4-BE49-F238E27FC236}">
                <a16:creationId xmlns:a16="http://schemas.microsoft.com/office/drawing/2014/main" id="{74E643F1-02CB-4ECC-B579-1338EF79052D}"/>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93 casos de evidencia</a:t>
            </a:r>
          </a:p>
        </p:txBody>
      </p:sp>
      <p:sp>
        <p:nvSpPr>
          <p:cNvPr id="11" name="text-10">
            <a:extLst xmlns:a="http://schemas.openxmlformats.org/drawingml/2006/main">
              <a:ext uri="{FF2B5EF4-FFF2-40B4-BE49-F238E27FC236}">
                <a16:creationId xmlns:a16="http://schemas.microsoft.com/office/drawing/2014/main" id="{9C829194-142F-46DE-BDC8-9564004D2D32}"/>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Esperado vs. obtenido, estado y comprobación en datos.</a:t>
            </a:r>
          </a:p>
        </p:txBody>
      </p:sp>
    </p:spTree>
    <p:extLst>
      <p:ext uri="{BB962C8B-B14F-4D97-AF65-F5344CB8AC3E}">
        <p14:creationId xmlns:p14="http://schemas.microsoft.com/office/powerpoint/2010/main" val="2049217312"/>
      </p:ext>
    </p:extLst>
  </p:cSld>
</p:sld>
</file>

<file path=ppt/slides/slide29.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7A21FDD-6599-490E-BAA3-E33059979FAE}"/>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Pruebas y resultados registrados</a:t>
            </a:r>
          </a:p>
        </p:txBody>
      </p:sp>
      <p:sp>
        <p:nvSpPr>
          <p:cNvPr id="2" name="text-1">
            <a:extLst xmlns:a="http://schemas.openxmlformats.org/drawingml/2006/main">
              <a:ext uri="{FF2B5EF4-FFF2-40B4-BE49-F238E27FC236}">
                <a16:creationId xmlns:a16="http://schemas.microsoft.com/office/drawing/2014/main" id="{F9023712-2C59-4467-8A18-06362DBB0CC5}"/>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D6F6BE83-137A-4A9D-9AC0-F2DDE5E43200}"/>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29</a:t>
            </a:r>
          </a:p>
        </p:txBody>
      </p:sp>
      <p:sp>
        <p:nvSpPr>
          <p:cNvPr id="4" name="text-3">
            <a:extLst xmlns:a="http://schemas.openxmlformats.org/drawingml/2006/main">
              <a:ext uri="{FF2B5EF4-FFF2-40B4-BE49-F238E27FC236}">
                <a16:creationId xmlns:a16="http://schemas.microsoft.com/office/drawing/2014/main" id="{ECD32B5E-EFC9-49C0-AC5D-1804BFBE8A21}"/>
              </a:ext>
            </a:extLst>
          </p:cNvPr>
          <p:cNvSpPr>
            <a:spLocks xmlns:a="http://schemas.openxmlformats.org/drawingml/2006/main" noGrp="1"/>
          </p:cNvSpPr>
          <p:nvPr/>
        </p:nvSpPr>
        <p:spPr>
          <a:xfrm xmlns:a="http://schemas.openxmlformats.org/drawingml/2006/main">
            <a:off x="619125" y="17145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627" b="0">
                <a:solidFill>
                  <a:srgbClr val="80649B"/>
                </a:solidFill>
                <a:latin typeface="Playfair Display"/>
                <a:ea typeface="Playfair Display"/>
                <a:cs typeface="Playfair Display"/>
              </a:defRPr>
            </a:defPPr>
          </a:lstStyle>
          <a:p xmlns:a="http://schemas.openxmlformats.org/drawingml/2006/main">
            <a:pPr>
              <a:buNone/>
              <a:defRPr sz="6627" b="0">
                <a:solidFill>
                  <a:srgbClr val="80649B"/>
                </a:solidFill>
                <a:latin typeface="Playfair Display"/>
                <a:ea typeface="Playfair Display"/>
                <a:cs typeface="Playfair Display"/>
              </a:defRPr>
            </a:pPr>
            <a:r>
              <a:rPr sz="6627" b="0">
                <a:solidFill>
                  <a:srgbClr val="80649B"/>
                </a:solidFill>
                <a:latin typeface="Playfair Display"/>
                <a:ea typeface="Playfair Display"/>
                <a:cs typeface="Playfair Display"/>
              </a:rPr>
              <a:t>93 / 93</a:t>
            </a:r>
          </a:p>
        </p:txBody>
      </p:sp>
      <p:sp>
        <p:nvSpPr>
          <p:cNvPr id="5" name="text-4">
            <a:extLst xmlns:a="http://schemas.openxmlformats.org/drawingml/2006/main">
              <a:ext uri="{FF2B5EF4-FFF2-40B4-BE49-F238E27FC236}">
                <a16:creationId xmlns:a16="http://schemas.microsoft.com/office/drawing/2014/main" id="{A7FABE7D-3959-4DA2-B584-484B34D748B7}"/>
              </a:ext>
            </a:extLst>
          </p:cNvPr>
          <p:cNvSpPr>
            <a:spLocks xmlns:a="http://schemas.openxmlformats.org/drawingml/2006/main" noGrp="1"/>
          </p:cNvSpPr>
          <p:nvPr/>
        </p:nvSpPr>
        <p:spPr>
          <a:xfrm xmlns:a="http://schemas.openxmlformats.org/drawingml/2006/main">
            <a:off x="619125" y="30480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67" b="0">
                <a:solidFill>
                  <a:srgbClr val="80649B"/>
                </a:solidFill>
                <a:latin typeface="Playfair Display"/>
                <a:ea typeface="Playfair Display"/>
                <a:cs typeface="Playfair Display"/>
              </a:defRPr>
            </a:defPPr>
          </a:lstStyle>
          <a:p xmlns:a="http://schemas.openxmlformats.org/drawingml/2006/main">
            <a:pPr>
              <a:buNone/>
              <a:defRPr sz="2467" b="0">
                <a:solidFill>
                  <a:srgbClr val="80649B"/>
                </a:solidFill>
                <a:latin typeface="Playfair Display"/>
                <a:ea typeface="Playfair Display"/>
                <a:cs typeface="Playfair Display"/>
              </a:defRPr>
            </a:pPr>
            <a:r>
              <a:rPr sz="2467" b="0">
                <a:solidFill>
                  <a:srgbClr val="80649B"/>
                </a:solidFill>
                <a:latin typeface="Playfair Display"/>
                <a:ea typeface="Playfair Display"/>
                <a:cs typeface="Playfair Display"/>
              </a:rPr>
              <a:t>casos registrados como aprobados</a:t>
            </a:r>
          </a:p>
        </p:txBody>
      </p:sp>
      <p:sp>
        <p:nvSpPr>
          <p:cNvPr id="6" name="text-5">
            <a:extLst xmlns:a="http://schemas.openxmlformats.org/drawingml/2006/main">
              <a:ext uri="{FF2B5EF4-FFF2-40B4-BE49-F238E27FC236}">
                <a16:creationId xmlns:a16="http://schemas.microsoft.com/office/drawing/2014/main" id="{BBA99E85-CE4C-4F43-8460-C0D79509A1BB}"/>
              </a:ext>
            </a:extLst>
          </p:cNvPr>
          <p:cNvSpPr>
            <a:spLocks xmlns:a="http://schemas.openxmlformats.org/drawingml/2006/main" noGrp="1"/>
          </p:cNvSpPr>
          <p:nvPr/>
        </p:nvSpPr>
        <p:spPr>
          <a:xfrm xmlns:a="http://schemas.openxmlformats.org/drawingml/2006/main">
            <a:off x="619125" y="392430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44" b="0">
                <a:solidFill>
                  <a:srgbClr val="514E58"/>
                </a:solidFill>
                <a:latin typeface="Comfortaa"/>
                <a:ea typeface="Comfortaa"/>
                <a:cs typeface="Comfortaa"/>
              </a:defRPr>
            </a:defPPr>
          </a:lstStyle>
          <a:p xmlns:a="http://schemas.openxmlformats.org/drawingml/2006/main">
            <a:pPr>
              <a:buNone/>
              <a:defRPr sz="2044" b="0">
                <a:solidFill>
                  <a:srgbClr val="514E58"/>
                </a:solidFill>
                <a:latin typeface="Comfortaa"/>
                <a:ea typeface="Comfortaa"/>
                <a:cs typeface="Comfortaa"/>
              </a:defRPr>
            </a:pPr>
            <a:r>
              <a:rPr sz="2044" b="0">
                <a:solidFill>
                  <a:srgbClr val="514E58"/>
                </a:solidFill>
                <a:latin typeface="Comfortaa"/>
                <a:ea typeface="Comfortaa"/>
                <a:cs typeface="Comfortaa"/>
              </a:rPr>
              <a:t>Éxitos y errores controlados</a:t>
            </a:r>
          </a:p>
          <a:p xmlns:a="http://schemas.openxmlformats.org/drawingml/2006/main">
            <a:pPr>
              <a:buNone/>
              <a:defRPr sz="2044" b="0">
                <a:solidFill>
                  <a:srgbClr val="514E58"/>
                </a:solidFill>
                <a:latin typeface="Comfortaa"/>
                <a:ea typeface="Comfortaa"/>
                <a:cs typeface="Comfortaa"/>
              </a:defRPr>
            </a:pPr>
            <a:r>
              <a:rPr sz="2044" b="0">
                <a:solidFill>
                  <a:srgbClr val="514E58"/>
                </a:solidFill>
                <a:latin typeface="Comfortaa"/>
                <a:ea typeface="Comfortaa"/>
                <a:cs typeface="Comfortaa"/>
              </a:rPr>
              <a:t>Contratos JSON/XML y permisos</a:t>
            </a:r>
          </a:p>
          <a:p xmlns:a="http://schemas.openxmlformats.org/drawingml/2006/main">
            <a:pPr>
              <a:buNone/>
              <a:defRPr sz="2044" b="0">
                <a:solidFill>
                  <a:srgbClr val="514E58"/>
                </a:solidFill>
                <a:latin typeface="Comfortaa"/>
                <a:ea typeface="Comfortaa"/>
                <a:cs typeface="Comfortaa"/>
              </a:defRPr>
            </a:pPr>
            <a:r>
              <a:rPr sz="2044" b="0">
                <a:solidFill>
                  <a:srgbClr val="514E58"/>
                </a:solidFill>
                <a:latin typeface="Comfortaa"/>
                <a:ea typeface="Comfortaa"/>
                <a:cs typeface="Comfortaa"/>
              </a:rPr>
              <a:t>Cambios en PostgreSQL, MongoDB y Redis</a:t>
            </a:r>
          </a:p>
        </p:txBody>
      </p:sp>
      <p:sp>
        <p:nvSpPr>
          <p:cNvPr id="7" name="text-6">
            <a:extLst xmlns:a="http://schemas.openxmlformats.org/drawingml/2006/main">
              <a:ext uri="{FF2B5EF4-FFF2-40B4-BE49-F238E27FC236}">
                <a16:creationId xmlns:a16="http://schemas.microsoft.com/office/drawing/2014/main" id="{993E3C1E-0CC2-4AB6-B825-E0DE338592A1}"/>
              </a:ext>
            </a:extLst>
          </p:cNvPr>
          <p:cNvSpPr>
            <a:spLocks xmlns:a="http://schemas.openxmlformats.org/drawingml/2006/main" noGrp="1"/>
          </p:cNvSpPr>
          <p:nvPr/>
        </p:nvSpPr>
        <p:spPr>
          <a:xfrm xmlns:a="http://schemas.openxmlformats.org/drawingml/2006/main">
            <a:off x="619125" y="56578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22" b="0">
                <a:solidFill>
                  <a:srgbClr val="514E58"/>
                </a:solidFill>
                <a:latin typeface="Comfortaa"/>
                <a:ea typeface="Comfortaa"/>
                <a:cs typeface="Comfortaa"/>
              </a:defRPr>
            </a:defPPr>
          </a:lstStyle>
          <a:p xmlns:a="http://schemas.openxmlformats.org/drawingml/2006/main">
            <a:pPr>
              <a:buNone/>
              <a:defRPr sz="1622" b="0">
                <a:solidFill>
                  <a:srgbClr val="514E58"/>
                </a:solidFill>
                <a:latin typeface="Comfortaa"/>
                <a:ea typeface="Comfortaa"/>
                <a:cs typeface="Comfortaa"/>
              </a:defRPr>
            </a:pPr>
            <a:r>
              <a:rPr sz="1622" b="0">
                <a:solidFill>
                  <a:srgbClr val="514E58"/>
                </a:solidFill>
                <a:latin typeface="Comfortaa"/>
                <a:ea typeface="Comfortaa"/>
                <a:cs typeface="Comfortaa"/>
              </a:rPr>
              <a:t>Ejecución guardada del 13 de octubre de 2026. La demo confirma el entorno actual.</a:t>
            </a:r>
          </a:p>
        </p:txBody>
      </p:sp>
    </p:spTree>
    <p:extLst>
      <p:ext uri="{BB962C8B-B14F-4D97-AF65-F5344CB8AC3E}">
        <p14:creationId xmlns:p14="http://schemas.microsoft.com/office/powerpoint/2010/main" val="491099172"/>
      </p:ext>
    </p:extLst>
  </p:cSld>
</p:sld>
</file>

<file path=ppt/slides/slide30.xml><?xml version="1.0" encoding="utf-8"?>
<p:sld xmlns:p="http://schemas.openxmlformats.org/presentationml/2006/main">
  <p:cSld>
    <p:bg>
      <p:bgPr>
        <a:solidFill xmlns:a="http://schemas.openxmlformats.org/drawingml/2006/main">
          <a:srgbClr val="F1EBF5"/>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282F5F9-0098-499E-A369-D0AD3DDE4055}"/>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Trazabilidad: requisito, componente y prueba</a:t>
            </a:r>
          </a:p>
        </p:txBody>
      </p:sp>
      <p:sp>
        <p:nvSpPr>
          <p:cNvPr id="2" name="text-1">
            <a:extLst xmlns:a="http://schemas.openxmlformats.org/drawingml/2006/main">
              <a:ext uri="{FF2B5EF4-FFF2-40B4-BE49-F238E27FC236}">
                <a16:creationId xmlns:a16="http://schemas.microsoft.com/office/drawing/2014/main" id="{53EF53BB-4D03-4FC2-B83F-9534571EC5F8}"/>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BD9E15E5-52E2-454A-961A-EC51DF70D3B9}"/>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30</a:t>
            </a:r>
          </a:p>
        </p:txBody>
      </p:sp>
      <p:graphicFrame>
        <p:nvGraphicFramePr>
          <p:cNvPr id="4" name="Table 3">
            <a:extLst xmlns:a="http://schemas.openxmlformats.org/drawingml/2006/main">
              <a:ext uri="{FF2B5EF4-FFF2-40B4-BE49-F238E27FC236}">
                <a16:creationId xmlns:a16="http://schemas.microsoft.com/office/drawing/2014/main" id="{351DE90D-CB2F-48E2-94DD-FA11F1E44A6E}"/>
              </a:ext>
            </a:extLst>
          </p:cNvPr>
          <p:cNvGraphicFramePr/>
          <p:nvPr/>
        </p:nvGraphicFramePr>
        <p:xfrm>
          <a:off xmlns:a="http://schemas.openxmlformats.org/drawingml/2006/main" x="619125" y="1657350"/>
          <a:ext xmlns:a="http://schemas.openxmlformats.org/drawingml/2006/main" cx="10953750" cy="4000500"/>
        </p:xfrm>
        <a:graphic xmlns:a="http://schemas.openxmlformats.org/drawingml/2006/main">
          <a:graphicData uri="http://schemas.openxmlformats.org/drawingml/2006/table">
            <a:tbl>
              <a:tblPr/>
              <a:tblGrid>
                <a:gridCol w="2857500"/>
                <a:gridCol w="4476750"/>
                <a:gridCol w="3619500"/>
              </a:tblGrid>
              <a:tr h="666750">
                <a:tc>
                  <a:txBody>
                    <a:bodyPr/>
                    <a:lstStyle/>
                    <a:p>
                      <a:r>
                        <a:rPr sz="1794" b="0">
                          <a:solidFill>
                            <a:srgbClr val="44364F"/>
                          </a:solidFill>
                          <a:latin typeface="Playfair Display"/>
                          <a:ea typeface="Playfair Display"/>
                          <a:cs typeface="Playfair Display"/>
                        </a:rPr>
                        <a:t>Requisito</a:t>
                      </a:r>
                    </a:p>
                  </a:txBody>
                  <a:tcPr marL="91440" marR="91440" marT="45720" marB="45720">
                    <a:lnL w="5715">
                      <a:solidFill>
                        <a:srgbClr val="D5CCD9"/>
                      </a:solidFill>
                      <a:prstDash val="solid"/>
                    </a:lnL>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794" b="0">
                          <a:solidFill>
                            <a:srgbClr val="44364F"/>
                          </a:solidFill>
                          <a:latin typeface="Playfair Display"/>
                          <a:ea typeface="Playfair Display"/>
                          <a:cs typeface="Playfair Display"/>
                        </a:rPr>
                        <a:t>Componente</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c>
                  <a:txBody>
                    <a:bodyPr/>
                    <a:lstStyle/>
                    <a:p>
                      <a:r>
                        <a:rPr sz="1794" b="0">
                          <a:solidFill>
                            <a:srgbClr val="44364F"/>
                          </a:solidFill>
                          <a:latin typeface="Playfair Display"/>
                          <a:ea typeface="Playfair Display"/>
                          <a:cs typeface="Playfair Display"/>
                        </a:rPr>
                        <a:t>Evidencia</a:t>
                      </a:r>
                    </a:p>
                  </a:txBody>
                  <a:tcPr marL="91440" marR="91440" marT="45720" marB="45720">
                    <a:lnR w="5715">
                      <a:solidFill>
                        <a:srgbClr val="D5CCD9"/>
                      </a:solidFill>
                      <a:prstDash val="solid"/>
                    </a:lnR>
                    <a:lnT w="5715">
                      <a:solidFill>
                        <a:srgbClr val="D5CCD9"/>
                      </a:solidFill>
                      <a:prstDash val="solid"/>
                    </a:lnT>
                    <a:lnB w="5715">
                      <a:solidFill>
                        <a:srgbClr val="D5CCD9"/>
                      </a:solidFill>
                      <a:prstDash val="solid"/>
                    </a:lnB>
                    <a:solidFill>
                      <a:srgbClr val="DCD0E5"/>
                    </a:solidFill>
                  </a:tcPr>
                </a:tc>
              </a:tr>
              <a:tr h="666750">
                <a:tc>
                  <a:txBody>
                    <a:bodyPr/>
                    <a:lstStyle/>
                    <a:p>
                      <a:r>
                        <a:rPr sz="1570" b="0">
                          <a:solidFill>
                            <a:srgbClr val="514E58"/>
                          </a:solidFill>
                          <a:latin typeface="Comfortaa"/>
                          <a:ea typeface="Comfortaa"/>
                          <a:cs typeface="Comfortaa"/>
                        </a:rPr>
                        <a:t>MS-01 / INF-R1</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570" b="0">
                          <a:solidFill>
                            <a:srgbClr val="514E58"/>
                          </a:solidFill>
                          <a:latin typeface="Comfortaa"/>
                          <a:ea typeface="Comfortaa"/>
                          <a:cs typeface="Comfortaa"/>
                        </a:rPr>
                        <a:t>10 Dockerfiles y Compose</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570" b="0">
                          <a:solidFill>
                            <a:srgbClr val="514E58"/>
                          </a:solidFill>
                          <a:latin typeface="Comfortaa"/>
                          <a:ea typeface="Comfortaa"/>
                          <a:cs typeface="Comfortaa"/>
                        </a:rPr>
                        <a:t>Contenedores + /health</a:t>
                      </a:r>
                    </a:p>
                  </a:txBody>
                  <a:tcPr marL="91440" marR="91440" marT="45720" marB="45720">
                    <a:lnR w="5715">
                      <a:solidFill>
                        <a:srgbClr val="D5CCD9"/>
                      </a:solidFill>
                      <a:prstDash val="solid"/>
                    </a:lnR>
                    <a:lnB w="5715">
                      <a:solidFill>
                        <a:srgbClr val="D5CCD9"/>
                      </a:solidFill>
                      <a:prstDash val="solid"/>
                    </a:lnB>
                    <a:solidFill>
                      <a:srgbClr val="FAF8F4"/>
                    </a:solidFill>
                  </a:tcPr>
                </a:tc>
              </a:tr>
              <a:tr h="666750">
                <a:tc>
                  <a:txBody>
                    <a:bodyPr/>
                    <a:lstStyle/>
                    <a:p>
                      <a:r>
                        <a:rPr sz="1570" b="0">
                          <a:solidFill>
                            <a:srgbClr val="514E58"/>
                          </a:solidFill>
                          <a:latin typeface="Comfortaa"/>
                          <a:ea typeface="Comfortaa"/>
                          <a:cs typeface="Comfortaa"/>
                        </a:rPr>
                        <a:t>MS-03</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570" b="0">
                          <a:solidFill>
                            <a:srgbClr val="514E58"/>
                          </a:solidFill>
                          <a:latin typeface="Comfortaa"/>
                          <a:ea typeface="Comfortaa"/>
                          <a:cs typeface="Comfortaa"/>
                        </a:rPr>
                        <a:t>Formatos y XSD</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570" b="0">
                          <a:solidFill>
                            <a:srgbClr val="514E58"/>
                          </a:solidFill>
                          <a:latin typeface="Comfortaa"/>
                          <a:ea typeface="Comfortaa"/>
                          <a:cs typeface="Comfortaa"/>
                        </a:rPr>
                        <a:t>AUTH-02 / PRO-03</a:t>
                      </a:r>
                    </a:p>
                  </a:txBody>
                  <a:tcPr marL="91440" marR="91440" marT="45720" marB="45720">
                    <a:lnR w="5715">
                      <a:solidFill>
                        <a:srgbClr val="D5CCD9"/>
                      </a:solidFill>
                      <a:prstDash val="solid"/>
                    </a:lnR>
                    <a:lnB w="5715">
                      <a:solidFill>
                        <a:srgbClr val="D5CCD9"/>
                      </a:solidFill>
                      <a:prstDash val="solid"/>
                    </a:lnB>
                    <a:solidFill>
                      <a:srgbClr val="EAF0E5"/>
                    </a:solidFill>
                  </a:tcPr>
                </a:tc>
              </a:tr>
              <a:tr h="666750">
                <a:tc>
                  <a:txBody>
                    <a:bodyPr/>
                    <a:lstStyle/>
                    <a:p>
                      <a:r>
                        <a:rPr sz="1570" b="0">
                          <a:solidFill>
                            <a:srgbClr val="514E58"/>
                          </a:solidFill>
                          <a:latin typeface="Comfortaa"/>
                          <a:ea typeface="Comfortaa"/>
                          <a:cs typeface="Comfortaa"/>
                        </a:rPr>
                        <a:t>SEG-01 / SEG-02</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570" b="0">
                          <a:solidFill>
                            <a:srgbClr val="514E58"/>
                          </a:solidFill>
                          <a:latin typeface="Comfortaa"/>
                          <a:ea typeface="Comfortaa"/>
                          <a:cs typeface="Comfortaa"/>
                        </a:rPr>
                        <a:t>JWT, Redis y permisos</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570" b="0">
                          <a:solidFill>
                            <a:srgbClr val="514E58"/>
                          </a:solidFill>
                          <a:latin typeface="Comfortaa"/>
                          <a:ea typeface="Comfortaa"/>
                          <a:cs typeface="Comfortaa"/>
                        </a:rPr>
                        <a:t>AUTH-11 / USR-06</a:t>
                      </a:r>
                    </a:p>
                  </a:txBody>
                  <a:tcPr marL="91440" marR="91440" marT="45720" marB="45720">
                    <a:lnR w="5715">
                      <a:solidFill>
                        <a:srgbClr val="D5CCD9"/>
                      </a:solidFill>
                      <a:prstDash val="solid"/>
                    </a:lnR>
                    <a:lnB w="5715">
                      <a:solidFill>
                        <a:srgbClr val="D5CCD9"/>
                      </a:solidFill>
                      <a:prstDash val="solid"/>
                    </a:lnB>
                    <a:solidFill>
                      <a:srgbClr val="FAF8F4"/>
                    </a:solidFill>
                  </a:tcPr>
                </a:tc>
              </a:tr>
              <a:tr h="666750">
                <a:tc>
                  <a:txBody>
                    <a:bodyPr/>
                    <a:lstStyle/>
                    <a:p>
                      <a:r>
                        <a:rPr sz="1570" b="0">
                          <a:solidFill>
                            <a:srgbClr val="514E58"/>
                          </a:solidFill>
                          <a:latin typeface="Comfortaa"/>
                          <a:ea typeface="Comfortaa"/>
                          <a:cs typeface="Comfortaa"/>
                        </a:rPr>
                        <a:t>ENT-R1 / ENT-R2</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EAF0E5"/>
                    </a:solidFill>
                  </a:tcPr>
                </a:tc>
                <a:tc>
                  <a:txBody>
                    <a:bodyPr/>
                    <a:lstStyle/>
                    <a:p>
                      <a:r>
                        <a:rPr sz="1570" b="0">
                          <a:solidFill>
                            <a:srgbClr val="514E58"/>
                          </a:solidFill>
                          <a:latin typeface="Comfortaa"/>
                          <a:ea typeface="Comfortaa"/>
                          <a:cs typeface="Comfortaa"/>
                        </a:rPr>
                        <a:t>Cierre de entrega</a:t>
                      </a:r>
                    </a:p>
                  </a:txBody>
                  <a:tcPr marL="91440" marR="91440" marT="45720" marB="45720">
                    <a:lnR w="5715">
                      <a:solidFill>
                        <a:srgbClr val="D5CCD9"/>
                      </a:solidFill>
                      <a:prstDash val="solid"/>
                    </a:lnR>
                    <a:lnB w="5715">
                      <a:solidFill>
                        <a:srgbClr val="D5CCD9"/>
                      </a:solidFill>
                      <a:prstDash val="solid"/>
                    </a:lnB>
                    <a:solidFill>
                      <a:srgbClr val="EAF0E5"/>
                    </a:solidFill>
                  </a:tcPr>
                </a:tc>
                <a:tc>
                  <a:txBody>
                    <a:bodyPr/>
                    <a:lstStyle/>
                    <a:p>
                      <a:r>
                        <a:rPr sz="1570" b="0">
                          <a:solidFill>
                            <a:srgbClr val="514E58"/>
                          </a:solidFill>
                          <a:latin typeface="Comfortaa"/>
                          <a:ea typeface="Comfortaa"/>
                          <a:cs typeface="Comfortaa"/>
                        </a:rPr>
                        <a:t>ENT-04 a ENT-07</a:t>
                      </a:r>
                    </a:p>
                  </a:txBody>
                  <a:tcPr marL="91440" marR="91440" marT="45720" marB="45720">
                    <a:lnR w="5715">
                      <a:solidFill>
                        <a:srgbClr val="D5CCD9"/>
                      </a:solidFill>
                      <a:prstDash val="solid"/>
                    </a:lnR>
                    <a:lnB w="5715">
                      <a:solidFill>
                        <a:srgbClr val="D5CCD9"/>
                      </a:solidFill>
                      <a:prstDash val="solid"/>
                    </a:lnB>
                    <a:solidFill>
                      <a:srgbClr val="EAF0E5"/>
                    </a:solidFill>
                  </a:tcPr>
                </a:tc>
              </a:tr>
              <a:tr h="666750">
                <a:tc>
                  <a:txBody>
                    <a:bodyPr/>
                    <a:lstStyle/>
                    <a:p>
                      <a:r>
                        <a:rPr sz="1570" b="0">
                          <a:solidFill>
                            <a:srgbClr val="514E58"/>
                          </a:solidFill>
                          <a:latin typeface="Comfortaa"/>
                          <a:ea typeface="Comfortaa"/>
                          <a:cs typeface="Comfortaa"/>
                        </a:rPr>
                        <a:t>WEB-R1 / BD-R1</a:t>
                      </a:r>
                    </a:p>
                  </a:txBody>
                  <a:tcPr marL="91440" marR="91440" marT="45720" marB="45720">
                    <a:lnL w="5715">
                      <a:solidFill>
                        <a:srgbClr val="D5CCD9"/>
                      </a:solidFill>
                      <a:prstDash val="solid"/>
                    </a:lnL>
                    <a:lnR w="5715">
                      <a:solidFill>
                        <a:srgbClr val="D5CCD9"/>
                      </a:solidFill>
                      <a:prstDash val="solid"/>
                    </a:lnR>
                    <a:lnB w="5715">
                      <a:solidFill>
                        <a:srgbClr val="D5CCD9"/>
                      </a:solidFill>
                      <a:prstDash val="solid"/>
                    </a:lnB>
                    <a:solidFill>
                      <a:srgbClr val="FAF8F4"/>
                    </a:solidFill>
                  </a:tcPr>
                </a:tc>
                <a:tc>
                  <a:txBody>
                    <a:bodyPr/>
                    <a:lstStyle/>
                    <a:p>
                      <a:r>
                        <a:rPr sz="1570" b="0">
                          <a:solidFill>
                            <a:srgbClr val="514E58"/>
                          </a:solidFill>
                          <a:latin typeface="Comfortaa"/>
                          <a:ea typeface="Comfortaa"/>
                          <a:cs typeface="Comfortaa"/>
                        </a:rPr>
                        <a:t>Portal y almacenes</a:t>
                      </a:r>
                    </a:p>
                  </a:txBody>
                  <a:tcPr marL="91440" marR="91440" marT="45720" marB="45720">
                    <a:lnR w="5715">
                      <a:solidFill>
                        <a:srgbClr val="D5CCD9"/>
                      </a:solidFill>
                      <a:prstDash val="solid"/>
                    </a:lnR>
                    <a:lnB w="5715">
                      <a:solidFill>
                        <a:srgbClr val="D5CCD9"/>
                      </a:solidFill>
                      <a:prstDash val="solid"/>
                    </a:lnB>
                    <a:solidFill>
                      <a:srgbClr val="FAF8F4"/>
                    </a:solidFill>
                  </a:tcPr>
                </a:tc>
                <a:tc>
                  <a:txBody>
                    <a:bodyPr/>
                    <a:lstStyle/>
                    <a:p>
                      <a:r>
                        <a:rPr sz="1570" b="0">
                          <a:solidFill>
                            <a:srgbClr val="514E58"/>
                          </a:solidFill>
                          <a:latin typeface="Comfortaa"/>
                          <a:ea typeface="Comfortaa"/>
                          <a:cs typeface="Comfortaa"/>
                        </a:rPr>
                        <a:t>HTTP + evidencias en datos</a:t>
                      </a:r>
                    </a:p>
                  </a:txBody>
                  <a:tcPr marL="91440" marR="91440" marT="45720" marB="45720">
                    <a:lnR w="5715">
                      <a:solidFill>
                        <a:srgbClr val="D5CCD9"/>
                      </a:solidFill>
                      <a:prstDash val="solid"/>
                    </a:lnR>
                    <a:lnB w="5715">
                      <a:solidFill>
                        <a:srgbClr val="D5CCD9"/>
                      </a:solidFill>
                      <a:prstDash val="solid"/>
                    </a:lnB>
                    <a:solidFill>
                      <a:srgbClr val="FAF8F4"/>
                    </a:solidFill>
                  </a:tcPr>
                </a:tc>
              </a:tr>
            </a:tbl>
          </a:graphicData>
        </a:graphic>
      </p:graphicFrame>
    </p:spTree>
    <p:extLst>
      <p:ext uri="{BB962C8B-B14F-4D97-AF65-F5344CB8AC3E}">
        <p14:creationId xmlns:p14="http://schemas.microsoft.com/office/powerpoint/2010/main" val="10935503"/>
      </p:ext>
    </p:extLst>
  </p:cSld>
</p:sld>
</file>

<file path=ppt/slides/slide31.xml><?xml version="1.0" encoding="utf-8"?>
<p:sld xmlns:p="http://schemas.openxmlformats.org/presentationml/2006/main">
  <p:cSld>
    <p:bg>
      <p:bgPr>
        <a:solidFill xmlns:a="http://schemas.openxmlformats.org/drawingml/2006/main">
          <a:srgbClr val="F8EEE8"/>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D7B8E88F-217A-4C41-84D5-874C3E4AB0E4}"/>
              </a:ext>
            </a:extLst>
          </p:cNvPr>
          <p:cNvSpPr>
            <a:spLocks xmlns:a="http://schemas.openxmlformats.org/drawingml/2006/main" noGrp="1"/>
          </p:cNvSpPr>
          <p:nvPr/>
        </p:nvSpPr>
        <p:spPr>
          <a:xfrm xmlns:a="http://schemas.openxmlformats.org/drawingml/2006/main">
            <a:off x="609600" y="409575"/>
            <a:ext cx="990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44364F"/>
                </a:solidFill>
                <a:latin typeface="Playfair Display"/>
                <a:ea typeface="Playfair Display"/>
                <a:cs typeface="Playfair Display"/>
              </a:defRPr>
            </a:defPPr>
          </a:lstStyle>
          <a:p xmlns:a="http://schemas.openxmlformats.org/drawingml/2006/main">
            <a:pPr>
              <a:buNone/>
              <a:defRPr sz="3300" b="0">
                <a:solidFill>
                  <a:srgbClr val="44364F"/>
                </a:solidFill>
                <a:latin typeface="Playfair Display"/>
                <a:ea typeface="Playfair Display"/>
                <a:cs typeface="Playfair Display"/>
              </a:defRPr>
            </a:pPr>
            <a:r>
              <a:rPr sz="3300" b="0">
                <a:solidFill>
                  <a:srgbClr val="44364F"/>
                </a:solidFill>
                <a:latin typeface="Playfair Display"/>
                <a:ea typeface="Playfair Display"/>
                <a:cs typeface="Playfair Display"/>
              </a:rPr>
              <a:t>Resultados, problemas y pendientes</a:t>
            </a:r>
          </a:p>
        </p:txBody>
      </p:sp>
      <p:sp>
        <p:nvSpPr>
          <p:cNvPr id="2" name="text-1">
            <a:extLst xmlns:a="http://schemas.openxmlformats.org/drawingml/2006/main">
              <a:ext uri="{FF2B5EF4-FFF2-40B4-BE49-F238E27FC236}">
                <a16:creationId xmlns:a16="http://schemas.microsoft.com/office/drawing/2014/main" id="{CFE64BEC-68DD-47E2-AA4C-7002624DBFCF}"/>
              </a:ext>
            </a:extLst>
          </p:cNvPr>
          <p:cNvSpPr>
            <a:spLocks xmlns:a="http://schemas.openxmlformats.org/drawingml/2006/main" noGrp="1"/>
          </p:cNvSpPr>
          <p:nvPr/>
        </p:nvSpPr>
        <p:spPr>
          <a:xfrm xmlns:a="http://schemas.openxmlformats.org/drawingml/2006/main">
            <a:off x="609600" y="6334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80649B"/>
                </a:solidFill>
                <a:latin typeface="Comfortaa"/>
                <a:ea typeface="Comfortaa"/>
                <a:cs typeface="Comfortaa"/>
              </a:defRPr>
            </a:defPPr>
          </a:lstStyle>
          <a:p xmlns:a="http://schemas.openxmlformats.org/drawingml/2006/main">
            <a:pPr>
              <a:buNone/>
              <a:defRPr sz="975" b="1">
                <a:solidFill>
                  <a:srgbClr val="80649B"/>
                </a:solidFill>
                <a:latin typeface="Comfortaa"/>
                <a:ea typeface="Comfortaa"/>
                <a:cs typeface="Comfortaa"/>
              </a:defRPr>
            </a:pPr>
            <a:r>
              <a:rPr sz="975" b="1">
                <a:solidFill>
                  <a:srgbClr val="80649B"/>
                </a:solidFill>
                <a:latin typeface="Comfortaa"/>
                <a:ea typeface="Comfortaa"/>
                <a:cs typeface="Comfortaa"/>
              </a:rPr>
              <a:t>CODEX INNOVATIONS</a:t>
            </a:r>
          </a:p>
        </p:txBody>
      </p:sp>
      <p:sp>
        <p:nvSpPr>
          <p:cNvPr id="3" name="text-2">
            <a:extLst xmlns:a="http://schemas.openxmlformats.org/drawingml/2006/main">
              <a:ext uri="{FF2B5EF4-FFF2-40B4-BE49-F238E27FC236}">
                <a16:creationId xmlns:a16="http://schemas.microsoft.com/office/drawing/2014/main" id="{0637A0C0-93CF-4951-A49C-A09FF1492ADC}"/>
              </a:ext>
            </a:extLst>
          </p:cNvPr>
          <p:cNvSpPr>
            <a:spLocks xmlns:a="http://schemas.openxmlformats.org/drawingml/2006/main" noGrp="1"/>
          </p:cNvSpPr>
          <p:nvPr/>
        </p:nvSpPr>
        <p:spPr>
          <a:xfrm xmlns:a="http://schemas.openxmlformats.org/drawingml/2006/main">
            <a:off x="11144250" y="209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80649B"/>
                </a:solidFill>
                <a:latin typeface="Playfair Display"/>
                <a:ea typeface="Playfair Display"/>
                <a:cs typeface="Playfair Display"/>
              </a:defRPr>
            </a:defPPr>
          </a:lstStyle>
          <a:p xmlns:a="http://schemas.openxmlformats.org/drawingml/2006/main">
            <a:pPr>
              <a:buNone/>
              <a:defRPr sz="1575" b="0">
                <a:solidFill>
                  <a:srgbClr val="80649B"/>
                </a:solidFill>
                <a:latin typeface="Playfair Display"/>
                <a:ea typeface="Playfair Display"/>
                <a:cs typeface="Playfair Display"/>
              </a:defRPr>
            </a:pPr>
            <a:r>
              <a:rPr sz="1575" b="0">
                <a:solidFill>
                  <a:srgbClr val="80649B"/>
                </a:solidFill>
                <a:latin typeface="Playfair Display"/>
                <a:ea typeface="Playfair Display"/>
                <a:cs typeface="Playfair Display"/>
              </a:rPr>
              <a:t>31</a:t>
            </a:r>
          </a:p>
        </p:txBody>
      </p:sp>
      <p:sp>
        <p:nvSpPr>
          <p:cNvPr id="4" name="text-3">
            <a:extLst xmlns:a="http://schemas.openxmlformats.org/drawingml/2006/main">
              <a:ext uri="{FF2B5EF4-FFF2-40B4-BE49-F238E27FC236}">
                <a16:creationId xmlns:a16="http://schemas.microsoft.com/office/drawing/2014/main" id="{82421398-1277-44BF-85AF-1545F42E6C7C}"/>
              </a:ext>
            </a:extLst>
          </p:cNvPr>
          <p:cNvSpPr>
            <a:spLocks xmlns:a="http://schemas.openxmlformats.org/drawingml/2006/main" noGrp="1"/>
          </p:cNvSpPr>
          <p:nvPr/>
        </p:nvSpPr>
        <p:spPr>
          <a:xfrm xmlns:a="http://schemas.openxmlformats.org/drawingml/2006/main">
            <a:off x="619125" y="15811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Problemas resueltos</a:t>
            </a:r>
          </a:p>
        </p:txBody>
      </p:sp>
      <p:sp>
        <p:nvSpPr>
          <p:cNvPr id="5" name="text-4">
            <a:extLst xmlns:a="http://schemas.openxmlformats.org/drawingml/2006/main">
              <a:ext uri="{FF2B5EF4-FFF2-40B4-BE49-F238E27FC236}">
                <a16:creationId xmlns:a16="http://schemas.microsoft.com/office/drawing/2014/main" id="{12C4B035-F8B1-4392-9CEB-04BE9F640AFE}"/>
              </a:ext>
            </a:extLst>
          </p:cNvPr>
          <p:cNvSpPr>
            <a:spLocks xmlns:a="http://schemas.openxmlformats.org/drawingml/2006/main" noGrp="1"/>
          </p:cNvSpPr>
          <p:nvPr/>
        </p:nvSpPr>
        <p:spPr>
          <a:xfrm xmlns:a="http://schemas.openxmlformats.org/drawingml/2006/main">
            <a:off x="3857625" y="15811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Catálogos separados, GPS en Seguimiento y avisos desde PostgreSQL.</a:t>
            </a:r>
          </a:p>
        </p:txBody>
      </p:sp>
      <p:sp>
        <p:nvSpPr>
          <p:cNvPr id="6" name="text-5">
            <a:extLst xmlns:a="http://schemas.openxmlformats.org/drawingml/2006/main">
              <a:ext uri="{FF2B5EF4-FFF2-40B4-BE49-F238E27FC236}">
                <a16:creationId xmlns:a16="http://schemas.microsoft.com/office/drawing/2014/main" id="{43DFB0B3-DE3D-4EC8-BDFA-1E0DF084A534}"/>
              </a:ext>
            </a:extLst>
          </p:cNvPr>
          <p:cNvSpPr>
            <a:spLocks xmlns:a="http://schemas.openxmlformats.org/drawingml/2006/main" noGrp="1"/>
          </p:cNvSpPr>
          <p:nvPr/>
        </p:nvSpPr>
        <p:spPr>
          <a:xfrm xmlns:a="http://schemas.openxmlformats.org/drawingml/2006/main">
            <a:off x="619125" y="24003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Resultado registrado</a:t>
            </a:r>
          </a:p>
        </p:txBody>
      </p:sp>
      <p:sp>
        <p:nvSpPr>
          <p:cNvPr id="7" name="text-6">
            <a:extLst xmlns:a="http://schemas.openxmlformats.org/drawingml/2006/main">
              <a:ext uri="{FF2B5EF4-FFF2-40B4-BE49-F238E27FC236}">
                <a16:creationId xmlns:a16="http://schemas.microsoft.com/office/drawing/2014/main" id="{F51A9412-E423-46BC-AEF2-2C863CA7E7DE}"/>
              </a:ext>
            </a:extLst>
          </p:cNvPr>
          <p:cNvSpPr>
            <a:spLocks xmlns:a="http://schemas.openxmlformats.org/drawingml/2006/main" noGrp="1"/>
          </p:cNvSpPr>
          <p:nvPr/>
        </p:nvSpPr>
        <p:spPr>
          <a:xfrm xmlns:a="http://schemas.openxmlformats.org/drawingml/2006/main">
            <a:off x="3857625" y="24003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10 servicios y 93 casos aprobados el 13 de octubre.</a:t>
            </a:r>
          </a:p>
        </p:txBody>
      </p:sp>
      <p:sp>
        <p:nvSpPr>
          <p:cNvPr id="8" name="text-7">
            <a:extLst xmlns:a="http://schemas.openxmlformats.org/drawingml/2006/main">
              <a:ext uri="{FF2B5EF4-FFF2-40B4-BE49-F238E27FC236}">
                <a16:creationId xmlns:a16="http://schemas.microsoft.com/office/drawing/2014/main" id="{DA4848CF-50A1-4820-890A-F9A4443E2D47}"/>
              </a:ext>
            </a:extLst>
          </p:cNvPr>
          <p:cNvSpPr>
            <a:spLocks xmlns:a="http://schemas.openxmlformats.org/drawingml/2006/main" noGrp="1"/>
          </p:cNvSpPr>
          <p:nvPr/>
        </p:nvSpPr>
        <p:spPr>
          <a:xfrm xmlns:a="http://schemas.openxmlformats.org/drawingml/2006/main">
            <a:off x="619125" y="321945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Pendientes técnicos</a:t>
            </a:r>
          </a:p>
        </p:txBody>
      </p:sp>
      <p:sp>
        <p:nvSpPr>
          <p:cNvPr id="9" name="text-8">
            <a:extLst xmlns:a="http://schemas.openxmlformats.org/drawingml/2006/main">
              <a:ext uri="{FF2B5EF4-FFF2-40B4-BE49-F238E27FC236}">
                <a16:creationId xmlns:a16="http://schemas.microsoft.com/office/drawing/2014/main" id="{C870AC9F-D5E9-45F9-AD7C-CB70BB7A3E19}"/>
              </a:ext>
            </a:extLst>
          </p:cNvPr>
          <p:cNvSpPr>
            <a:spLocks xmlns:a="http://schemas.openxmlformats.org/drawingml/2006/main" noGrp="1"/>
          </p:cNvSpPr>
          <p:nvPr/>
        </p:nvSpPr>
        <p:spPr>
          <a:xfrm xmlns:a="http://schemas.openxmlformats.org/drawingml/2006/main">
            <a:off x="3857625" y="321945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Caché hasta 5 min y validadores MongoDB por comprobar en entorno real.</a:t>
            </a:r>
          </a:p>
        </p:txBody>
      </p:sp>
      <p:sp>
        <p:nvSpPr>
          <p:cNvPr id="10" name="text-9">
            <a:extLst xmlns:a="http://schemas.openxmlformats.org/drawingml/2006/main">
              <a:ext uri="{FF2B5EF4-FFF2-40B4-BE49-F238E27FC236}">
                <a16:creationId xmlns:a16="http://schemas.microsoft.com/office/drawing/2014/main" id="{C4A4037E-1DF8-4BE8-8B66-737A576A2FC3}"/>
              </a:ext>
            </a:extLst>
          </p:cNvPr>
          <p:cNvSpPr>
            <a:spLocks xmlns:a="http://schemas.openxmlformats.org/drawingml/2006/main" noGrp="1"/>
          </p:cNvSpPr>
          <p:nvPr/>
        </p:nvSpPr>
        <p:spPr>
          <a:xfrm xmlns:a="http://schemas.openxmlformats.org/drawingml/2006/main">
            <a:off x="619125" y="4038600"/>
            <a:ext cx="309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81" b="0">
                <a:solidFill>
                  <a:srgbClr val="80649B"/>
                </a:solidFill>
                <a:latin typeface="Playfair Display"/>
                <a:ea typeface="Playfair Display"/>
                <a:cs typeface="Playfair Display"/>
              </a:defRPr>
            </a:defPPr>
          </a:lstStyle>
          <a:p xmlns:a="http://schemas.openxmlformats.org/drawingml/2006/main">
            <a:pPr>
              <a:buNone/>
              <a:defRPr sz="1481" b="0">
                <a:solidFill>
                  <a:srgbClr val="80649B"/>
                </a:solidFill>
                <a:latin typeface="Playfair Display"/>
                <a:ea typeface="Playfair Display"/>
                <a:cs typeface="Playfair Display"/>
              </a:defRPr>
            </a:pPr>
            <a:r>
              <a:rPr sz="1481" b="0">
                <a:solidFill>
                  <a:srgbClr val="80649B"/>
                </a:solidFill>
                <a:latin typeface="Playfair Display"/>
                <a:ea typeface="Playfair Display"/>
                <a:cs typeface="Playfair Display"/>
              </a:rPr>
              <a:t>Siguiente despliegue</a:t>
            </a:r>
          </a:p>
        </p:txBody>
      </p:sp>
      <p:sp>
        <p:nvSpPr>
          <p:cNvPr id="11" name="text-10">
            <a:extLst xmlns:a="http://schemas.openxmlformats.org/drawingml/2006/main">
              <a:ext uri="{FF2B5EF4-FFF2-40B4-BE49-F238E27FC236}">
                <a16:creationId xmlns:a16="http://schemas.microsoft.com/office/drawing/2014/main" id="{A5ACC5E0-36BA-4D20-933F-B17D63B3640C}"/>
              </a:ext>
            </a:extLst>
          </p:cNvPr>
          <p:cNvSpPr>
            <a:spLocks xmlns:a="http://schemas.openxmlformats.org/drawingml/2006/main" noGrp="1"/>
          </p:cNvSpPr>
          <p:nvPr/>
        </p:nvSpPr>
        <p:spPr>
          <a:xfrm xmlns:a="http://schemas.openxmlformats.org/drawingml/2006/main">
            <a:off x="3857625" y="4038600"/>
            <a:ext cx="766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92" b="0">
                <a:solidFill>
                  <a:srgbClr val="514E58"/>
                </a:solidFill>
                <a:latin typeface="Comfortaa"/>
                <a:ea typeface="Comfortaa"/>
                <a:cs typeface="Comfortaa"/>
              </a:defRPr>
            </a:defPPr>
          </a:lstStyle>
          <a:p xmlns:a="http://schemas.openxmlformats.org/drawingml/2006/main">
            <a:pPr>
              <a:buNone/>
              <a:defRPr sz="1692" b="0">
                <a:solidFill>
                  <a:srgbClr val="514E58"/>
                </a:solidFill>
                <a:latin typeface="Comfortaa"/>
                <a:ea typeface="Comfortaa"/>
                <a:cs typeface="Comfortaa"/>
              </a:defRPr>
            </a:pPr>
            <a:r>
              <a:rPr sz="1692" b="0">
                <a:solidFill>
                  <a:srgbClr val="514E58"/>
                </a:solidFill>
                <a:latin typeface="Comfortaa"/>
                <a:ea typeface="Comfortaa"/>
                <a:cs typeface="Comfortaa"/>
              </a:rPr>
              <a:t>TLS, secretos propios, nube y pruebas de carga.</a:t>
            </a:r>
          </a:p>
        </p:txBody>
      </p:sp>
      <p:pic>
        <p:nvPicPr>
          <p:cNvPr id="13" name="">
            <a:extLst xmlns:a="http://schemas.openxmlformats.org/drawingml/2006/main">
              <a:ext uri="{FF2B5EF4-FFF2-40B4-BE49-F238E27FC236}">
                <a16:creationId xmlns:a16="http://schemas.microsoft.com/office/drawing/2014/main" id="{1D4753B0-A5F8-438F-B986-D1D71A85CF7D}"/>
              </a:ext>
            </a:extLst>
          </p:cNvPr>
          <p:cNvPicPr>
            <a:picLocks xmlns:a="http://schemas.openxmlformats.org/drawingml/2006/main" noChangeAspect="1"/>
          </p:cNvPicPr>
          <p:nvPr/>
        </p:nvPicPr>
        <p:blipFill>
          <a:blip xmlns:r="http://schemas.openxmlformats.org/officeDocument/2006/relationships" xmlns:a="http://schemas.openxmlformats.org/drawingml/2006/main" r:embed="Rdede2e278a0a4be5"/>
          <a:stretch xmlns:a="http://schemas.openxmlformats.org/drawingml/2006/main"/>
        </p:blipFill>
        <p:spPr>
          <a:xfrm xmlns:a="http://schemas.openxmlformats.org/drawingml/2006/main">
            <a:off x="10668000" y="523875"/>
            <a:ext cx="1028700" cy="1028700"/>
          </a:xfrm>
          <a:prstGeom xmlns:a="http://schemas.openxmlformats.org/drawingml/2006/main" prst="rect">
            <a:avLst/>
          </a:prstGeom>
        </p:spPr>
      </p:pic>
    </p:spTree>
    <p:extLst>
      <p:ext uri="{BB962C8B-B14F-4D97-AF65-F5344CB8AC3E}">
        <p14:creationId xmlns:p14="http://schemas.microsoft.com/office/powerpoint/2010/main" val="20122697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2026-10-13T19:31:09.2380000Z</dcterms:created>
  <dcterms:modified xsi:type="dcterms:W3CDTF">2026-10-13T19:31:09.2380000Z</dcterms:modified>
</coreProperties>
</file>