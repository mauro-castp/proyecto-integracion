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7232" y="1261872"/>
            <a:ext cx="914400" cy="91440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91472" y="2176272"/>
            <a:ext cx="1280160" cy="73152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91472" y="2907792"/>
            <a:ext cx="1737360" cy="73152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1552" y="3639312"/>
            <a:ext cx="1097280" cy="73152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0" y="1188720"/>
            <a:ext cx="146304" cy="146304"/>
          </a:xfrm>
          <a:prstGeom prst="ellipse">
            <a:avLst/>
          </a:prstGeom>
          <a:solidFill>
            <a:srgbClr val="8A5A17"/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0" y="2103120"/>
            <a:ext cx="201168" cy="201168"/>
          </a:xfrm>
          <a:prstGeom prst="ellipse">
            <a:avLst/>
          </a:prstGeom>
          <a:solidFill>
            <a:srgbClr val="2E6B4F"/>
          </a:solidFill>
          <a:ln/>
        </p:spPr>
      </p:sp>
      <p:sp>
        <p:nvSpPr>
          <p:cNvPr id="8" name="Shape 6"/>
          <p:cNvSpPr/>
          <p:nvPr/>
        </p:nvSpPr>
        <p:spPr>
          <a:xfrm>
            <a:off x="9418320" y="2834640"/>
            <a:ext cx="118872" cy="118872"/>
          </a:xfrm>
          <a:prstGeom prst="ellipse">
            <a:avLst/>
          </a:prstGeom>
          <a:solidFill>
            <a:srgbClr val="54417B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3566160"/>
            <a:ext cx="164592" cy="164592"/>
          </a:xfrm>
          <a:prstGeom prst="ellipse">
            <a:avLst/>
          </a:prstGeom>
          <a:solidFill>
            <a:srgbClr val="7B2D4E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0" y="4297680"/>
            <a:ext cx="137160" cy="137160"/>
          </a:xfrm>
          <a:prstGeom prst="ellipse">
            <a:avLst/>
          </a:prstGeom>
          <a:solidFill>
            <a:srgbClr val="8A5A17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6400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170" y="719450"/>
            <a:ext cx="408188" cy="40818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8580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80" kern="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INNOVATIONS  ·  EQUIPO 04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24231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Microhubs</a:t>
            </a:r>
            <a:endParaRPr lang="en-US" sz="68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6118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de proximidad para el sector San Bernabé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Parcial · Ingeniería de Software · Monterrey, Nuevo León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entrega rápida tradicional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cuadra en estas colonias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poder adquisitivo, distancias cortas pero cobertura irregular, y márgenes que no toleran una operación de alto costo. El reto no es tecnológico primero — es de modelo de negocio.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852160" y="178308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1530" y="1862450"/>
            <a:ext cx="408188" cy="4081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74536" y="175564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ticket promedio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74536" y="224028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gasto por pedido es pequeño.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01200" y="1783080"/>
            <a:ext cx="566928" cy="566928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0570" y="1862450"/>
            <a:ext cx="408188" cy="4081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323576" y="175564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sensibilidad al costo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0323576" y="224028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envío caro cancela la compra.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52160" y="3200400"/>
            <a:ext cx="566928" cy="566928"/>
          </a:xfrm>
          <a:prstGeom prst="ellipse">
            <a:avLst/>
          </a:prstGeom>
          <a:solidFill>
            <a:srgbClr val="F6EEE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530" y="3279770"/>
            <a:ext cx="408188" cy="4081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74536" y="317296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Densidad variable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574536" y="365760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 colonias concentran, otras no.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601200" y="3200400"/>
            <a:ext cx="566928" cy="566928"/>
          </a:xfrm>
          <a:prstGeom prst="ellipse">
            <a:avLst/>
          </a:prstGeom>
          <a:solidFill>
            <a:srgbClr val="F5E7ED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0570" y="3279770"/>
            <a:ext cx="408188" cy="4081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323576" y="317296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limitada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0323576" y="365760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Calles y accesos poco uniformes.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852160" y="4617720"/>
            <a:ext cx="566928" cy="566928"/>
          </a:xfrm>
          <a:prstGeom prst="ellipse">
            <a:avLst/>
          </a:prstGeom>
          <a:solidFill>
            <a:srgbClr val="EEEAF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1530" y="4697090"/>
            <a:ext cx="408188" cy="40818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74536" y="459028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Conectividad irregular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6574536" y="507492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siempre hay datos estables.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9601200" y="461772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0570" y="4697090"/>
            <a:ext cx="408188" cy="40818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0323576" y="459028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Márgenes reducidos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10323576" y="507492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espacio para ineficiencias.</a:t>
            </a:r>
            <a:endParaRPr lang="en-US" sz="105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OPERA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colonias, una sola 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E7EF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Bernabé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47288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E5F1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30168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Valles de San Bernabé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54496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6EE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37376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Paseo de San Bernabé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61704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EEEA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44584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Bernabé X (F-113)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44584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244584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5441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$85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11027664" cy="1965960"/>
          </a:xfrm>
          <a:prstGeom prst="roundRect">
            <a:avLst>
              <a:gd name="adj" fmla="val 5581"/>
            </a:avLst>
          </a:prstGeom>
          <a:solidFill>
            <a:srgbClr val="12283C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370832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4466844"/>
            <a:ext cx="493776" cy="493776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874520" y="42245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colonias comparten el mismo código postal — con reglas distintas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874520" y="4892040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Valles y Paseo de San Bernabé comparten el 64103, pero el pedido mínimo difiere en $10. Por eso la identidad real de una zona es (colonia + CP), nunca el CP solo — y cuando alguien consulta un CP ambiguo, el sistema pregunta la colonia en vez de adivinar.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SISTEMA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Nueve capacidades para decidir con datos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093976"/>
            <a:ext cx="530352" cy="530352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497" y="2168225"/>
            <a:ext cx="381853" cy="3818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74520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demanda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52544" y="1874520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9" name="Shape 6"/>
          <p:cNvSpPr/>
          <p:nvPr/>
        </p:nvSpPr>
        <p:spPr>
          <a:xfrm>
            <a:off x="4553712" y="2093976"/>
            <a:ext cx="530352" cy="530352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961" y="2168225"/>
            <a:ext cx="381853" cy="38185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21224" y="1874520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Proponer ubicaciones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065008" y="1874520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13" name="Shape 9"/>
          <p:cNvSpPr/>
          <p:nvPr/>
        </p:nvSpPr>
        <p:spPr>
          <a:xfrm>
            <a:off x="8266176" y="2093976"/>
            <a:ext cx="530352" cy="530352"/>
          </a:xfrm>
          <a:prstGeom prst="ellipse">
            <a:avLst/>
          </a:prstGeom>
          <a:solidFill>
            <a:srgbClr val="F6EEE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0425" y="2168225"/>
            <a:ext cx="381853" cy="38185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33688" y="1874520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cobertura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40080" y="3374136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17" name="Shape 12"/>
          <p:cNvSpPr/>
          <p:nvPr/>
        </p:nvSpPr>
        <p:spPr>
          <a:xfrm>
            <a:off x="841248" y="3593592"/>
            <a:ext cx="530352" cy="530352"/>
          </a:xfrm>
          <a:prstGeom prst="ellipse">
            <a:avLst/>
          </a:prstGeom>
          <a:solidFill>
            <a:srgbClr val="F5E7ED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497" y="3667841"/>
            <a:ext cx="381853" cy="38185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374136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 operación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352544" y="3374136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21" name="Shape 15"/>
          <p:cNvSpPr/>
          <p:nvPr/>
        </p:nvSpPr>
        <p:spPr>
          <a:xfrm>
            <a:off x="4553712" y="3593592"/>
            <a:ext cx="530352" cy="530352"/>
          </a:xfrm>
          <a:prstGeom prst="ellipse">
            <a:avLst/>
          </a:prstGeom>
          <a:solidFill>
            <a:srgbClr val="EEEAF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7961" y="3667841"/>
            <a:ext cx="381853" cy="38185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21224" y="3374136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capacidad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8065008" y="3374136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25" name="Shape 18"/>
          <p:cNvSpPr/>
          <p:nvPr/>
        </p:nvSpPr>
        <p:spPr>
          <a:xfrm>
            <a:off x="8266176" y="3593592"/>
            <a:ext cx="530352" cy="530352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0425" y="3667841"/>
            <a:ext cx="381853" cy="38185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933688" y="3374136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Planear surtido</a:t>
            </a:r>
            <a:endParaRPr lang="en-US" sz="1400" dirty="0"/>
          </a:p>
        </p:txBody>
      </p:sp>
      <p:sp>
        <p:nvSpPr>
          <p:cNvPr id="28" name="Shape 20"/>
          <p:cNvSpPr/>
          <p:nvPr/>
        </p:nvSpPr>
        <p:spPr>
          <a:xfrm>
            <a:off x="640080" y="4873752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29" name="Shape 21"/>
          <p:cNvSpPr/>
          <p:nvPr/>
        </p:nvSpPr>
        <p:spPr>
          <a:xfrm>
            <a:off x="841248" y="5093208"/>
            <a:ext cx="530352" cy="530352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497" y="5167457"/>
            <a:ext cx="381853" cy="381853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508760" y="4873752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pedidos</a:t>
            </a:r>
            <a:endParaRPr lang="en-US" sz="1400" dirty="0"/>
          </a:p>
        </p:txBody>
      </p:sp>
      <p:sp>
        <p:nvSpPr>
          <p:cNvPr id="32" name="Shape 23"/>
          <p:cNvSpPr/>
          <p:nvPr/>
        </p:nvSpPr>
        <p:spPr>
          <a:xfrm>
            <a:off x="4352544" y="4873752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33" name="Shape 24"/>
          <p:cNvSpPr/>
          <p:nvPr/>
        </p:nvSpPr>
        <p:spPr>
          <a:xfrm>
            <a:off x="4553712" y="5093208"/>
            <a:ext cx="530352" cy="530352"/>
          </a:xfrm>
          <a:prstGeom prst="ellipse">
            <a:avLst/>
          </a:prstGeom>
          <a:solidFill>
            <a:srgbClr val="F6EEE0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7961" y="5167457"/>
            <a:ext cx="381853" cy="38185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221224" y="4873752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 entregas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8065008" y="4873752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</p:sp>
      <p:sp>
        <p:nvSpPr>
          <p:cNvPr id="37" name="Shape 27"/>
          <p:cNvSpPr/>
          <p:nvPr/>
        </p:nvSpPr>
        <p:spPr>
          <a:xfrm>
            <a:off x="8266176" y="5093208"/>
            <a:ext cx="530352" cy="530352"/>
          </a:xfrm>
          <a:prstGeom prst="ellipse">
            <a:avLst/>
          </a:prstGeom>
          <a:solidFill>
            <a:srgbClr val="F5E7ED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0425" y="5167457"/>
            <a:ext cx="381853" cy="381853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933688" y="4873752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</a:t>
            </a:r>
            <a:endParaRPr lang="en-US" sz="1400" dirty="0"/>
          </a:p>
        </p:txBody>
      </p:sp>
      <p:sp>
        <p:nvSpPr>
          <p:cNvPr id="40" name="Text 29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REQUERIMIENTOS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programar, entendimos el problema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16352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953512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no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92624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129784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129784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de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68896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06056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7B2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7306056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45168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482328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441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200" dirty="0"/>
          </a:p>
        </p:txBody>
      </p:sp>
      <p:sp>
        <p:nvSpPr>
          <p:cNvPr id="18" name="Text 16"/>
          <p:cNvSpPr txBox="1"/>
          <p:nvPr/>
        </p:nvSpPr>
        <p:spPr>
          <a:xfrm>
            <a:off x="9482328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E7EF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1148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clasificado por componente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434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 ·  Microservicios  ·  Android  ·  Escritorio  ·  Infraestructura  ·  Seguridad  ·  Monitoreo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12064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E5F1E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2578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matriz de trazabilidad conecta todo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apunta a su historia de usuario, su caso de uso y el componente que lo implementa — nada quedó suelto.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componentes, un plan de cuatro etapas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Parcial construye y prueba el sistema web de punta a punta. Los demás componentes ya están diseñados en los diagramas de arquitectura — se construyen después.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1577340" y="244144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753" y="2543861"/>
            <a:ext cx="526694" cy="52669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Parcial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Construido y probado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47288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2F2EE"/>
          </a:solidFill>
          <a:ln/>
        </p:spPr>
      </p:sp>
      <p:sp>
        <p:nvSpPr>
          <p:cNvPr id="12" name="Shape 9"/>
          <p:cNvSpPr/>
          <p:nvPr/>
        </p:nvSpPr>
        <p:spPr>
          <a:xfrm>
            <a:off x="4384548" y="2441448"/>
            <a:ext cx="731520" cy="731520"/>
          </a:xfrm>
          <a:prstGeom prst="ellipse">
            <a:avLst/>
          </a:prstGeom>
          <a:solidFill>
            <a:srgbClr val="E4E4D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961" y="2543861"/>
            <a:ext cx="526694" cy="52669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84448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84448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3584448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diseñado en los diagramas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254496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2F2EE"/>
          </a:solidFill>
          <a:ln/>
        </p:spPr>
      </p:sp>
      <p:sp>
        <p:nvSpPr>
          <p:cNvPr id="18" name="Shape 14"/>
          <p:cNvSpPr/>
          <p:nvPr/>
        </p:nvSpPr>
        <p:spPr>
          <a:xfrm>
            <a:off x="7191756" y="2441448"/>
            <a:ext cx="731520" cy="731520"/>
          </a:xfrm>
          <a:prstGeom prst="ellipse">
            <a:avLst/>
          </a:prstGeom>
          <a:solidFill>
            <a:srgbClr val="E4E4D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169" y="2543861"/>
            <a:ext cx="526694" cy="52669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91656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391656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391656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diseñado en los diagramas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9061704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2F2EE"/>
          </a:solidFill>
          <a:ln/>
        </p:spPr>
      </p:sp>
      <p:sp>
        <p:nvSpPr>
          <p:cNvPr id="24" name="Shape 19"/>
          <p:cNvSpPr/>
          <p:nvPr/>
        </p:nvSpPr>
        <p:spPr>
          <a:xfrm>
            <a:off x="9998964" y="2441448"/>
            <a:ext cx="731520" cy="731520"/>
          </a:xfrm>
          <a:prstGeom prst="ellipse">
            <a:avLst/>
          </a:prstGeom>
          <a:solidFill>
            <a:srgbClr val="E4E4DD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1377" y="2543861"/>
            <a:ext cx="526694" cy="52669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98864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escritorio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9198864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198864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diseñado en los diagramas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Debajo de los cuatro: PostgreSQL · MongoDB · Redis — la capa de datos compartida que ya está diseñada y en operación.</a:t>
            </a:r>
            <a:endParaRPr lang="en-US" sz="1150" dirty="0"/>
          </a:p>
        </p:txBody>
      </p:sp>
      <p:sp>
        <p:nvSpPr>
          <p:cNvPr id="30" name="Text 2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DISEÑO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8F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CENTRAL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reglas de negocio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viven en Python.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8892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 en PostgreSQL, como restricciones, funciones y disparadores. Por eso no hay ORM: la aplicación abre la transacción, dice quién actúa, y llama a la función del motor.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8FE0B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847" y="4031407"/>
            <a:ext cx="276515" cy="2765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Sobreventa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39319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Imposible: es un CHECK del motor, no una validación que alguien podría olvidar.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4636008"/>
            <a:ext cx="384048" cy="384048"/>
          </a:xfrm>
          <a:prstGeom prst="ellipse">
            <a:avLst/>
          </a:prstGeom>
          <a:solidFill>
            <a:srgbClr val="8FE0B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47" y="4689775"/>
            <a:ext cx="276515" cy="27651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45902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459028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Inmutable por diseño: ni un administrador puede editarla o borrarla.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8FE0B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47" y="5348143"/>
            <a:ext cx="276515" cy="27651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52486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 de estado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429000" y="524865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de reglas decide qué cambio es válido — no si condicionales dispersos.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motor con reglas de verdad, no de adorno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0215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CHECK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9963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llaves foráneas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3252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89711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2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0467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441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3756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50215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50215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disparadores (triggers)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3504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19963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de dominio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73252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1F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89711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89711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de indicadores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POLIGLOTA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dato vive donde su naturaleza lo pide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2834640"/>
          </a:xfrm>
          <a:prstGeom prst="roundRect">
            <a:avLst>
              <a:gd name="adj" fmla="val 3226"/>
            </a:avLst>
          </a:prstGeom>
          <a:solidFill>
            <a:srgbClr val="E7EFF6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448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961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35584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TRANSACCIONAL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3703320"/>
            <a:ext cx="2916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Pedidos, inventario, pagos: si se pierde, rompe un saldo o una relación.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1874520"/>
            <a:ext cx="3429000" cy="2834640"/>
          </a:xfrm>
          <a:prstGeom prst="roundRect">
            <a:avLst>
              <a:gd name="adj" fmla="val 3226"/>
            </a:avLst>
          </a:prstGeom>
          <a:solidFill>
            <a:srgbClr val="E5F1EA"/>
          </a:solidFill>
          <a:ln/>
        </p:spPr>
      </p:sp>
      <p:sp>
        <p:nvSpPr>
          <p:cNvPr id="11" name="Shape 8"/>
          <p:cNvSpPr/>
          <p:nvPr/>
        </p:nvSpPr>
        <p:spPr>
          <a:xfrm>
            <a:off x="4553712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4" y="224485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537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53712" y="335584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FLEXIBLES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53712" y="3703320"/>
            <a:ext cx="2916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Eventos, telemetría e historial: si se pierde, solo estorba un análisis.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955280" y="1874520"/>
            <a:ext cx="3429000" cy="2834640"/>
          </a:xfrm>
          <a:prstGeom prst="roundRect">
            <a:avLst>
              <a:gd name="adj" fmla="val 3226"/>
            </a:avLst>
          </a:prstGeom>
          <a:solidFill>
            <a:srgbClr val="F6EEE0"/>
          </a:solidFill>
          <a:ln/>
        </p:spPr>
      </p:sp>
      <p:sp>
        <p:nvSpPr>
          <p:cNvPr id="17" name="Shape 13"/>
          <p:cNvSpPr/>
          <p:nvPr/>
        </p:nvSpPr>
        <p:spPr>
          <a:xfrm>
            <a:off x="8211312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324" y="2244852"/>
            <a:ext cx="493776" cy="4937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2113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211312" y="335584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CACHÉ Y SESIONES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8211312" y="3703320"/>
            <a:ext cx="2916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Carrito, tokens revocados, bloqueos: si se pierde, solo obliga a rehacer.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usa dos bases lógicas con políticas distintas: la de bloqueos de inventario nunca expulsa datos; la de caché sí. Unificarlas podría provocar sobreventa en un pico de tráfico.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EVIDENCIA, NO PROMESAS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8F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DE VERDAD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describimos lo que debería pasar.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corrimos.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890" y="300289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53312" y="283464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26 reglas de negocio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353312" y="320040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VR-01 a VR-16 verificadas contra PostgreSQL real, incluida sobreventa bajo concurrencia.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080760" y="292608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570" y="300289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93992" y="283464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contenedores sanos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793992" y="320040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Redis, MongoDB y la app web, levantados con un solo comando.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90" y="464881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53312" y="448056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reales, no de mentira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353312" y="484632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productos · 148 pedidos · 3,113 registros de bitácora · 48 usuarios.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080760" y="457200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570" y="464881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93992" y="448056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 probados en vivo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793992" y="484632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roles, cobertura ambigua, ticket mínimo, panel e indicadores.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se ve hoy — no es una maqueta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21792" y="1609344"/>
            <a:ext cx="5376672" cy="2185416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5" name="Image 0" descr="C:\Users\rutil\AppData\Local\Temp\claude\C--Users-rutil-Desktop-integracionAplicaciones\dcbb46ad-b378-41b6-90b2-5246291e5f21\scratchpad\pptx_microhubs\capturas\01_cata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27632"/>
            <a:ext cx="5340096" cy="2148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83133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público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6908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libre, datos reales de PostgreSQL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0488" y="1609344"/>
            <a:ext cx="5376672" cy="2185416"/>
          </a:xfrm>
          <a:prstGeom prst="rect">
            <a:avLst/>
          </a:prstGeom>
          <a:solidFill>
            <a:srgbClr val="8A5A17"/>
          </a:solidFill>
          <a:ln/>
        </p:spPr>
      </p:sp>
      <p:pic>
        <p:nvPicPr>
          <p:cNvPr id="9" name="Image 1" descr="C:\Users\rutil\AppData\Local\Temp\claude\C--Users-rutil-Desktop-integracionAplicaciones\dcbb46ad-b378-41b6-90b2-5246291e5f21\scratchpad\pptx_microhubs\capturas\02_cobertu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08776" y="1627632"/>
            <a:ext cx="5340096" cy="2148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08776" y="383133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con CP ambiguo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6208776" y="406908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64103 pregunta la colonia en vez de adivinar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21792" y="4398264"/>
            <a:ext cx="5376672" cy="2185416"/>
          </a:xfrm>
          <a:prstGeom prst="rect">
            <a:avLst/>
          </a:prstGeom>
          <a:solidFill>
            <a:srgbClr val="2E6B4F"/>
          </a:solidFill>
          <a:ln/>
        </p:spPr>
      </p:sp>
      <p:pic>
        <p:nvPicPr>
          <p:cNvPr id="13" name="Image 2" descr="C:\Users\rutil\AppData\Local\Temp\claude\C--Users-rutil-Desktop-integracionAplicaciones\dcbb46ad-b378-41b6-90b2-5246291e5f21\scratchpad\pptx_microhubs\capturas\03_indicador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4416552"/>
            <a:ext cx="5340096" cy="2148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662025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indicadores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685800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pedidos y 3 microhubs, en vivo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190488" y="4398264"/>
            <a:ext cx="5376672" cy="2185416"/>
          </a:xfrm>
          <a:prstGeom prst="rect">
            <a:avLst/>
          </a:prstGeom>
          <a:solidFill>
            <a:srgbClr val="54417B"/>
          </a:solidFill>
          <a:ln/>
        </p:spPr>
      </p:sp>
      <p:pic>
        <p:nvPicPr>
          <p:cNvPr id="17" name="Image 3" descr="C:\Users\rutil\AppData\Local\Temp\claude\C--Users-rutil-Desktop-integracionAplicaciones\dcbb46ad-b378-41b6-90b2-5246291e5f21\scratchpad\pptx_microhubs\capturas\04_bitacor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08776" y="4416552"/>
            <a:ext cx="5340096" cy="2148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08776" y="662025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de auditoría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208776" y="685800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3,115 registros, ninguno editable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YA FUNCIONA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web, de punta a punta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170" y="1908170"/>
            <a:ext cx="408188" cy="4081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08176" y="18013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408176" y="22860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cobertura, sin necesidad de cuenta.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398264" y="1828800"/>
            <a:ext cx="566928" cy="566928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634" y="190817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0" y="18013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roles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2860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Sesión, permisos y revocación en Redis.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110728" y="1828800"/>
            <a:ext cx="566928" cy="566928"/>
          </a:xfrm>
          <a:prstGeom prst="ellipse">
            <a:avLst/>
          </a:prstGeom>
          <a:solidFill>
            <a:srgbClr val="F6EEE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0098" y="190817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833104" y="18013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automática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8833104" y="22860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escribe el motor, nadie puede alterarla.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3429000"/>
            <a:ext cx="566928" cy="566928"/>
          </a:xfrm>
          <a:prstGeom prst="ellipse">
            <a:avLst/>
          </a:prstGeom>
          <a:solidFill>
            <a:srgbClr val="F5E7ED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170" y="3508370"/>
            <a:ext cx="408188" cy="4081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08176" y="34015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pedido completo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408176" y="38862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→ asignación → preparación → entrega.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398264" y="3429000"/>
            <a:ext cx="566928" cy="566928"/>
          </a:xfrm>
          <a:prstGeom prst="ellipse">
            <a:avLst/>
          </a:prstGeom>
          <a:solidFill>
            <a:srgbClr val="EEEAF5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7634" y="3508370"/>
            <a:ext cx="408188" cy="40818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120640" y="34015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indicadores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120640" y="38862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entrega y demanda no atendida, en vivo.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8110728" y="342900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0098" y="3508370"/>
            <a:ext cx="408188" cy="40818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833104" y="34015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 ruta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8833104" y="38862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se verifica, no solo se oculta del menú.</a:t>
            </a:r>
            <a:endParaRPr lang="en-US" sz="1050" dirty="0"/>
          </a:p>
        </p:txBody>
      </p:sp>
      <p:sp>
        <p:nvSpPr>
          <p:cNvPr id="28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perfiles, cada uno con su ámbito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47672"/>
            <a:ext cx="457200" cy="457200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011680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87452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1874520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administración global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569464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642616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706624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61872" y="2569464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383280" y="2569464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del microhub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264408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F6EEE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26440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Planeador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3383280" y="3264408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planeación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3959352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F5E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09651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872" y="3959352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3383280" y="395935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pedidos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40080" y="4654296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40080" y="4727448"/>
            <a:ext cx="457200" cy="457200"/>
          </a:xfrm>
          <a:prstGeom prst="ellipse">
            <a:avLst/>
          </a:prstGeom>
          <a:solidFill>
            <a:srgbClr val="F6EEE0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791456"/>
            <a:ext cx="329184" cy="32918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61872" y="4654296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Repartidor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3383280" y="4654296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40080" y="5349240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" y="5422392"/>
            <a:ext cx="457200" cy="457200"/>
          </a:xfrm>
          <a:prstGeom prst="ellipse">
            <a:avLst/>
          </a:prstGeom>
          <a:solidFill>
            <a:srgbClr val="EEEAF5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5486400"/>
            <a:ext cx="329184" cy="32918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261872" y="534924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3383280" y="5349240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y auditoría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7543800" y="196596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7808" y="2029968"/>
            <a:ext cx="329184" cy="329184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165592" y="192024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diferentes por perfil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7543800" y="301752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7808" y="3081528"/>
            <a:ext cx="329184" cy="32918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8165592" y="297180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Restricción por microhub / usuario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543800" y="406908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808" y="4133088"/>
            <a:ext cx="329184" cy="329184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8165592" y="402336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también en el backend, no solo visual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7543800" y="512064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808" y="5184648"/>
            <a:ext cx="329184" cy="329184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8165592" y="507492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 adaptados al perfil</a:t>
            </a:r>
            <a:endParaRPr lang="en-US" sz="1300" dirty="0"/>
          </a:p>
        </p:txBody>
      </p:sp>
      <p:sp>
        <p:nvSpPr>
          <p:cNvPr id="45" name="Text 3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7B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por diseño, no por buena voluntad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E5F1E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170" y="2045330"/>
            <a:ext cx="408188" cy="4081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08176" y="193852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 con hash seguro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408176" y="242316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bcrypt, nunca texto plano ni reversible.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26480" y="196596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850" y="204533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48856" y="193852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de corta duración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848856" y="242316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revocación inmediata desde Redis.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3703320"/>
            <a:ext cx="566928" cy="566928"/>
          </a:xfrm>
          <a:prstGeom prst="ellipse">
            <a:avLst/>
          </a:prstGeom>
          <a:solidFill>
            <a:srgbClr val="F6EEE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0" y="37826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08176" y="367588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 rol y por ruta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408176" y="416052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endpoint valida el permiso, siempre.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126480" y="3703320"/>
            <a:ext cx="566928" cy="566928"/>
          </a:xfrm>
          <a:prstGeom prst="ellipse">
            <a:avLst/>
          </a:prstGeom>
          <a:solidFill>
            <a:srgbClr val="EEEAF5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5850" y="3782690"/>
            <a:ext cx="408188" cy="4081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48856" y="367588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inmutable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848856" y="416052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también los accesos denegados.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7B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DEL CAMINO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retos que sí nos costó resolver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90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520440" y="14904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149047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1155680" cy="0"/>
          </a:xfrm>
          <a:prstGeom prst="line">
            <a:avLst/>
          </a:prstGeom>
          <a:noFill/>
          <a:ln w="12700">
            <a:solidFill>
              <a:srgbClr val="DEDE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29384"/>
            <a:ext cx="54864" cy="8046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1874520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de inventario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874520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pedidos pueden intentar consumir la última unidad al mismo tiempo.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1874520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transaccionales + bloqueos temporales en el motor.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843784"/>
            <a:ext cx="1115568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08376"/>
            <a:ext cx="54864" cy="804672"/>
          </a:xfrm>
          <a:prstGeom prst="rect">
            <a:avLst/>
          </a:prstGeom>
          <a:solidFill>
            <a:srgbClr val="2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2953512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por URL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53512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Ocultar un botón del menú no impide entrar por la dirección directa.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2953512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desde el backend en cada ruta — responde 403 y lo audita.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922776"/>
            <a:ext cx="1115568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87368"/>
            <a:ext cx="54864" cy="804672"/>
          </a:xfrm>
          <a:prstGeom prst="rect">
            <a:avLst/>
          </a:prstGeom>
          <a:solidFill>
            <a:srgbClr val="8A5A1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" y="4032504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datos distintos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toda la información necesita el mismo tipo de almacenamiento.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032504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MongoDB + Redis, cada uno con un criterio explícito.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001768"/>
            <a:ext cx="1115568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5166360"/>
            <a:ext cx="54864" cy="804672"/>
          </a:xfrm>
          <a:prstGeom prst="rect">
            <a:avLst/>
          </a:prstGeom>
          <a:solidFill>
            <a:srgbClr val="54417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111496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del sistema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520440" y="5111496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hay que integrar web, móvil, escritorio y microservicios.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5111496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separada por responsabilidades desde el Primer Parcial.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11b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DEL SEMESTRE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etapas, un incremento funcional cada vez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481328" y="3035808"/>
            <a:ext cx="9198864" cy="0"/>
          </a:xfrm>
          <a:prstGeom prst="line">
            <a:avLst/>
          </a:prstGeom>
          <a:noFill/>
          <a:ln w="31750">
            <a:solidFill>
              <a:srgbClr val="DE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2743200"/>
            <a:ext cx="585216" cy="585216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Parcial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Análisis, arquitectura y sistema web mínimo funcional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59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50080" y="2743200"/>
            <a:ext cx="585216" cy="585216"/>
          </a:xfrm>
          <a:prstGeom prst="ellipse">
            <a:avLst/>
          </a:prstGeom>
          <a:solidFill>
            <a:srgbClr val="E4E4D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5008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728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8140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Microservicios, app Android y app de escritorio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11440" y="2743200"/>
            <a:ext cx="585216" cy="585216"/>
          </a:xfrm>
          <a:prstGeom prst="ellipse">
            <a:avLst/>
          </a:prstGeom>
          <a:solidFill>
            <a:srgbClr val="E4E4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1144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3420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 Parcial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84276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completa, nube, seguridad y escalabilidad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972800" y="2743200"/>
            <a:ext cx="585216" cy="585216"/>
          </a:xfrm>
          <a:prstGeom prst="ellipse">
            <a:avLst/>
          </a:prstGeom>
          <a:solidFill>
            <a:srgbClr val="E4E4D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97280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19556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Final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10412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Estabilización, pruebas de carga y documentación integral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525780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F6EE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394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 ahora mismo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completa del web con MongoDB   ·   catálogos administrativos adicionales   ·   refinamiento de pruebas y documentación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10515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664" y="1179576"/>
            <a:ext cx="658368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1488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6324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de proximidad, con reglas que no se pueden romper.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Ruth Elizabeth Soriano   ·   Vanessa Morante López   ·   Mauro Castillo Peña</a:t>
            </a:r>
            <a:endParaRPr lang="en-US" sz="12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 José Cedillo Mata   ·   Jorge Antonio Arreola Cantú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Innovations · Equipo 04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2026-09-04T02:31:20Z</dcterms:created>
  <dcterms:modified xsi:type="dcterms:W3CDTF">2026-09-04T02:31:20Z</dcterms:modified>
</cp:coreProperties>
</file>